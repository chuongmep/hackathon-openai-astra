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69" r:id="rId2"/>
    <p:sldId id="268" r:id="rId3"/>
    <p:sldId id="263" r:id="rId4"/>
    <p:sldId id="270" r:id="rId5"/>
    <p:sldId id="267" r:id="rId6"/>
    <p:sldId id="258" r:id="rId7"/>
    <p:sldId id="265" r:id="rId8"/>
    <p:sldId id="257" r:id="rId9"/>
    <p:sldId id="261" r:id="rId10"/>
    <p:sldId id="259" r:id="rId11"/>
    <p:sldId id="260" r:id="rId12"/>
    <p:sldId id="262" r:id="rId13"/>
    <p:sldId id="264" r:id="rId14"/>
    <p:sldId id="266" r:id="rId15"/>
    <p:sldId id="25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3166"/>
  </p:normalViewPr>
  <p:slideViewPr>
    <p:cSldViewPr snapToGrid="0">
      <p:cViewPr varScale="1">
        <p:scale>
          <a:sx n="116" d="100"/>
          <a:sy n="116" d="100"/>
        </p:scale>
        <p:origin x="60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dk1" tx1="lt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B6DF2-487C-2401-C9A0-611A4F67D6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DB2838-0B55-5D51-80E6-9A05489221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C77893-5132-8B3F-8822-F68F2B8952B5}"/>
              </a:ext>
            </a:extLst>
          </p:cNvPr>
          <p:cNvSpPr>
            <a:spLocks noGrp="1"/>
          </p:cNvSpPr>
          <p:nvPr>
            <p:ph type="body" idx="1"/>
          </p:nvPr>
        </p:nvSpPr>
        <p:spPr/>
        <p:txBody>
          <a:bodyPr/>
          <a:lstStyle/>
          <a:p>
            <a:r>
              <a:t>[object Object]</a:t>
            </a:r>
          </a:p>
        </p:txBody>
      </p:sp>
      <p:sp>
        <p:nvSpPr>
          <p:cNvPr id="4" name="Slide Number Placeholder 3">
            <a:extLst>
              <a:ext uri="{FF2B5EF4-FFF2-40B4-BE49-F238E27FC236}">
                <a16:creationId xmlns:a16="http://schemas.microsoft.com/office/drawing/2014/main" id="{5FCDCA53-4253-7F0D-ED1E-67D48845132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13810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DE584-FCDB-ABF6-A772-04F2716D6E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67455E-D424-9307-C473-AEF98FB4A4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4F51B5-7BB3-81B3-7CBE-A416AECD6CF7}"/>
              </a:ext>
            </a:extLst>
          </p:cNvPr>
          <p:cNvSpPr>
            <a:spLocks noGrp="1"/>
          </p:cNvSpPr>
          <p:nvPr>
            <p:ph type="body" idx="1"/>
          </p:nvPr>
        </p:nvSpPr>
        <p:spPr/>
        <p:txBody>
          <a:bodyPr/>
          <a:lstStyle/>
          <a:p>
            <a:r>
              <a:t>Main example, 45 seconds. The selected object is an exterior window. In this illustrative scenario its model label is B2010, Exterior Walls. The workbook lists B2020, Exterior Windows, on ASTM 2015 row 195. Forma is intended to present the mismatch and propose a classification for designer review. This image is supplied by the user and represents a concept, not a detected issue in the sample IFC. Source: ASTM-UniFormat.xlsx ASTM 2015 A186:B186 and A195:B195; user-supplied visual. Classification consistency does not establish building-code safety compliance.</a:t>
            </a:r>
          </a:p>
        </p:txBody>
      </p:sp>
      <p:sp>
        <p:nvSpPr>
          <p:cNvPr id="4" name="Slide Number Placeholder 3">
            <a:extLst>
              <a:ext uri="{FF2B5EF4-FFF2-40B4-BE49-F238E27FC236}">
                <a16:creationId xmlns:a16="http://schemas.microsoft.com/office/drawing/2014/main" id="{66434A79-2622-B630-4558-5AF231CFCDB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85742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 Object]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cases, 35 seconds. Walk through three users: architects identify and correct object data, reviewers record traceable findings, and estimators reuse filtered element lists. Current prototype supports visual inspection, local review issues and export. AI classification checks and write-back are planned.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 Object]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Pain points, 35 seconds. A visually convincing building model can still contain missing or mismatched classifications. Reviewers need to reconcile object identity, location, and the standard reference. Explain these as target user problems, not measured error rates. Estimators depend on consistent element categories for downstream work. Sources: user project brief; ASTM-UniFormat.xlsx Instructions A2 and ASTM 2015 A7:H7.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Main example, 45 seconds. The selected object is an exterior window. In this illustrative scenario its model label is B2010, Exterior Walls. The workbook lists B2020, Exterior Windows, on ASTM 2015 row 195. Forma is intended to present the mismatch and propose a classification for designer review. This image is supplied by the user and represents a concept, not a detected issue in the sample IFC. Source: ASTM-UniFormat.xlsx ASTM 2015 A186:B186 and A195:B195; user-supplied visual. Classification consistency does not establish building-code safety compliance.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[object Object]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Solution, 35 seconds. The Excel file is a classification database. It contains Instructions, ASTM 1997 and ASTM 2015 sheets. Use one reference edition consistently. Automated classification comparisons and write-back are development targets. Geometry, context and properties help distinguish similar categories, such as interior and exterior doors. The workbook does not itself provide dimensional, fire-safety or accessibility requirements. Source: assets/ASTM-UniFormat.xlsx.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[object Object]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[object Object]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 Object]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 Object]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buNone/>
              <a:defRPr sz="6000"/>
            </a:lvl1pPr>
          </a:lstStyle>
          <a:p>
            <a:r>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213811"/>
            <a:ext cx="2595934" cy="3780589"/>
          </a:xfrm>
          <a:prstGeom prst="rect">
            <a:avLst/>
          </a:prstGeom>
        </p:spPr>
        <p:txBody>
          <a:bodyPr vert="horz" lIns="0" tIns="0" rIns="0" bIns="0">
            <a:normAutofit/>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idx="12"/>
          </p:nvPr>
        </p:nvSpPr>
        <p:spPr>
          <a:xfrm>
            <a:off x="3334966" y="2213811"/>
            <a:ext cx="2595934" cy="3780589"/>
          </a:xfrm>
        </p:spPr>
        <p:txBody>
          <a:bodyPr/>
          <a:lstStyle>
            <a:lvl1pPr>
              <a:buNone/>
              <a:defRPr sz="1800"/>
            </a:lvl1pPr>
            <a:lvl2pPr>
              <a:buNone/>
              <a:defRPr sz="1800"/>
            </a:lvl2pPr>
            <a:lvl3pPr>
              <a:buNone/>
              <a:defRPr sz="1800"/>
            </a:lvl3pPr>
            <a:lvl4pPr>
              <a:buNone/>
              <a:defRPr sz="1800"/>
            </a:lvl4pPr>
            <a:lvl5pPr>
              <a:buNone/>
              <a:defRPr sz="1800"/>
            </a:lvl5pPr>
          </a:lstStyle>
          <a:p>
            <a:pPr lvl="0">
              <a:buNone/>
            </a:pPr>
            <a:r>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2213811"/>
            <a:ext cx="2595934" cy="3780589"/>
          </a:xfrm>
          <a:prstGeom prst="rect">
            <a:avLst/>
          </a:prstGeom>
        </p:spPr>
        <p:txBody>
          <a:bodyPr vert="horz" lIns="0" tIns="0" rIns="0" bIns="0">
            <a:normAutofit/>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idx="14"/>
          </p:nvPr>
        </p:nvSpPr>
        <p:spPr>
          <a:xfrm>
            <a:off x="9205679" y="2213811"/>
            <a:ext cx="2595934" cy="3780589"/>
          </a:xfrm>
        </p:spPr>
        <p:txBody>
          <a:bodyPr/>
          <a:lstStyle>
            <a:lvl1pPr>
              <a:buNone/>
              <a:defRPr sz="1800"/>
            </a:lvl1pPr>
            <a:lvl2pPr>
              <a:buNone/>
              <a:defRPr sz="1800"/>
            </a:lvl2pPr>
            <a:lvl3pPr>
              <a:buNone/>
              <a:defRPr sz="1800"/>
            </a:lvl3pPr>
            <a:lvl4pPr>
              <a:buNone/>
              <a:defRPr sz="1800"/>
            </a:lvl4pPr>
            <a:lvl5pPr>
              <a:buNone/>
              <a:defRPr sz="1800"/>
            </a:lvl5pPr>
          </a:lstStyle>
          <a:p>
            <a:pPr lvl="0">
              <a:buNone/>
            </a:pPr>
            <a:r>
              <a:t>Click to edit Master</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dt="0"/>
  <p:txStyles>
    <p:titleStyle>
      <a:lvl1pPr algn="l" defTabSz="914400">
        <a:lnSpc>
          <a:spcPct val="90000"/>
        </a:lnSpc>
        <a:spcBef>
          <a:spcPct val="0"/>
        </a:spcBef>
        <a:buNone/>
        <a:defRPr sz="29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496"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E1AAA-53CE-DFCD-329D-FD3F702BC916}"/>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142F29AD-2D7A-044E-05CC-4257DB2D79EF}"/>
              </a:ext>
            </a:extLst>
          </p:cNvPr>
          <p:cNvPicPr>
            <a:picLocks noChangeAspect="1"/>
          </p:cNvPicPr>
          <p:nvPr/>
        </p:nvPicPr>
        <p:blipFill>
          <a:blip r:embed="rId3"/>
          <a:stretch>
            <a:fillRect/>
          </a:stretch>
        </p:blipFill>
        <p:spPr>
          <a:xfrm>
            <a:off x="-1" y="0"/>
            <a:ext cx="12198487" cy="6858000"/>
          </a:xfrm>
          <a:prstGeom prst="rect">
            <a:avLst/>
          </a:prstGeom>
        </p:spPr>
      </p:pic>
    </p:spTree>
    <p:extLst>
      <p:ext uri="{BB962C8B-B14F-4D97-AF65-F5344CB8AC3E}">
        <p14:creationId xmlns:p14="http://schemas.microsoft.com/office/powerpoint/2010/main" val="824127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FD12AC8-218B-121A-FE2B-0D2B93CDA4C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56886E5-A07A-D62D-73C2-AF575BB4D2E6}"/>
              </a:ext>
            </a:extLst>
          </p:cNvPr>
          <p:cNvSpPr>
            <a:spLocks noGrp="1"/>
          </p:cNvSpPr>
          <p:nvPr/>
        </p:nvSpPr>
        <p:spPr>
          <a:xfrm>
            <a:off x="390525" y="285750"/>
            <a:ext cx="11410950" cy="762000"/>
          </a:xfrm>
          <a:prstGeom prst="rect">
            <a:avLst/>
          </a:prstGeom>
          <a:noFill/>
          <a:ln w="0">
            <a:noFill/>
          </a:ln>
        </p:spPr>
        <p:txBody>
          <a:bodyPr>
            <a:noAutofit/>
          </a:bodyPr>
          <a:lstStyle/>
          <a:p>
            <a:pPr>
              <a:defRPr sz="3450">
                <a:solidFill>
                  <a:srgbClr val="FFFFFF"/>
                </a:solidFill>
                <a:latin typeface="Arial"/>
                <a:ea typeface="Arial"/>
                <a:cs typeface="Arial"/>
              </a:defRPr>
            </a:pPr>
            <a:r>
              <a:rPr lang="en-US" sz="3450" dirty="0">
                <a:solidFill>
                  <a:srgbClr val="FFFFFF"/>
                </a:solidFill>
                <a:latin typeface="Arial"/>
                <a:ea typeface="Arial"/>
                <a:cs typeface="Arial"/>
              </a:rPr>
              <a:t>The problem: model data is hard to verify</a:t>
            </a:r>
            <a:endParaRPr sz="3450" dirty="0">
              <a:solidFill>
                <a:srgbClr val="FFFFFF"/>
              </a:solidFill>
              <a:latin typeface="Arial"/>
              <a:ea typeface="Arial"/>
              <a:cs typeface="Arial"/>
            </a:endParaRPr>
          </a:p>
        </p:txBody>
      </p:sp>
      <p:sp>
        <p:nvSpPr>
          <p:cNvPr id="3" name="Rectangle 2">
            <a:extLst>
              <a:ext uri="{FF2B5EF4-FFF2-40B4-BE49-F238E27FC236}">
                <a16:creationId xmlns:a16="http://schemas.microsoft.com/office/drawing/2014/main" id="{1FBB0549-5DE0-A839-E402-DEA502F5454E}"/>
              </a:ext>
            </a:extLst>
          </p:cNvPr>
          <p:cNvSpPr>
            <a:spLocks noGrp="1"/>
          </p:cNvSpPr>
          <p:nvPr/>
        </p:nvSpPr>
        <p:spPr>
          <a:xfrm>
            <a:off x="0" y="6482443"/>
            <a:ext cx="11144250" cy="285750"/>
          </a:xfrm>
          <a:prstGeom prst="rect">
            <a:avLst/>
          </a:prstGeom>
          <a:noFill/>
          <a:ln w="0">
            <a:noFill/>
          </a:ln>
        </p:spPr>
        <p:txBody>
          <a:bodyPr>
            <a:noAutofit/>
          </a:bodyPr>
          <a:lstStyle/>
          <a:p>
            <a:pPr>
              <a:defRPr sz="1350">
                <a:solidFill>
                  <a:srgbClr val="FFFFFF"/>
                </a:solidFill>
                <a:latin typeface="Arial"/>
                <a:ea typeface="Arial"/>
                <a:cs typeface="Arial"/>
              </a:defRPr>
            </a:pPr>
            <a:r>
              <a:rPr sz="1350" dirty="0">
                <a:solidFill>
                  <a:srgbClr val="FFFFFF"/>
                </a:solidFill>
                <a:latin typeface="Arial"/>
                <a:ea typeface="Arial"/>
                <a:cs typeface="Arial"/>
              </a:rPr>
              <a:t>Illustrative workflow in development. Classification compliance supports model-data review.</a:t>
            </a:r>
          </a:p>
        </p:txBody>
      </p:sp>
      <p:sp>
        <p:nvSpPr>
          <p:cNvPr id="4" name="Rectangle 3">
            <a:extLst>
              <a:ext uri="{FF2B5EF4-FFF2-40B4-BE49-F238E27FC236}">
                <a16:creationId xmlns:a16="http://schemas.microsoft.com/office/drawing/2014/main" id="{FD2D3B1B-8ECE-FFCC-E340-A874E670E2C0}"/>
              </a:ext>
            </a:extLst>
          </p:cNvPr>
          <p:cNvSpPr>
            <a:spLocks noGrp="1"/>
          </p:cNvSpPr>
          <p:nvPr/>
        </p:nvSpPr>
        <p:spPr>
          <a:xfrm>
            <a:off x="11430000" y="6477000"/>
            <a:ext cx="428625" cy="238125"/>
          </a:xfrm>
          <a:prstGeom prst="rect">
            <a:avLst/>
          </a:prstGeom>
          <a:noFill/>
          <a:ln w="0">
            <a:noFill/>
          </a:ln>
        </p:spPr>
        <p:txBody>
          <a:bodyPr>
            <a:noAutofit/>
          </a:bodyPr>
          <a:lstStyle/>
          <a:p>
            <a:pPr>
              <a:defRPr sz="1200">
                <a:solidFill>
                  <a:srgbClr val="FFFFFF"/>
                </a:solidFill>
                <a:latin typeface="Arial"/>
                <a:ea typeface="Arial"/>
                <a:cs typeface="Arial"/>
              </a:defRPr>
            </a:pPr>
            <a:r>
              <a:rPr sz="1200">
                <a:solidFill>
                  <a:srgbClr val="FFFFFF"/>
                </a:solidFill>
                <a:latin typeface="Arial"/>
                <a:ea typeface="Arial"/>
                <a:cs typeface="Arial"/>
              </a:rPr>
              <a:t>6</a:t>
            </a:r>
          </a:p>
        </p:txBody>
      </p:sp>
      <p:pic>
        <p:nvPicPr>
          <p:cNvPr id="6" name="Picture 5">
            <a:extLst>
              <a:ext uri="{FF2B5EF4-FFF2-40B4-BE49-F238E27FC236}">
                <a16:creationId xmlns:a16="http://schemas.microsoft.com/office/drawing/2014/main" id="{1ED2B14B-60C4-8A64-A1F3-45FC520B8D58}"/>
              </a:ext>
            </a:extLst>
          </p:cNvPr>
          <p:cNvPicPr>
            <a:picLocks noChangeAspect="1"/>
          </p:cNvPicPr>
          <p:nvPr/>
        </p:nvPicPr>
        <p:blipFill>
          <a:blip r:embed="rId3"/>
          <a:stretch>
            <a:fillRect/>
          </a:stretch>
        </p:blipFill>
        <p:spPr>
          <a:xfrm>
            <a:off x="0" y="0"/>
            <a:ext cx="12198486" cy="6858000"/>
          </a:xfrm>
          <a:prstGeom prst="rect">
            <a:avLst/>
          </a:prstGeom>
        </p:spPr>
      </p:pic>
    </p:spTree>
    <p:extLst>
      <p:ext uri="{BB962C8B-B14F-4D97-AF65-F5344CB8AC3E}">
        <p14:creationId xmlns:p14="http://schemas.microsoft.com/office/powerpoint/2010/main" val="3751818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2FC4FC7-396D-BE8D-1F0E-C849A74CA5DD}"/>
              </a:ext>
            </a:extLst>
          </p:cNvPr>
          <p:cNvSpPr>
            <a:spLocks noGrp="1"/>
          </p:cNvSpPr>
          <p:nvPr>
            <p:ph type="ftr" idx="3"/>
          </p:nvPr>
        </p:nvSpPr>
        <p:spPr>
          <a:xfrm>
            <a:off x="393700" y="6279952"/>
            <a:ext cx="3568700" cy="241240"/>
          </a:xfrm>
        </p:spPr>
        <p:txBody>
          <a:bodyPr/>
          <a:lstStyle/>
          <a:p>
            <a:endParaRPr/>
          </a:p>
        </p:txBody>
      </p:sp>
      <p:sp>
        <p:nvSpPr>
          <p:cNvPr id="2" name="Slide Number Placeholder 1">
            <a:extLst>
              <a:ext uri="{FF2B5EF4-FFF2-40B4-BE49-F238E27FC236}">
                <a16:creationId xmlns:a16="http://schemas.microsoft.com/office/drawing/2014/main" id="{B3BD1300-E71C-732F-134B-B7EE0492A9B7}"/>
              </a:ext>
            </a:extLst>
          </p:cNvPr>
          <p:cNvSpPr>
            <a:spLocks noGrp="1"/>
          </p:cNvSpPr>
          <p:nvPr>
            <p:ph type="sldNum" idx="4"/>
          </p:nvPr>
        </p:nvSpPr>
        <p:spPr>
          <a:xfrm>
            <a:off x="11279332" y="6279294"/>
            <a:ext cx="518968" cy="241240"/>
          </a:xfrm>
        </p:spPr>
        <p:txBody>
          <a:bodyPr/>
          <a:lstStyle/>
          <a:p>
            <a:fld id="{BA58DA2A-B818-18A9-29C1-B697728D5BCE}" type="slidenum">
              <a:t>3</a:t>
            </a:fld>
            <a:endParaRPr/>
          </a:p>
        </p:txBody>
      </p:sp>
      <p:sp>
        <p:nvSpPr>
          <p:cNvPr id="3" name="Title 2">
            <a:extLst>
              <a:ext uri="{FF2B5EF4-FFF2-40B4-BE49-F238E27FC236}">
                <a16:creationId xmlns:a16="http://schemas.microsoft.com/office/drawing/2014/main" id="{FC59BB80-DF6A-0532-F91A-4A78B8E5820E}"/>
              </a:ext>
            </a:extLst>
          </p:cNvPr>
          <p:cNvSpPr>
            <a:spLocks noGrp="1"/>
          </p:cNvSpPr>
          <p:nvPr>
            <p:ph type="title"/>
          </p:nvPr>
        </p:nvSpPr>
        <p:spPr>
          <a:xfrm>
            <a:off x="393700" y="344008"/>
            <a:ext cx="11404600" cy="1047491"/>
          </a:xfrm>
        </p:spPr>
        <p:txBody>
          <a:bodyPr/>
          <a:lstStyle/>
          <a:p>
            <a:r>
              <a:t>Live demo sequence</a:t>
            </a:r>
          </a:p>
        </p:txBody>
      </p:sp>
      <p:graphicFrame>
        <p:nvGraphicFramePr>
          <p:cNvPr id="10" name="Table 3"/>
          <p:cNvGraphicFramePr/>
          <p:nvPr>
            <p:extLst>
              <p:ext uri="{D42A27DB-BD31-4B8C-83A1-F6EECF244321}">
                <p14:modId xmlns:p14="http://schemas.microsoft.com/office/powerpoint/2010/main" val="1160050765"/>
              </p:ext>
            </p:extLst>
          </p:nvPr>
        </p:nvGraphicFramePr>
        <p:xfrm>
          <a:off x="317500" y="1176495"/>
          <a:ext cx="11404600" cy="3914388"/>
        </p:xfrm>
        <a:graphic>
          <a:graphicData uri="http://schemas.openxmlformats.org/drawingml/2006/table">
            <a:tbl>
              <a:tblPr firstRow="1" bandRow="1">
                <a:tableStyleId>{5C22544A-7EE6-4342-B048-85BDC9FD1C3A}</a:tableStyleId>
              </a:tblPr>
              <a:tblGrid>
                <a:gridCol w="878509">
                  <a:extLst>
                    <a:ext uri="{9D8B030D-6E8A-4147-A177-3AD203B41FA5}">
                      <a16:colId xmlns:a16="http://schemas.microsoft.com/office/drawing/2014/main" val="20000"/>
                    </a:ext>
                  </a:extLst>
                </a:gridCol>
                <a:gridCol w="10526091">
                  <a:extLst>
                    <a:ext uri="{9D8B030D-6E8A-4147-A177-3AD203B41FA5}">
                      <a16:colId xmlns:a16="http://schemas.microsoft.com/office/drawing/2014/main" val="20001"/>
                    </a:ext>
                  </a:extLst>
                </a:gridCol>
              </a:tblGrid>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01</a:t>
                      </a:r>
                    </a:p>
                  </a:txBody>
                  <a:tcPr marL="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dirty="0">
                          <a:ln>
                            <a:noFill/>
                          </a:ln>
                          <a:solidFill>
                            <a:schemeClr val="tx1"/>
                          </a:solidFill>
                          <a:latin typeface="Helvetica Neue"/>
                          <a:ea typeface="Helvetica Neue"/>
                          <a:cs typeface="Helvetica Neue"/>
                        </a:rPr>
                        <a:t>Open the sample IFC model</a:t>
                      </a:r>
                    </a:p>
                  </a:txBody>
                  <a:tcPr marL="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02</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Select an object and inspect properties</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03</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Ask about the selected element</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04</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Isolate it and inspect the 3D view</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05</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Draft and save a review issue</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06</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dirty="0">
                          <a:ln>
                            <a:noFill/>
                          </a:ln>
                          <a:solidFill>
                            <a:schemeClr val="tx1"/>
                          </a:solidFill>
                          <a:latin typeface="Helvetica Neue"/>
                          <a:ea typeface="Helvetica Neue"/>
                          <a:cs typeface="Helvetica Neue"/>
                        </a:rPr>
                        <a:t>Filter the sheet and export Excel</a:t>
                      </a:r>
                    </a:p>
                  </a:txBody>
                  <a:tcPr marL="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15877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B7009-DF5D-9465-028D-99419AB7D68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5057C65-F2BA-009A-F366-80421BDE2454}"/>
              </a:ext>
            </a:extLst>
          </p:cNvPr>
          <p:cNvSpPr>
            <a:spLocks noGrp="1"/>
          </p:cNvSpPr>
          <p:nvPr>
            <p:ph type="ftr" idx="3"/>
          </p:nvPr>
        </p:nvSpPr>
        <p:spPr/>
        <p:txBody>
          <a:bodyPr/>
          <a:lstStyle/>
          <a:p>
            <a:endParaRPr lang="en-US" sz="1000"/>
          </a:p>
        </p:txBody>
      </p:sp>
      <p:sp>
        <p:nvSpPr>
          <p:cNvPr id="3" name="Slide Number Placeholder 2">
            <a:extLst>
              <a:ext uri="{FF2B5EF4-FFF2-40B4-BE49-F238E27FC236}">
                <a16:creationId xmlns:a16="http://schemas.microsoft.com/office/drawing/2014/main" id="{E7ED3B2F-3736-B3CB-3058-C8406C184C2A}"/>
              </a:ext>
            </a:extLst>
          </p:cNvPr>
          <p:cNvSpPr>
            <a:spLocks noGrp="1"/>
          </p:cNvSpPr>
          <p:nvPr>
            <p:ph type="sldNum" idx="4"/>
          </p:nvPr>
        </p:nvSpPr>
        <p:spPr/>
        <p:txBody>
          <a:bodyPr/>
          <a:lstStyle/>
          <a:p>
            <a:fld id="{8574A810-7A8E-054F-9F6B-09E9C694ECF9}" type="slidenum">
              <a:rPr lang="en-US" smtClean="0"/>
              <a:t>4</a:t>
            </a:fld>
            <a:endParaRPr lang="en-US" sz="1000"/>
          </a:p>
        </p:txBody>
      </p:sp>
      <p:sp>
        <p:nvSpPr>
          <p:cNvPr id="4" name="Title 3">
            <a:extLst>
              <a:ext uri="{FF2B5EF4-FFF2-40B4-BE49-F238E27FC236}">
                <a16:creationId xmlns:a16="http://schemas.microsoft.com/office/drawing/2014/main" id="{BE64561A-D208-C782-EE57-D7FFB27E75CE}"/>
              </a:ext>
            </a:extLst>
          </p:cNvPr>
          <p:cNvSpPr>
            <a:spLocks noGrp="1"/>
          </p:cNvSpPr>
          <p:nvPr>
            <p:ph type="title"/>
          </p:nvPr>
        </p:nvSpPr>
        <p:spPr/>
        <p:txBody>
          <a:bodyPr/>
          <a:lstStyle/>
          <a:p>
            <a:r>
              <a:rPr lang="en-US" dirty="0"/>
              <a:t>DEMO</a:t>
            </a:r>
          </a:p>
        </p:txBody>
      </p:sp>
      <p:sp>
        <p:nvSpPr>
          <p:cNvPr id="7" name="TextBox 6">
            <a:extLst>
              <a:ext uri="{FF2B5EF4-FFF2-40B4-BE49-F238E27FC236}">
                <a16:creationId xmlns:a16="http://schemas.microsoft.com/office/drawing/2014/main" id="{5D02161D-F9A4-3E92-F5B4-A2869D61DF2D}"/>
              </a:ext>
            </a:extLst>
          </p:cNvPr>
          <p:cNvSpPr txBox="1"/>
          <p:nvPr/>
        </p:nvSpPr>
        <p:spPr>
          <a:xfrm>
            <a:off x="3048000" y="3105835"/>
            <a:ext cx="6096000" cy="646331"/>
          </a:xfrm>
          <a:prstGeom prst="rect">
            <a:avLst/>
          </a:prstGeom>
          <a:noFill/>
        </p:spPr>
        <p:txBody>
          <a:bodyPr wrap="square">
            <a:spAutoFit/>
          </a:bodyPr>
          <a:lstStyle/>
          <a:p>
            <a:r>
              <a:rPr lang="en-US" dirty="0"/>
              <a:t>/Users/me/Downloads/repos/hackathon-</a:t>
            </a:r>
            <a:r>
              <a:rPr lang="en-US" dirty="0" err="1"/>
              <a:t>openai</a:t>
            </a:r>
            <a:r>
              <a:rPr lang="en-US" dirty="0"/>
              <a:t>-astra/marketing/output/recording-short.mp4</a:t>
            </a:r>
          </a:p>
        </p:txBody>
      </p:sp>
      <p:pic>
        <p:nvPicPr>
          <p:cNvPr id="10" name="recording-short">
            <a:hlinkClick r:id="" action="ppaction://media"/>
            <a:extLst>
              <a:ext uri="{FF2B5EF4-FFF2-40B4-BE49-F238E27FC236}">
                <a16:creationId xmlns:a16="http://schemas.microsoft.com/office/drawing/2014/main" id="{8E0EF335-9C74-8386-DCA3-48CBE89DB572}"/>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93700" y="745268"/>
            <a:ext cx="10691192" cy="6013795"/>
          </a:xfrm>
          <a:prstGeom prst="rect">
            <a:avLst/>
          </a:prstGeom>
        </p:spPr>
      </p:pic>
    </p:spTree>
    <p:extLst>
      <p:ext uri="{BB962C8B-B14F-4D97-AF65-F5344CB8AC3E}">
        <p14:creationId xmlns:p14="http://schemas.microsoft.com/office/powerpoint/2010/main" val="142235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6667"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23947A8-1F8B-A6C0-A26A-02647759AE54}"/>
              </a:ext>
            </a:extLst>
          </p:cNvPr>
          <p:cNvSpPr>
            <a:spLocks noGrp="1"/>
          </p:cNvSpPr>
          <p:nvPr>
            <p:ph type="ftr" idx="3"/>
          </p:nvPr>
        </p:nvSpPr>
        <p:spPr/>
        <p:txBody>
          <a:bodyPr/>
          <a:lstStyle/>
          <a:p>
            <a:endParaRPr lang="en-US" sz="1000"/>
          </a:p>
        </p:txBody>
      </p:sp>
      <p:sp>
        <p:nvSpPr>
          <p:cNvPr id="3" name="Slide Number Placeholder 2">
            <a:extLst>
              <a:ext uri="{FF2B5EF4-FFF2-40B4-BE49-F238E27FC236}">
                <a16:creationId xmlns:a16="http://schemas.microsoft.com/office/drawing/2014/main" id="{B8C3CB61-0011-FB8B-7A32-0C51EBB0E7F5}"/>
              </a:ext>
            </a:extLst>
          </p:cNvPr>
          <p:cNvSpPr>
            <a:spLocks noGrp="1"/>
          </p:cNvSpPr>
          <p:nvPr>
            <p:ph type="sldNum" idx="4"/>
          </p:nvPr>
        </p:nvSpPr>
        <p:spPr/>
        <p:txBody>
          <a:bodyPr/>
          <a:lstStyle/>
          <a:p>
            <a:fld id="{8574A810-7A8E-054F-9F6B-09E9C694ECF9}" type="slidenum">
              <a:rPr lang="en-US" smtClean="0"/>
              <a:t>5</a:t>
            </a:fld>
            <a:endParaRPr lang="en-US" sz="1000"/>
          </a:p>
        </p:txBody>
      </p:sp>
      <p:sp>
        <p:nvSpPr>
          <p:cNvPr id="4" name="Title 3">
            <a:extLst>
              <a:ext uri="{FF2B5EF4-FFF2-40B4-BE49-F238E27FC236}">
                <a16:creationId xmlns:a16="http://schemas.microsoft.com/office/drawing/2014/main" id="{D9823E84-969C-FBE8-A880-E4311C5E8718}"/>
              </a:ext>
            </a:extLst>
          </p:cNvPr>
          <p:cNvSpPr>
            <a:spLocks noGrp="1"/>
          </p:cNvSpPr>
          <p:nvPr>
            <p:ph type="title"/>
          </p:nvPr>
        </p:nvSpPr>
        <p:spPr/>
        <p:txBody>
          <a:bodyPr/>
          <a:lstStyle/>
          <a:p>
            <a:r>
              <a:rPr lang="en-US" dirty="0"/>
              <a:t>DEMO</a:t>
            </a:r>
          </a:p>
        </p:txBody>
      </p:sp>
      <p:pic>
        <p:nvPicPr>
          <p:cNvPr id="8" name="Picture 7">
            <a:extLst>
              <a:ext uri="{FF2B5EF4-FFF2-40B4-BE49-F238E27FC236}">
                <a16:creationId xmlns:a16="http://schemas.microsoft.com/office/drawing/2014/main" id="{BBD123E9-98D4-1CA5-26E1-9111FA5A5886}"/>
              </a:ext>
            </a:extLst>
          </p:cNvPr>
          <p:cNvPicPr>
            <a:picLocks noChangeAspect="1"/>
          </p:cNvPicPr>
          <p:nvPr/>
        </p:nvPicPr>
        <p:blipFill>
          <a:blip r:embed="rId2"/>
          <a:stretch>
            <a:fillRect/>
          </a:stretch>
        </p:blipFill>
        <p:spPr>
          <a:xfrm>
            <a:off x="-17543" y="0"/>
            <a:ext cx="12209543" cy="6629400"/>
          </a:xfrm>
          <a:prstGeom prst="rect">
            <a:avLst/>
          </a:prstGeom>
        </p:spPr>
      </p:pic>
    </p:spTree>
    <p:extLst>
      <p:ext uri="{BB962C8B-B14F-4D97-AF65-F5344CB8AC3E}">
        <p14:creationId xmlns:p14="http://schemas.microsoft.com/office/powerpoint/2010/main" val="561858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16E0EEC-95A3-4516-8836-D4C99977E213}"/>
              </a:ext>
            </a:extLst>
          </p:cNvPr>
          <p:cNvSpPr>
            <a:spLocks noGrp="1"/>
          </p:cNvSpPr>
          <p:nvPr/>
        </p:nvSpPr>
        <p:spPr>
          <a:xfrm>
            <a:off x="390525" y="342900"/>
            <a:ext cx="11410950" cy="809625"/>
          </a:xfrm>
          <a:prstGeom prst="rect">
            <a:avLst/>
          </a:prstGeom>
          <a:noFill/>
          <a:ln w="0">
            <a:noFill/>
          </a:ln>
        </p:spPr>
        <p:txBody>
          <a:bodyPr>
            <a:noAutofit/>
          </a:bodyPr>
          <a:lstStyle/>
          <a:p>
            <a:pPr>
              <a:defRPr sz="3600">
                <a:solidFill>
                  <a:srgbClr val="FFFFFF"/>
                </a:solidFill>
                <a:latin typeface="Arial"/>
                <a:ea typeface="Arial"/>
                <a:cs typeface="Arial"/>
              </a:defRPr>
            </a:pPr>
            <a:r>
              <a:rPr sz="3600" dirty="0">
                <a:solidFill>
                  <a:srgbClr val="FFFFFF"/>
                </a:solidFill>
                <a:latin typeface="Arial"/>
                <a:ea typeface="Arial"/>
                <a:cs typeface="Arial"/>
              </a:rPr>
              <a:t>Who Forma helps</a:t>
            </a:r>
          </a:p>
        </p:txBody>
      </p:sp>
      <p:sp>
        <p:nvSpPr>
          <p:cNvPr id="2" name="Rectangle 1">
            <a:extLst>
              <a:ext uri="{FF2B5EF4-FFF2-40B4-BE49-F238E27FC236}">
                <a16:creationId xmlns:a16="http://schemas.microsoft.com/office/drawing/2014/main" id="{11C75BDB-EA10-4711-A7A6-74F0264512E3}"/>
              </a:ext>
            </a:extLst>
          </p:cNvPr>
          <p:cNvSpPr>
            <a:spLocks noGrp="1"/>
          </p:cNvSpPr>
          <p:nvPr/>
        </p:nvSpPr>
        <p:spPr>
          <a:xfrm>
            <a:off x="390525" y="1905000"/>
            <a:ext cx="3571875" cy="666750"/>
          </a:xfrm>
          <a:prstGeom prst="rect">
            <a:avLst/>
          </a:prstGeom>
          <a:noFill/>
          <a:ln w="0">
            <a:noFill/>
          </a:ln>
        </p:spPr>
        <p:txBody>
          <a:bodyPr>
            <a:noAutofit/>
          </a:bodyPr>
          <a:lstStyle/>
          <a:p>
            <a:pPr>
              <a:defRPr sz="2250">
                <a:solidFill>
                  <a:srgbClr val="FFFFFF"/>
                </a:solidFill>
                <a:latin typeface="Arial"/>
                <a:ea typeface="Arial"/>
                <a:cs typeface="Arial"/>
              </a:defRPr>
            </a:pPr>
            <a:r>
              <a:rPr sz="2250">
                <a:solidFill>
                  <a:srgbClr val="FFFFFF"/>
                </a:solidFill>
                <a:latin typeface="Arial"/>
                <a:ea typeface="Arial"/>
                <a:cs typeface="Arial"/>
              </a:rPr>
              <a:t>Architects and modelers</a:t>
            </a:r>
          </a:p>
        </p:txBody>
      </p:sp>
      <p:sp>
        <p:nvSpPr>
          <p:cNvPr id="3" name="Rectangle 2">
            <a:extLst>
              <a:ext uri="{FF2B5EF4-FFF2-40B4-BE49-F238E27FC236}">
                <a16:creationId xmlns:a16="http://schemas.microsoft.com/office/drawing/2014/main" id="{54608FC4-1AB8-4FF7-82A9-3B1FEB89AB7F}"/>
              </a:ext>
            </a:extLst>
          </p:cNvPr>
          <p:cNvSpPr>
            <a:spLocks noGrp="1"/>
          </p:cNvSpPr>
          <p:nvPr/>
        </p:nvSpPr>
        <p:spPr>
          <a:xfrm>
            <a:off x="390525" y="2857500"/>
            <a:ext cx="3571875" cy="857250"/>
          </a:xfrm>
          <a:prstGeom prst="rect">
            <a:avLst/>
          </a:prstGeom>
          <a:noFill/>
          <a:ln w="0">
            <a:noFill/>
          </a:ln>
        </p:spPr>
        <p:txBody>
          <a:bodyPr>
            <a:noAutofit/>
          </a:bodyPr>
          <a:lstStyle/>
          <a:p>
            <a:pPr>
              <a:defRPr sz="2250">
                <a:solidFill>
                  <a:srgbClr val="FFFFFF"/>
                </a:solidFill>
                <a:latin typeface="Arial"/>
                <a:ea typeface="Arial"/>
                <a:cs typeface="Arial"/>
              </a:defRPr>
            </a:pPr>
            <a:r>
              <a:rPr sz="2250">
                <a:solidFill>
                  <a:srgbClr val="FFFFFF"/>
                </a:solidFill>
                <a:latin typeface="Arial"/>
                <a:ea typeface="Arial"/>
                <a:cs typeface="Arial"/>
              </a:rPr>
              <a:t>Check an object’s classification</a:t>
            </a:r>
          </a:p>
        </p:txBody>
      </p:sp>
      <p:sp>
        <p:nvSpPr>
          <p:cNvPr id="4" name="Rectangle 3">
            <a:extLst>
              <a:ext uri="{FF2B5EF4-FFF2-40B4-BE49-F238E27FC236}">
                <a16:creationId xmlns:a16="http://schemas.microsoft.com/office/drawing/2014/main" id="{F996EA36-2F1C-400B-9D67-16F503E8621E}"/>
              </a:ext>
            </a:extLst>
          </p:cNvPr>
          <p:cNvSpPr>
            <a:spLocks noGrp="1"/>
          </p:cNvSpPr>
          <p:nvPr/>
        </p:nvSpPr>
        <p:spPr>
          <a:xfrm>
            <a:off x="390525" y="4000500"/>
            <a:ext cx="3571875" cy="1571625"/>
          </a:xfrm>
          <a:prstGeom prst="rect">
            <a:avLst/>
          </a:prstGeom>
          <a:noFill/>
          <a:ln w="0">
            <a:noFill/>
          </a:ln>
        </p:spPr>
        <p:txBody>
          <a:bodyPr>
            <a:noAutofit/>
          </a:bodyPr>
          <a:lstStyle/>
          <a:p>
            <a:pPr>
              <a:defRPr sz="2025">
                <a:solidFill>
                  <a:srgbClr val="FFFFFF"/>
                </a:solidFill>
                <a:latin typeface="Arial"/>
                <a:ea typeface="Arial"/>
                <a:cs typeface="Arial"/>
              </a:defRPr>
            </a:pPr>
            <a:r>
              <a:rPr sz="2025">
                <a:solidFill>
                  <a:srgbClr val="FFFFFF"/>
                </a:solidFill>
                <a:latin typeface="Arial"/>
                <a:ea typeface="Arial"/>
                <a:cs typeface="Arial"/>
              </a:rPr>
              <a:t>Inspect a window in 3D, compare its label with the reference, and review a suggested correction.</a:t>
            </a:r>
          </a:p>
        </p:txBody>
      </p:sp>
      <p:sp>
        <p:nvSpPr>
          <p:cNvPr id="5" name="Rectangle 4">
            <a:extLst>
              <a:ext uri="{FF2B5EF4-FFF2-40B4-BE49-F238E27FC236}">
                <a16:creationId xmlns:a16="http://schemas.microsoft.com/office/drawing/2014/main" id="{D9273850-9E36-4058-A23C-B8321A119F1F}"/>
              </a:ext>
            </a:extLst>
          </p:cNvPr>
          <p:cNvSpPr>
            <a:spLocks noGrp="1"/>
          </p:cNvSpPr>
          <p:nvPr/>
        </p:nvSpPr>
        <p:spPr>
          <a:xfrm>
            <a:off x="4305300" y="1905000"/>
            <a:ext cx="3571875" cy="666750"/>
          </a:xfrm>
          <a:prstGeom prst="rect">
            <a:avLst/>
          </a:prstGeom>
          <a:noFill/>
          <a:ln w="0">
            <a:noFill/>
          </a:ln>
        </p:spPr>
        <p:txBody>
          <a:bodyPr>
            <a:noAutofit/>
          </a:bodyPr>
          <a:lstStyle/>
          <a:p>
            <a:pPr>
              <a:defRPr sz="2250">
                <a:solidFill>
                  <a:srgbClr val="FFFFFF"/>
                </a:solidFill>
                <a:latin typeface="Arial"/>
                <a:ea typeface="Arial"/>
                <a:cs typeface="Arial"/>
              </a:defRPr>
            </a:pPr>
            <a:r>
              <a:rPr sz="2250">
                <a:solidFill>
                  <a:srgbClr val="FFFFFF"/>
                </a:solidFill>
                <a:latin typeface="Arial"/>
                <a:ea typeface="Arial"/>
                <a:cs typeface="Arial"/>
              </a:rPr>
              <a:t>Design reviewers</a:t>
            </a:r>
          </a:p>
        </p:txBody>
      </p:sp>
      <p:sp>
        <p:nvSpPr>
          <p:cNvPr id="6" name="Rectangle 5">
            <a:extLst>
              <a:ext uri="{FF2B5EF4-FFF2-40B4-BE49-F238E27FC236}">
                <a16:creationId xmlns:a16="http://schemas.microsoft.com/office/drawing/2014/main" id="{E6205D82-892C-432D-9E6A-6B3AA28B6CC1}"/>
              </a:ext>
            </a:extLst>
          </p:cNvPr>
          <p:cNvSpPr>
            <a:spLocks noGrp="1"/>
          </p:cNvSpPr>
          <p:nvPr/>
        </p:nvSpPr>
        <p:spPr>
          <a:xfrm>
            <a:off x="4305300" y="2857500"/>
            <a:ext cx="3571875" cy="857250"/>
          </a:xfrm>
          <a:prstGeom prst="rect">
            <a:avLst/>
          </a:prstGeom>
          <a:noFill/>
          <a:ln w="0">
            <a:noFill/>
          </a:ln>
        </p:spPr>
        <p:txBody>
          <a:bodyPr>
            <a:noAutofit/>
          </a:bodyPr>
          <a:lstStyle/>
          <a:p>
            <a:pPr>
              <a:defRPr sz="2250">
                <a:solidFill>
                  <a:srgbClr val="FFFFFF"/>
                </a:solidFill>
                <a:latin typeface="Arial"/>
                <a:ea typeface="Arial"/>
                <a:cs typeface="Arial"/>
              </a:defRPr>
            </a:pPr>
            <a:r>
              <a:rPr sz="2250">
                <a:solidFill>
                  <a:srgbClr val="FFFFFF"/>
                </a:solidFill>
                <a:latin typeface="Arial"/>
                <a:ea typeface="Arial"/>
                <a:cs typeface="Arial"/>
              </a:rPr>
              <a:t>Find missing or mismatched data</a:t>
            </a:r>
          </a:p>
        </p:txBody>
      </p:sp>
      <p:sp>
        <p:nvSpPr>
          <p:cNvPr id="7" name="Rectangle 6">
            <a:extLst>
              <a:ext uri="{FF2B5EF4-FFF2-40B4-BE49-F238E27FC236}">
                <a16:creationId xmlns:a16="http://schemas.microsoft.com/office/drawing/2014/main" id="{FDFACA03-B2E0-4DE9-BA82-E0335A85683F}"/>
              </a:ext>
            </a:extLst>
          </p:cNvPr>
          <p:cNvSpPr>
            <a:spLocks noGrp="1"/>
          </p:cNvSpPr>
          <p:nvPr/>
        </p:nvSpPr>
        <p:spPr>
          <a:xfrm>
            <a:off x="4305300" y="4000500"/>
            <a:ext cx="3571875" cy="1571625"/>
          </a:xfrm>
          <a:prstGeom prst="rect">
            <a:avLst/>
          </a:prstGeom>
          <a:noFill/>
          <a:ln w="0">
            <a:noFill/>
          </a:ln>
        </p:spPr>
        <p:txBody>
          <a:bodyPr>
            <a:noAutofit/>
          </a:bodyPr>
          <a:lstStyle/>
          <a:p>
            <a:pPr>
              <a:defRPr sz="2025">
                <a:solidFill>
                  <a:srgbClr val="FFFFFF"/>
                </a:solidFill>
                <a:latin typeface="Arial"/>
                <a:ea typeface="Arial"/>
                <a:cs typeface="Arial"/>
              </a:defRPr>
            </a:pPr>
            <a:r>
              <a:rPr sz="2025">
                <a:solidFill>
                  <a:srgbClr val="FFFFFF"/>
                </a:solidFill>
                <a:latin typeface="Arial"/>
                <a:ea typeface="Arial"/>
                <a:cs typeface="Arial"/>
              </a:rPr>
              <a:t>Locate the affected element and keep the finding with a saved viewpoint.</a:t>
            </a:r>
          </a:p>
        </p:txBody>
      </p:sp>
      <p:sp>
        <p:nvSpPr>
          <p:cNvPr id="8" name="Rectangle 7">
            <a:extLst>
              <a:ext uri="{FF2B5EF4-FFF2-40B4-BE49-F238E27FC236}">
                <a16:creationId xmlns:a16="http://schemas.microsoft.com/office/drawing/2014/main" id="{0F4C45BE-0C94-4E74-9023-12EACF5C70E1}"/>
              </a:ext>
            </a:extLst>
          </p:cNvPr>
          <p:cNvSpPr>
            <a:spLocks noGrp="1"/>
          </p:cNvSpPr>
          <p:nvPr/>
        </p:nvSpPr>
        <p:spPr>
          <a:xfrm>
            <a:off x="8220075" y="1905000"/>
            <a:ext cx="3571875" cy="666750"/>
          </a:xfrm>
          <a:prstGeom prst="rect">
            <a:avLst/>
          </a:prstGeom>
          <a:noFill/>
          <a:ln w="0">
            <a:noFill/>
          </a:ln>
        </p:spPr>
        <p:txBody>
          <a:bodyPr>
            <a:noAutofit/>
          </a:bodyPr>
          <a:lstStyle/>
          <a:p>
            <a:pPr>
              <a:defRPr sz="2250">
                <a:solidFill>
                  <a:srgbClr val="FFFFFF"/>
                </a:solidFill>
                <a:latin typeface="Arial"/>
                <a:ea typeface="Arial"/>
                <a:cs typeface="Arial"/>
              </a:defRPr>
            </a:pPr>
            <a:r>
              <a:rPr sz="2250">
                <a:solidFill>
                  <a:srgbClr val="FFFFFF"/>
                </a:solidFill>
                <a:latin typeface="Arial"/>
                <a:ea typeface="Arial"/>
                <a:cs typeface="Arial"/>
              </a:rPr>
              <a:t>Cost estimation teams</a:t>
            </a:r>
          </a:p>
        </p:txBody>
      </p:sp>
      <p:sp>
        <p:nvSpPr>
          <p:cNvPr id="9" name="Rectangle 8">
            <a:extLst>
              <a:ext uri="{FF2B5EF4-FFF2-40B4-BE49-F238E27FC236}">
                <a16:creationId xmlns:a16="http://schemas.microsoft.com/office/drawing/2014/main" id="{F5B731A7-6A27-49FB-9605-F48E39D9F6B1}"/>
              </a:ext>
            </a:extLst>
          </p:cNvPr>
          <p:cNvSpPr>
            <a:spLocks noGrp="1"/>
          </p:cNvSpPr>
          <p:nvPr/>
        </p:nvSpPr>
        <p:spPr>
          <a:xfrm>
            <a:off x="8220075" y="2857500"/>
            <a:ext cx="3571875" cy="857250"/>
          </a:xfrm>
          <a:prstGeom prst="rect">
            <a:avLst/>
          </a:prstGeom>
          <a:noFill/>
          <a:ln w="0">
            <a:noFill/>
          </a:ln>
        </p:spPr>
        <p:txBody>
          <a:bodyPr>
            <a:noAutofit/>
          </a:bodyPr>
          <a:lstStyle/>
          <a:p>
            <a:pPr>
              <a:defRPr sz="2250">
                <a:solidFill>
                  <a:srgbClr val="FFFFFF"/>
                </a:solidFill>
                <a:latin typeface="Arial"/>
                <a:ea typeface="Arial"/>
                <a:cs typeface="Arial"/>
              </a:defRPr>
            </a:pPr>
            <a:r>
              <a:rPr sz="2250">
                <a:solidFill>
                  <a:srgbClr val="FFFFFF"/>
                </a:solidFill>
                <a:latin typeface="Arial"/>
                <a:ea typeface="Arial"/>
                <a:cs typeface="Arial"/>
              </a:rPr>
              <a:t>Prepare a consistent element list</a:t>
            </a:r>
          </a:p>
        </p:txBody>
      </p:sp>
      <p:sp>
        <p:nvSpPr>
          <p:cNvPr id="10" name="Rectangle 9">
            <a:extLst>
              <a:ext uri="{FF2B5EF4-FFF2-40B4-BE49-F238E27FC236}">
                <a16:creationId xmlns:a16="http://schemas.microsoft.com/office/drawing/2014/main" id="{62796FE0-2F2D-4153-B544-ADB2C3C8B8B9}"/>
              </a:ext>
            </a:extLst>
          </p:cNvPr>
          <p:cNvSpPr>
            <a:spLocks noGrp="1"/>
          </p:cNvSpPr>
          <p:nvPr/>
        </p:nvSpPr>
        <p:spPr>
          <a:xfrm>
            <a:off x="8220075" y="4000500"/>
            <a:ext cx="3571875" cy="1571625"/>
          </a:xfrm>
          <a:prstGeom prst="rect">
            <a:avLst/>
          </a:prstGeom>
          <a:noFill/>
          <a:ln w="0">
            <a:noFill/>
          </a:ln>
        </p:spPr>
        <p:txBody>
          <a:bodyPr>
            <a:noAutofit/>
          </a:bodyPr>
          <a:lstStyle/>
          <a:p>
            <a:pPr>
              <a:defRPr sz="2025">
                <a:solidFill>
                  <a:srgbClr val="FFFFFF"/>
                </a:solidFill>
                <a:latin typeface="Arial"/>
                <a:ea typeface="Arial"/>
                <a:cs typeface="Arial"/>
              </a:defRPr>
            </a:pPr>
            <a:r>
              <a:rPr sz="2025">
                <a:solidFill>
                  <a:srgbClr val="FFFFFF"/>
                </a:solidFill>
                <a:latin typeface="Arial"/>
                <a:ea typeface="Arial"/>
                <a:cs typeface="Arial"/>
              </a:rPr>
              <a:t>Review the model data, filter the relevant elements, and export the list to Excel.</a:t>
            </a:r>
          </a:p>
        </p:txBody>
      </p:sp>
      <p:sp>
        <p:nvSpPr>
          <p:cNvPr id="11" name="Rectangle 10">
            <a:extLst>
              <a:ext uri="{FF2B5EF4-FFF2-40B4-BE49-F238E27FC236}">
                <a16:creationId xmlns:a16="http://schemas.microsoft.com/office/drawing/2014/main" id="{01BA3522-67CF-4DBF-8AF9-E6EA86A439F6}"/>
              </a:ext>
            </a:extLst>
          </p:cNvPr>
          <p:cNvSpPr>
            <a:spLocks noGrp="1"/>
          </p:cNvSpPr>
          <p:nvPr/>
        </p:nvSpPr>
        <p:spPr>
          <a:xfrm>
            <a:off x="390525" y="6191250"/>
            <a:ext cx="10858500" cy="381000"/>
          </a:xfrm>
          <a:prstGeom prst="rect">
            <a:avLst/>
          </a:prstGeom>
          <a:noFill/>
          <a:ln w="0">
            <a:noFill/>
          </a:ln>
        </p:spPr>
        <p:txBody>
          <a:bodyPr>
            <a:noAutofit/>
          </a:bodyPr>
          <a:lstStyle/>
          <a:p>
            <a:pPr>
              <a:defRPr sz="1425">
                <a:solidFill>
                  <a:srgbClr val="FFFFFF"/>
                </a:solidFill>
                <a:latin typeface="Arial"/>
                <a:ea typeface="Arial"/>
                <a:cs typeface="Arial"/>
              </a:defRPr>
            </a:pPr>
            <a:r>
              <a:rPr sz="1425">
                <a:solidFill>
                  <a:srgbClr val="FFFFFF"/>
                </a:solidFill>
                <a:latin typeface="Arial"/>
                <a:ea typeface="Arial"/>
                <a:cs typeface="Arial"/>
              </a:rPr>
              <a:t>Classification suggestions and approved model updates are the development target.</a:t>
            </a:r>
          </a:p>
        </p:txBody>
      </p:sp>
      <p:sp>
        <p:nvSpPr>
          <p:cNvPr id="12" name="Rectangle 11">
            <a:extLst>
              <a:ext uri="{FF2B5EF4-FFF2-40B4-BE49-F238E27FC236}">
                <a16:creationId xmlns:a16="http://schemas.microsoft.com/office/drawing/2014/main" id="{940B6D2F-AFD7-4F37-98C9-BCFB3B2537F3}"/>
              </a:ext>
            </a:extLst>
          </p:cNvPr>
          <p:cNvSpPr>
            <a:spLocks noGrp="1"/>
          </p:cNvSpPr>
          <p:nvPr/>
        </p:nvSpPr>
        <p:spPr>
          <a:xfrm>
            <a:off x="11430000" y="6477000"/>
            <a:ext cx="428625" cy="238125"/>
          </a:xfrm>
          <a:prstGeom prst="rect">
            <a:avLst/>
          </a:prstGeom>
          <a:noFill/>
          <a:ln w="0">
            <a:noFill/>
          </a:ln>
        </p:spPr>
        <p:txBody>
          <a:bodyPr>
            <a:noAutofit/>
          </a:bodyPr>
          <a:lstStyle/>
          <a:p>
            <a:pPr>
              <a:defRPr sz="1200">
                <a:solidFill>
                  <a:srgbClr val="FFFFFF"/>
                </a:solidFill>
                <a:latin typeface="Arial"/>
                <a:ea typeface="Arial"/>
                <a:cs typeface="Arial"/>
              </a:defRPr>
            </a:pPr>
            <a:r>
              <a:rPr sz="1200">
                <a:solidFill>
                  <a:srgbClr val="FFFFFF"/>
                </a:solidFill>
                <a:latin typeface="Arial"/>
                <a:ea typeface="Arial"/>
                <a:cs typeface="Arial"/>
              </a:rPr>
              <a:t>3</a:t>
            </a:r>
          </a:p>
        </p:txBody>
      </p:sp>
    </p:spTree>
    <p:extLst>
      <p:ext uri="{BB962C8B-B14F-4D97-AF65-F5344CB8AC3E}">
        <p14:creationId xmlns:p14="http://schemas.microsoft.com/office/powerpoint/2010/main" val="2023919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E283D44-2EED-45AC-B02F-747A8A65F333}"/>
              </a:ext>
            </a:extLst>
          </p:cNvPr>
          <p:cNvSpPr>
            <a:spLocks noGrp="1"/>
          </p:cNvSpPr>
          <p:nvPr/>
        </p:nvSpPr>
        <p:spPr>
          <a:xfrm>
            <a:off x="390525" y="342900"/>
            <a:ext cx="11410950" cy="762000"/>
          </a:xfrm>
          <a:prstGeom prst="rect">
            <a:avLst/>
          </a:prstGeom>
          <a:noFill/>
          <a:ln w="0">
            <a:noFill/>
          </a:ln>
        </p:spPr>
        <p:txBody>
          <a:bodyPr>
            <a:noAutofit/>
          </a:bodyPr>
          <a:lstStyle/>
          <a:p>
            <a:pPr>
              <a:buNone/>
              <a:defRPr sz="3450">
                <a:solidFill>
                  <a:srgbClr val="FFFFFF"/>
                </a:solidFill>
                <a:latin typeface="Arial"/>
                <a:ea typeface="Arial"/>
                <a:cs typeface="Arial"/>
              </a:defRPr>
            </a:pPr>
            <a:r>
              <a:rPr sz="3450">
                <a:solidFill>
                  <a:srgbClr val="FFFFFF"/>
                </a:solidFill>
                <a:latin typeface="Arial"/>
                <a:ea typeface="Arial"/>
                <a:cs typeface="Arial"/>
              </a:rPr>
              <a:t>Manual review vs. Forma</a:t>
            </a:r>
          </a:p>
        </p:txBody>
      </p:sp>
      <p:sp>
        <p:nvSpPr>
          <p:cNvPr id="2" name="Rectangle 1">
            <a:extLst>
              <a:ext uri="{FF2B5EF4-FFF2-40B4-BE49-F238E27FC236}">
                <a16:creationId xmlns:a16="http://schemas.microsoft.com/office/drawing/2014/main" id="{6D848A9E-5F43-4C0F-B360-47BA627FF2AA}"/>
              </a:ext>
            </a:extLst>
          </p:cNvPr>
          <p:cNvSpPr>
            <a:spLocks noGrp="1"/>
          </p:cNvSpPr>
          <p:nvPr/>
        </p:nvSpPr>
        <p:spPr>
          <a:xfrm>
            <a:off x="390525" y="1162050"/>
            <a:ext cx="10953750" cy="428625"/>
          </a:xfrm>
          <a:prstGeom prst="rect">
            <a:avLst/>
          </a:prstGeom>
          <a:noFill/>
          <a:ln w="0">
            <a:noFill/>
          </a:ln>
        </p:spPr>
        <p:txBody>
          <a:bodyPr>
            <a:noAutofit/>
          </a:bodyPr>
          <a:lstStyle/>
          <a:p>
            <a:pPr>
              <a:buNone/>
              <a:defRPr sz="1950">
                <a:solidFill>
                  <a:srgbClr val="FFFFFF"/>
                </a:solidFill>
                <a:latin typeface="Arial"/>
                <a:ea typeface="Arial"/>
                <a:cs typeface="Arial"/>
              </a:defRPr>
            </a:pPr>
            <a:r>
              <a:rPr sz="1950">
                <a:solidFill>
                  <a:srgbClr val="FFFFFF"/>
                </a:solidFill>
                <a:latin typeface="Arial"/>
                <a:ea typeface="Arial"/>
                <a:cs typeface="Arial"/>
              </a:rPr>
              <a:t>Construction model review before cost estimation</a:t>
            </a:r>
          </a:p>
        </p:txBody>
      </p:sp>
      <p:graphicFrame>
        <p:nvGraphicFramePr>
          <p:cNvPr id="14" name="Table 13"/>
          <p:cNvGraphicFramePr/>
          <p:nvPr>
            <p:extLst>
              <p:ext uri="{D42A27DB-BD31-4B8C-83A1-F6EECF244321}">
                <p14:modId xmlns:p14="http://schemas.microsoft.com/office/powerpoint/2010/main" val="593807974"/>
              </p:ext>
            </p:extLst>
          </p:nvPr>
        </p:nvGraphicFramePr>
        <p:xfrm>
          <a:off x="390525" y="1809750"/>
          <a:ext cx="11410950" cy="2903220"/>
        </p:xfrm>
        <a:graphic>
          <a:graphicData uri="http://schemas.openxmlformats.org/drawingml/2006/table">
            <a:tbl>
              <a:tblPr/>
              <a:tblGrid>
                <a:gridCol w="276225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457700">
                  <a:extLst>
                    <a:ext uri="{9D8B030D-6E8A-4147-A177-3AD203B41FA5}">
                      <a16:colId xmlns:a16="http://schemas.microsoft.com/office/drawing/2014/main" val="20002"/>
                    </a:ext>
                  </a:extLst>
                </a:gridCol>
              </a:tblGrid>
              <a:tr h="571500">
                <a:tc>
                  <a:txBody>
                    <a:bodyPr/>
                    <a:lstStyle/>
                    <a:p>
                      <a:r>
                        <a:rPr sz="1725" b="1">
                          <a:solidFill>
                            <a:srgbClr val="FFFFFF"/>
                          </a:solidFill>
                          <a:latin typeface="Arial"/>
                          <a:ea typeface="Arial"/>
                          <a:cs typeface="Arial"/>
                        </a:rPr>
                        <a:t>Review activity</a:t>
                      </a:r>
                    </a:p>
                  </a:txBody>
                  <a:tcPr>
                    <a:solidFill>
                      <a:srgbClr val="242424"/>
                    </a:solidFill>
                  </a:tcPr>
                </a:tc>
                <a:tc>
                  <a:txBody>
                    <a:bodyPr/>
                    <a:lstStyle/>
                    <a:p>
                      <a:r>
                        <a:rPr sz="1725" b="1">
                          <a:solidFill>
                            <a:srgbClr val="FFFFFF"/>
                          </a:solidFill>
                          <a:latin typeface="Arial"/>
                          <a:ea typeface="Arial"/>
                          <a:cs typeface="Arial"/>
                        </a:rPr>
                        <a:t>Manual workflow</a:t>
                      </a:r>
                    </a:p>
                  </a:txBody>
                  <a:tcPr>
                    <a:solidFill>
                      <a:srgbClr val="242424"/>
                    </a:solidFill>
                  </a:tcPr>
                </a:tc>
                <a:tc>
                  <a:txBody>
                    <a:bodyPr/>
                    <a:lstStyle/>
                    <a:p>
                      <a:r>
                        <a:rPr sz="1725" b="1">
                          <a:solidFill>
                            <a:srgbClr val="FFFFFF"/>
                          </a:solidFill>
                          <a:latin typeface="Arial"/>
                          <a:ea typeface="Arial"/>
                          <a:cs typeface="Arial"/>
                        </a:rPr>
                        <a:t>With the app</a:t>
                      </a:r>
                    </a:p>
                  </a:txBody>
                  <a:tcPr>
                    <a:solidFill>
                      <a:srgbClr val="242424"/>
                    </a:solidFill>
                  </a:tcPr>
                </a:tc>
                <a:extLst>
                  <a:ext uri="{0D108BD9-81ED-4DB2-BD59-A6C34878D82A}">
                    <a16:rowId xmlns:a16="http://schemas.microsoft.com/office/drawing/2014/main" val="10000"/>
                  </a:ext>
                </a:extLst>
              </a:tr>
              <a:tr h="571500">
                <a:tc>
                  <a:txBody>
                    <a:bodyPr/>
                    <a:lstStyle/>
                    <a:p>
                      <a:r>
                        <a:rPr sz="1725" b="0">
                          <a:solidFill>
                            <a:srgbClr val="FFFFFF"/>
                          </a:solidFill>
                          <a:latin typeface="Arial"/>
                          <a:ea typeface="Arial"/>
                          <a:cs typeface="Arial"/>
                        </a:rPr>
                        <a:t>Find and inspect objects</a:t>
                      </a:r>
                    </a:p>
                  </a:txBody>
                  <a:tcPr>
                    <a:solidFill>
                      <a:srgbClr val="000000"/>
                    </a:solidFill>
                  </a:tcPr>
                </a:tc>
                <a:tc>
                  <a:txBody>
                    <a:bodyPr/>
                    <a:lstStyle/>
                    <a:p>
                      <a:r>
                        <a:rPr sz="1725" b="0">
                          <a:solidFill>
                            <a:srgbClr val="FFFFFF"/>
                          </a:solidFill>
                          <a:latin typeface="Arial"/>
                          <a:ea typeface="Arial"/>
                          <a:cs typeface="Arial"/>
                        </a:rPr>
                        <a:t>Cross-check model and schedules</a:t>
                      </a:r>
                    </a:p>
                  </a:txBody>
                  <a:tcPr>
                    <a:solidFill>
                      <a:srgbClr val="000000"/>
                    </a:solidFill>
                  </a:tcPr>
                </a:tc>
                <a:tc>
                  <a:txBody>
                    <a:bodyPr/>
                    <a:lstStyle/>
                    <a:p>
                      <a:r>
                        <a:rPr sz="1725" b="0">
                          <a:solidFill>
                            <a:srgbClr val="FFFFFF"/>
                          </a:solidFill>
                          <a:latin typeface="Arial"/>
                          <a:ea typeface="Arial"/>
                          <a:cs typeface="Arial"/>
                        </a:rPr>
                        <a:t>Linked 3D view, tree, and properties</a:t>
                      </a:r>
                    </a:p>
                  </a:txBody>
                  <a:tcPr>
                    <a:solidFill>
                      <a:srgbClr val="000000"/>
                    </a:solidFill>
                  </a:tcPr>
                </a:tc>
                <a:extLst>
                  <a:ext uri="{0D108BD9-81ED-4DB2-BD59-A6C34878D82A}">
                    <a16:rowId xmlns:a16="http://schemas.microsoft.com/office/drawing/2014/main" val="10001"/>
                  </a:ext>
                </a:extLst>
              </a:tr>
              <a:tr h="571500">
                <a:tc>
                  <a:txBody>
                    <a:bodyPr/>
                    <a:lstStyle/>
                    <a:p>
                      <a:r>
                        <a:rPr sz="1725" b="0">
                          <a:solidFill>
                            <a:srgbClr val="FFFFFF"/>
                          </a:solidFill>
                          <a:latin typeface="Arial"/>
                          <a:ea typeface="Arial"/>
                          <a:cs typeface="Arial"/>
                        </a:rPr>
                        <a:t>Record review findings</a:t>
                      </a:r>
                    </a:p>
                  </a:txBody>
                  <a:tcPr>
                    <a:solidFill>
                      <a:srgbClr val="000000"/>
                    </a:solidFill>
                  </a:tcPr>
                </a:tc>
                <a:tc>
                  <a:txBody>
                    <a:bodyPr/>
                    <a:lstStyle/>
                    <a:p>
                      <a:r>
                        <a:rPr sz="1725" b="0">
                          <a:solidFill>
                            <a:srgbClr val="FFFFFF"/>
                          </a:solidFill>
                          <a:latin typeface="Arial"/>
                          <a:ea typeface="Arial"/>
                          <a:cs typeface="Arial"/>
                        </a:rPr>
                        <a:t>Capture screenshots and notes</a:t>
                      </a:r>
                    </a:p>
                  </a:txBody>
                  <a:tcPr>
                    <a:solidFill>
                      <a:srgbClr val="000000"/>
                    </a:solidFill>
                  </a:tcPr>
                </a:tc>
                <a:tc>
                  <a:txBody>
                    <a:bodyPr/>
                    <a:lstStyle/>
                    <a:p>
                      <a:r>
                        <a:rPr sz="1725" b="0">
                          <a:solidFill>
                            <a:srgbClr val="FFFFFF"/>
                          </a:solidFill>
                          <a:latin typeface="Arial"/>
                          <a:ea typeface="Arial"/>
                          <a:cs typeface="Arial"/>
                        </a:rPr>
                        <a:t>Save issues with their viewpoints</a:t>
                      </a:r>
                    </a:p>
                  </a:txBody>
                  <a:tcPr>
                    <a:solidFill>
                      <a:srgbClr val="000000"/>
                    </a:solidFill>
                  </a:tcPr>
                </a:tc>
                <a:extLst>
                  <a:ext uri="{0D108BD9-81ED-4DB2-BD59-A6C34878D82A}">
                    <a16:rowId xmlns:a16="http://schemas.microsoft.com/office/drawing/2014/main" val="10002"/>
                  </a:ext>
                </a:extLst>
              </a:tr>
              <a:tr h="571500">
                <a:tc>
                  <a:txBody>
                    <a:bodyPr/>
                    <a:lstStyle/>
                    <a:p>
                      <a:r>
                        <a:rPr sz="1725" b="0">
                          <a:solidFill>
                            <a:srgbClr val="FFFFFF"/>
                          </a:solidFill>
                          <a:latin typeface="Arial"/>
                          <a:ea typeface="Arial"/>
                          <a:cs typeface="Arial"/>
                        </a:rPr>
                        <a:t>Prepare element data</a:t>
                      </a:r>
                    </a:p>
                  </a:txBody>
                  <a:tcPr>
                    <a:solidFill>
                      <a:srgbClr val="000000"/>
                    </a:solidFill>
                  </a:tcPr>
                </a:tc>
                <a:tc>
                  <a:txBody>
                    <a:bodyPr/>
                    <a:lstStyle/>
                    <a:p>
                      <a:r>
                        <a:rPr sz="1725" b="0">
                          <a:solidFill>
                            <a:srgbClr val="FFFFFF"/>
                          </a:solidFill>
                          <a:latin typeface="Arial"/>
                          <a:ea typeface="Arial"/>
                          <a:cs typeface="Arial"/>
                        </a:rPr>
                        <a:t>Compile an element list by hand</a:t>
                      </a:r>
                    </a:p>
                  </a:txBody>
                  <a:tcPr>
                    <a:solidFill>
                      <a:srgbClr val="000000"/>
                    </a:solidFill>
                  </a:tcPr>
                </a:tc>
                <a:tc>
                  <a:txBody>
                    <a:bodyPr/>
                    <a:lstStyle/>
                    <a:p>
                      <a:r>
                        <a:rPr sz="1725" b="0">
                          <a:solidFill>
                            <a:srgbClr val="FFFFFF"/>
                          </a:solidFill>
                          <a:latin typeface="Arial"/>
                          <a:ea typeface="Arial"/>
                          <a:cs typeface="Arial"/>
                        </a:rPr>
                        <a:t>Filter model data and export Excel</a:t>
                      </a:r>
                    </a:p>
                  </a:txBody>
                  <a:tcPr>
                    <a:solidFill>
                      <a:srgbClr val="000000"/>
                    </a:solidFill>
                  </a:tcPr>
                </a:tc>
                <a:extLst>
                  <a:ext uri="{0D108BD9-81ED-4DB2-BD59-A6C34878D82A}">
                    <a16:rowId xmlns:a16="http://schemas.microsoft.com/office/drawing/2014/main" val="10003"/>
                  </a:ext>
                </a:extLst>
              </a:tr>
              <a:tr h="571500">
                <a:tc>
                  <a:txBody>
                    <a:bodyPr/>
                    <a:lstStyle/>
                    <a:p>
                      <a:r>
                        <a:rPr sz="1725" b="0" dirty="0">
                          <a:solidFill>
                            <a:srgbClr val="FFFFFF"/>
                          </a:solidFill>
                          <a:latin typeface="Arial"/>
                          <a:ea typeface="Arial"/>
                          <a:cs typeface="Arial"/>
                        </a:rPr>
                        <a:t>Illustrative effort per review</a:t>
                      </a:r>
                    </a:p>
                  </a:txBody>
                  <a:tcPr>
                    <a:solidFill>
                      <a:srgbClr val="000000"/>
                    </a:solidFill>
                  </a:tcPr>
                </a:tc>
                <a:tc>
                  <a:txBody>
                    <a:bodyPr/>
                    <a:lstStyle/>
                    <a:p>
                      <a:r>
                        <a:rPr lang="en-US" sz="1725" b="0" dirty="0">
                          <a:solidFill>
                            <a:srgbClr val="FFFFFF"/>
                          </a:solidFill>
                          <a:latin typeface="Arial"/>
                          <a:ea typeface="Arial"/>
                          <a:cs typeface="Arial"/>
                        </a:rPr>
                        <a:t>100</a:t>
                      </a:r>
                      <a:r>
                        <a:rPr sz="1725" b="0" dirty="0">
                          <a:solidFill>
                            <a:srgbClr val="FFFFFF"/>
                          </a:solidFill>
                          <a:latin typeface="Arial"/>
                          <a:ea typeface="Arial"/>
                          <a:cs typeface="Arial"/>
                        </a:rPr>
                        <a:t> hours / US$400 labor</a:t>
                      </a:r>
                    </a:p>
                  </a:txBody>
                  <a:tcPr>
                    <a:solidFill>
                      <a:srgbClr val="000000"/>
                    </a:solidFill>
                  </a:tcPr>
                </a:tc>
                <a:tc>
                  <a:txBody>
                    <a:bodyPr/>
                    <a:lstStyle/>
                    <a:p>
                      <a:r>
                        <a:rPr lang="en-US" sz="1725" b="0" dirty="0">
                          <a:solidFill>
                            <a:srgbClr val="FFFFFF"/>
                          </a:solidFill>
                          <a:latin typeface="Arial"/>
                          <a:ea typeface="Arial"/>
                          <a:cs typeface="Arial"/>
                        </a:rPr>
                        <a:t>10</a:t>
                      </a:r>
                      <a:r>
                        <a:rPr sz="1725" b="0" dirty="0">
                          <a:solidFill>
                            <a:srgbClr val="FFFFFF"/>
                          </a:solidFill>
                          <a:latin typeface="Arial"/>
                          <a:ea typeface="Arial"/>
                          <a:cs typeface="Arial"/>
                        </a:rPr>
                        <a:t> hours / US$200 labor</a:t>
                      </a:r>
                    </a:p>
                  </a:txBody>
                  <a:tcPr>
                    <a:solidFill>
                      <a:srgbClr val="000000"/>
                    </a:solidFill>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509A5B92-E246-49C4-8F29-17264466E1DF}"/>
              </a:ext>
            </a:extLst>
          </p:cNvPr>
          <p:cNvSpPr>
            <a:spLocks noGrp="1"/>
          </p:cNvSpPr>
          <p:nvPr/>
        </p:nvSpPr>
        <p:spPr>
          <a:xfrm>
            <a:off x="390525" y="4876800"/>
            <a:ext cx="3876675" cy="514350"/>
          </a:xfrm>
          <a:prstGeom prst="rect">
            <a:avLst/>
          </a:prstGeom>
          <a:noFill/>
          <a:ln w="0">
            <a:noFill/>
          </a:ln>
        </p:spPr>
        <p:txBody>
          <a:bodyPr>
            <a:noAutofit/>
          </a:bodyPr>
          <a:lstStyle/>
          <a:p>
            <a:pPr>
              <a:buNone/>
              <a:defRPr sz="2850">
                <a:solidFill>
                  <a:srgbClr val="FFFFFF"/>
                </a:solidFill>
                <a:latin typeface="Arial"/>
                <a:ea typeface="Arial"/>
                <a:cs typeface="Arial"/>
              </a:defRPr>
            </a:pPr>
            <a:r>
              <a:rPr lang="en-US" sz="2850" dirty="0">
                <a:solidFill>
                  <a:srgbClr val="FFFFFF"/>
                </a:solidFill>
                <a:latin typeface="Arial"/>
                <a:ea typeface="Arial"/>
                <a:cs typeface="Arial"/>
              </a:rPr>
              <a:t>90</a:t>
            </a:r>
            <a:r>
              <a:rPr sz="2850" dirty="0">
                <a:solidFill>
                  <a:srgbClr val="FFFFFF"/>
                </a:solidFill>
                <a:latin typeface="Arial"/>
                <a:ea typeface="Arial"/>
                <a:cs typeface="Arial"/>
              </a:rPr>
              <a:t> hours saved</a:t>
            </a:r>
            <a:r>
              <a:rPr lang="en-US" sz="2850" dirty="0">
                <a:solidFill>
                  <a:srgbClr val="FFFFFF"/>
                </a:solidFill>
                <a:latin typeface="Arial"/>
                <a:ea typeface="Arial"/>
                <a:cs typeface="Arial"/>
              </a:rPr>
              <a:t>/Model</a:t>
            </a:r>
            <a:endParaRPr sz="2850" dirty="0">
              <a:solidFill>
                <a:srgbClr val="FFFFFF"/>
              </a:solidFill>
              <a:latin typeface="Arial"/>
              <a:ea typeface="Arial"/>
              <a:cs typeface="Arial"/>
            </a:endParaRPr>
          </a:p>
        </p:txBody>
      </p:sp>
      <p:sp>
        <p:nvSpPr>
          <p:cNvPr id="5" name="Rectangle 4">
            <a:extLst>
              <a:ext uri="{FF2B5EF4-FFF2-40B4-BE49-F238E27FC236}">
                <a16:creationId xmlns:a16="http://schemas.microsoft.com/office/drawing/2014/main" id="{2419CF30-8C85-47E9-8A23-F08FB17B60F3}"/>
              </a:ext>
            </a:extLst>
          </p:cNvPr>
          <p:cNvSpPr>
            <a:spLocks noGrp="1"/>
          </p:cNvSpPr>
          <p:nvPr/>
        </p:nvSpPr>
        <p:spPr>
          <a:xfrm>
            <a:off x="4561114" y="4903470"/>
            <a:ext cx="4952999" cy="514350"/>
          </a:xfrm>
          <a:prstGeom prst="rect">
            <a:avLst/>
          </a:prstGeom>
          <a:noFill/>
          <a:ln w="0">
            <a:noFill/>
          </a:ln>
        </p:spPr>
        <p:txBody>
          <a:bodyPr>
            <a:noAutofit/>
          </a:bodyPr>
          <a:lstStyle/>
          <a:p>
            <a:pPr>
              <a:buNone/>
              <a:defRPr sz="2850">
                <a:solidFill>
                  <a:srgbClr val="FFFFFF"/>
                </a:solidFill>
                <a:latin typeface="Arial"/>
                <a:ea typeface="Arial"/>
                <a:cs typeface="Arial"/>
              </a:defRPr>
            </a:pPr>
            <a:r>
              <a:rPr lang="en-US" sz="2850" dirty="0">
                <a:solidFill>
                  <a:srgbClr val="FFFFFF"/>
                </a:solidFill>
                <a:latin typeface="Arial"/>
                <a:ea typeface="Arial"/>
                <a:cs typeface="Arial"/>
              </a:rPr>
              <a:t>9</a:t>
            </a:r>
            <a:r>
              <a:rPr sz="2850" dirty="0">
                <a:solidFill>
                  <a:srgbClr val="FFFFFF"/>
                </a:solidFill>
                <a:latin typeface="Arial"/>
                <a:ea typeface="Arial"/>
                <a:cs typeface="Arial"/>
              </a:rPr>
              <a:t>0% less review time</a:t>
            </a:r>
            <a:r>
              <a:rPr lang="en-US" sz="2850" dirty="0">
                <a:solidFill>
                  <a:srgbClr val="FFFFFF"/>
                </a:solidFill>
                <a:latin typeface="Arial"/>
                <a:ea typeface="Arial"/>
                <a:cs typeface="Arial"/>
              </a:rPr>
              <a:t>/model</a:t>
            </a:r>
            <a:endParaRPr sz="2850" dirty="0">
              <a:solidFill>
                <a:srgbClr val="FFFFFF"/>
              </a:solidFill>
              <a:latin typeface="Arial"/>
              <a:ea typeface="Arial"/>
              <a:cs typeface="Arial"/>
            </a:endParaRPr>
          </a:p>
        </p:txBody>
      </p:sp>
      <p:sp>
        <p:nvSpPr>
          <p:cNvPr id="7" name="Rectangle 6">
            <a:extLst>
              <a:ext uri="{FF2B5EF4-FFF2-40B4-BE49-F238E27FC236}">
                <a16:creationId xmlns:a16="http://schemas.microsoft.com/office/drawing/2014/main" id="{002224F8-0FE6-421F-9C0F-E5A2ED140219}"/>
              </a:ext>
            </a:extLst>
          </p:cNvPr>
          <p:cNvSpPr>
            <a:spLocks noGrp="1"/>
          </p:cNvSpPr>
          <p:nvPr/>
        </p:nvSpPr>
        <p:spPr>
          <a:xfrm>
            <a:off x="390525" y="5467350"/>
            <a:ext cx="11239500" cy="476250"/>
          </a:xfrm>
          <a:prstGeom prst="rect">
            <a:avLst/>
          </a:prstGeom>
          <a:noFill/>
          <a:ln w="0">
            <a:noFill/>
          </a:ln>
        </p:spPr>
        <p:txBody>
          <a:bodyPr>
            <a:noAutofit/>
          </a:bodyPr>
          <a:lstStyle/>
          <a:p>
            <a:pPr>
              <a:buNone/>
              <a:defRPr sz="1875">
                <a:solidFill>
                  <a:srgbClr val="FFFFFF"/>
                </a:solidFill>
                <a:latin typeface="Arial"/>
                <a:ea typeface="Arial"/>
                <a:cs typeface="Arial"/>
              </a:defRPr>
            </a:pPr>
            <a:r>
              <a:rPr sz="1875">
                <a:solidFill>
                  <a:srgbClr val="FFFFFF"/>
                </a:solidFill>
                <a:latin typeface="Arial"/>
                <a:ea typeface="Arial"/>
                <a:cs typeface="Arial"/>
              </a:rPr>
              <a:t>Benefits: easier data verification, traceable reviews, and a clearer handoff to estimators.</a:t>
            </a:r>
          </a:p>
        </p:txBody>
      </p:sp>
      <p:sp>
        <p:nvSpPr>
          <p:cNvPr id="8" name="Rectangle 7">
            <a:extLst>
              <a:ext uri="{FF2B5EF4-FFF2-40B4-BE49-F238E27FC236}">
                <a16:creationId xmlns:a16="http://schemas.microsoft.com/office/drawing/2014/main" id="{6D6C1C35-6144-4502-BF45-D8DBC24043F6}"/>
              </a:ext>
            </a:extLst>
          </p:cNvPr>
          <p:cNvSpPr>
            <a:spLocks noGrp="1"/>
          </p:cNvSpPr>
          <p:nvPr/>
        </p:nvSpPr>
        <p:spPr>
          <a:xfrm>
            <a:off x="390525" y="6115050"/>
            <a:ext cx="10906125" cy="457200"/>
          </a:xfrm>
          <a:prstGeom prst="rect">
            <a:avLst/>
          </a:prstGeom>
          <a:noFill/>
          <a:ln w="0">
            <a:noFill/>
          </a:ln>
        </p:spPr>
        <p:txBody>
          <a:bodyPr>
            <a:noAutofit/>
          </a:bodyPr>
          <a:lstStyle/>
          <a:p>
            <a:pPr>
              <a:buNone/>
              <a:defRPr sz="1425">
                <a:solidFill>
                  <a:srgbClr val="FFFFFF"/>
                </a:solidFill>
                <a:latin typeface="Arial"/>
                <a:ea typeface="Arial"/>
                <a:cs typeface="Arial"/>
              </a:defRPr>
            </a:pPr>
            <a:r>
              <a:rPr sz="1425">
                <a:solidFill>
                  <a:srgbClr val="FFFFFF"/>
                </a:solidFill>
                <a:latin typeface="Arial"/>
                <a:ea typeface="Arial"/>
                <a:cs typeface="Arial"/>
              </a:rPr>
              <a:t>Illustrative scenario, not measured: 8h vs. 4h at US$50/h. Gross labor savings exclude app and AI costs.</a:t>
            </a:r>
          </a:p>
        </p:txBody>
      </p:sp>
      <p:sp>
        <p:nvSpPr>
          <p:cNvPr id="9" name="Rectangle 8">
            <a:extLst>
              <a:ext uri="{FF2B5EF4-FFF2-40B4-BE49-F238E27FC236}">
                <a16:creationId xmlns:a16="http://schemas.microsoft.com/office/drawing/2014/main" id="{C6A2FE3C-71CA-4BE4-9BD4-5C8AD9A470D6}"/>
              </a:ext>
            </a:extLst>
          </p:cNvPr>
          <p:cNvSpPr>
            <a:spLocks noGrp="1"/>
          </p:cNvSpPr>
          <p:nvPr/>
        </p:nvSpPr>
        <p:spPr>
          <a:xfrm>
            <a:off x="11277600" y="6286500"/>
            <a:ext cx="523875" cy="247650"/>
          </a:xfrm>
          <a:prstGeom prst="rect">
            <a:avLst/>
          </a:prstGeom>
          <a:noFill/>
          <a:ln w="0">
            <a:noFill/>
          </a:ln>
        </p:spPr>
        <p:txBody>
          <a:bodyPr>
            <a:noAutofit/>
          </a:bodyPr>
          <a:lstStyle/>
          <a:p>
            <a:pPr>
              <a:buNone/>
              <a:defRPr sz="1200">
                <a:solidFill>
                  <a:srgbClr val="FFFFFF"/>
                </a:solidFill>
                <a:latin typeface="Arial"/>
                <a:ea typeface="Arial"/>
                <a:cs typeface="Arial"/>
              </a:defRPr>
            </a:pPr>
            <a:r>
              <a:rPr sz="1200">
                <a:solidFill>
                  <a:srgbClr val="FFFFFF"/>
                </a:solidFill>
                <a:latin typeface="Arial"/>
                <a:ea typeface="Arial"/>
                <a:cs typeface="Arial"/>
              </a:rPr>
              <a:t>10</a:t>
            </a:r>
          </a:p>
        </p:txBody>
      </p:sp>
    </p:spTree>
    <p:extLst>
      <p:ext uri="{BB962C8B-B14F-4D97-AF65-F5344CB8AC3E}">
        <p14:creationId xmlns:p14="http://schemas.microsoft.com/office/powerpoint/2010/main" val="1370257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1BCBE750-7048-686D-1472-52C53362D6CD}"/>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fld id="{E2598689-54C9-18A7-3A19-ED76AA08988F}" type="slidenum">
              <a:t>8</a:t>
            </a:fld>
            <a:endParaRPr/>
          </a:p>
        </p:txBody>
      </p:sp>
      <p:sp>
        <p:nvSpPr>
          <p:cNvPr id="533" name="Google Shape;533;p58">
            <a:extLst>
              <a:ext uri="{FF2B5EF4-FFF2-40B4-BE49-F238E27FC236}">
                <a16:creationId xmlns:a16="http://schemas.microsoft.com/office/drawing/2014/main" id="{1B5D55CD-1C17-7CD8-F26A-2DD65B067687}"/>
              </a:ext>
            </a:extLst>
          </p:cNvPr>
          <p:cNvSpPr>
            <a:spLocks noGrp="1"/>
          </p:cNvSpPr>
          <p:nvPr>
            <p:ph type="title"/>
          </p:nvPr>
        </p:nvSpPr>
        <p:spPr>
          <a:xfrm>
            <a:off x="393700" y="344008"/>
            <a:ext cx="11404600" cy="1047491"/>
          </a:xfrm>
        </p:spPr>
        <p:txBody>
          <a:bodyPr spcFirstLastPara="1" vert="horz" wrap="square" lIns="0" tIns="0" rIns="0" bIns="0" anchor="t">
            <a:noAutofit/>
          </a:bodyPr>
          <a:lstStyle/>
          <a:p>
            <a:pPr>
              <a:buNone/>
              <a:defRPr sz="3450">
                <a:solidFill>
                  <a:srgbClr val="FFFFFF"/>
                </a:solidFill>
                <a:latin typeface="Arial"/>
                <a:ea typeface="Arial"/>
                <a:cs typeface="Arial"/>
              </a:defRPr>
            </a:pPr>
            <a:r>
              <a:rPr sz="3450" dirty="0">
                <a:solidFill>
                  <a:srgbClr val="FFFFFF"/>
                </a:solidFill>
                <a:latin typeface="Arial"/>
                <a:ea typeface="Arial"/>
                <a:cs typeface="Arial"/>
              </a:rPr>
              <a:t>The problem: model data is hard to verify</a:t>
            </a:r>
          </a:p>
        </p:txBody>
      </p:sp>
      <p:sp>
        <p:nvSpPr>
          <p:cNvPr id="7" name="Google Shape;534;p58">
            <a:extLst>
              <a:ext uri="{FF2B5EF4-FFF2-40B4-BE49-F238E27FC236}">
                <a16:creationId xmlns:a16="http://schemas.microsoft.com/office/drawing/2014/main" id="{3A923FEE-B8D2-CD3A-ABBD-21770B40AA24}"/>
              </a:ext>
            </a:extLst>
          </p:cNvPr>
          <p:cNvSpPr>
            <a:spLocks noGrp="1"/>
          </p:cNvSpPr>
          <p:nvPr/>
        </p:nvSpPr>
        <p:spPr>
          <a:xfrm>
            <a:off x="393700" y="2031999"/>
            <a:ext cx="5537200" cy="3534787"/>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Font typeface="Arial"/>
              <a:buNone/>
              <a:defRPr sz="2325">
                <a:solidFill>
                  <a:srgbClr val="FFFFFF"/>
                </a:solidFill>
                <a:latin typeface="Arial"/>
                <a:ea typeface="Arial"/>
                <a:cs typeface="Arial"/>
              </a:defRPr>
            </a:pPr>
            <a:r>
              <a:rPr sz="2325" dirty="0">
                <a:solidFill>
                  <a:srgbClr val="FFFFFF"/>
                </a:solidFill>
                <a:latin typeface="Arial"/>
                <a:ea typeface="Arial"/>
                <a:cs typeface="Arial"/>
              </a:rPr>
              <a:t>A building can look right</a:t>
            </a:r>
          </a:p>
          <a:p>
            <a:pPr marL="0" indent="0">
              <a:lnSpc>
                <a:spcPct val="114000"/>
              </a:lnSpc>
              <a:spcBef>
                <a:spcPts val="0"/>
              </a:spcBef>
              <a:spcAft>
                <a:spcPts val="800"/>
              </a:spcAft>
              <a:buFont typeface="Arial"/>
              <a:buNone/>
              <a:defRPr sz="2325">
                <a:solidFill>
                  <a:srgbClr val="FFFFFF"/>
                </a:solidFill>
                <a:latin typeface="Arial"/>
                <a:ea typeface="Arial"/>
                <a:cs typeface="Arial"/>
              </a:defRPr>
            </a:pPr>
            <a:r>
              <a:rPr sz="2325" dirty="0">
                <a:solidFill>
                  <a:srgbClr val="FFFFFF"/>
                </a:solidFill>
                <a:latin typeface="Arial"/>
                <a:ea typeface="Arial"/>
                <a:cs typeface="Arial"/>
              </a:rPr>
              <a:t>while its data is wrong</a:t>
            </a:r>
            <a:endParaRPr sz="2175" dirty="0">
              <a:solidFill>
                <a:srgbClr val="FFFFFF"/>
              </a:solidFill>
              <a:latin typeface="Arial"/>
              <a:ea typeface="Arial"/>
              <a:cs typeface="Arial"/>
            </a:endParaRPr>
          </a:p>
          <a:p>
            <a:pPr marL="0" indent="0">
              <a:lnSpc>
                <a:spcPct val="114000"/>
              </a:lnSpc>
              <a:spcBef>
                <a:spcPts val="0"/>
              </a:spcBef>
              <a:spcAft>
                <a:spcPts val="800"/>
              </a:spcAft>
              <a:buFont typeface="Arial"/>
              <a:buNone/>
              <a:defRPr sz="2175">
                <a:solidFill>
                  <a:srgbClr val="FFFFFF"/>
                </a:solidFill>
                <a:latin typeface="Arial"/>
                <a:ea typeface="Arial"/>
                <a:cs typeface="Arial"/>
              </a:defRPr>
            </a:pPr>
            <a:endParaRPr sz="2175" dirty="0">
              <a:solidFill>
                <a:srgbClr val="FFFFFF"/>
              </a:solidFill>
              <a:latin typeface="Arial"/>
              <a:ea typeface="Arial"/>
              <a:cs typeface="Arial"/>
            </a:endParaRPr>
          </a:p>
          <a:p>
            <a:pPr marL="0" indent="0">
              <a:lnSpc>
                <a:spcPct val="114000"/>
              </a:lnSpc>
              <a:spcBef>
                <a:spcPts val="0"/>
              </a:spcBef>
              <a:spcAft>
                <a:spcPts val="800"/>
              </a:spcAft>
              <a:buFont typeface="Arial"/>
              <a:buNone/>
              <a:defRPr sz="2325">
                <a:solidFill>
                  <a:srgbClr val="FFFFFF"/>
                </a:solidFill>
                <a:latin typeface="Arial"/>
                <a:ea typeface="Arial"/>
                <a:cs typeface="Arial"/>
              </a:defRPr>
            </a:pPr>
            <a:r>
              <a:rPr sz="2325" dirty="0">
                <a:solidFill>
                  <a:srgbClr val="FFFFFF"/>
                </a:solidFill>
                <a:latin typeface="Arial"/>
                <a:ea typeface="Arial"/>
                <a:cs typeface="Arial"/>
              </a:rPr>
              <a:t>Missing or incorrect classifications make it harder to understand what each element represents.</a:t>
            </a:r>
            <a:endParaRPr sz="2175" dirty="0">
              <a:solidFill>
                <a:srgbClr val="FFFFFF"/>
              </a:solidFill>
              <a:latin typeface="Arial"/>
              <a:ea typeface="Arial"/>
              <a:cs typeface="Arial"/>
            </a:endParaRPr>
          </a:p>
        </p:txBody>
      </p:sp>
      <p:sp>
        <p:nvSpPr>
          <p:cNvPr id="8" name="Content Placeholder 3">
            <a:extLst>
              <a:ext uri="{FF2B5EF4-FFF2-40B4-BE49-F238E27FC236}">
                <a16:creationId xmlns:a16="http://schemas.microsoft.com/office/drawing/2014/main" id="{2EE8F343-A95F-2AAA-FE9E-A6C31E298DF7}"/>
              </a:ext>
            </a:extLst>
          </p:cNvPr>
          <p:cNvSpPr>
            <a:spLocks noGrp="1"/>
          </p:cNvSpPr>
          <p:nvPr/>
        </p:nvSpPr>
        <p:spPr>
          <a:xfrm>
            <a:off x="6256618" y="2031999"/>
            <a:ext cx="5537200" cy="3534787"/>
          </a:xfrm>
          <a:prstGeom prst="rect">
            <a:avLst/>
          </a:prstGeom>
        </p:spPr>
        <p:txBody>
          <a:bodyPr lIns="0" tIns="0" rIns="0" bIns="0">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Font typeface="Arial"/>
              <a:buNone/>
              <a:defRPr sz="2325">
                <a:solidFill>
                  <a:srgbClr val="FFFFFF"/>
                </a:solidFill>
                <a:latin typeface="Arial"/>
                <a:ea typeface="Arial"/>
                <a:cs typeface="Arial"/>
              </a:defRPr>
            </a:pPr>
            <a:r>
              <a:rPr sz="2325" dirty="0">
                <a:solidFill>
                  <a:srgbClr val="FFFFFF"/>
                </a:solidFill>
                <a:latin typeface="Arial"/>
                <a:ea typeface="Arial"/>
                <a:cs typeface="Arial"/>
              </a:rPr>
              <a:t>Review happens across</a:t>
            </a:r>
          </a:p>
          <a:p>
            <a:pPr marL="0" indent="0">
              <a:lnSpc>
                <a:spcPct val="114000"/>
              </a:lnSpc>
              <a:spcBef>
                <a:spcPts val="0"/>
              </a:spcBef>
              <a:spcAft>
                <a:spcPts val="800"/>
              </a:spcAft>
              <a:buNone/>
              <a:defRPr sz="2325">
                <a:solidFill>
                  <a:srgbClr val="FFFFFF"/>
                </a:solidFill>
                <a:latin typeface="Arial"/>
                <a:ea typeface="Arial"/>
                <a:cs typeface="Arial"/>
              </a:defRPr>
            </a:pPr>
            <a:r>
              <a:rPr sz="2325" dirty="0">
                <a:solidFill>
                  <a:srgbClr val="FFFFFF"/>
                </a:solidFill>
                <a:latin typeface="Arial"/>
                <a:ea typeface="Arial"/>
                <a:cs typeface="Arial"/>
              </a:rPr>
              <a:t>separate tools</a:t>
            </a:r>
            <a:endParaRPr sz="2175" dirty="0">
              <a:solidFill>
                <a:srgbClr val="FFFFFF"/>
              </a:solidFill>
              <a:latin typeface="Arial"/>
              <a:ea typeface="Arial"/>
              <a:cs typeface="Arial"/>
            </a:endParaRPr>
          </a:p>
          <a:p>
            <a:pPr marL="0" indent="0">
              <a:lnSpc>
                <a:spcPct val="114000"/>
              </a:lnSpc>
              <a:spcBef>
                <a:spcPts val="0"/>
              </a:spcBef>
              <a:spcAft>
                <a:spcPts val="800"/>
              </a:spcAft>
              <a:buNone/>
              <a:defRPr sz="2175">
                <a:solidFill>
                  <a:srgbClr val="FFFFFF"/>
                </a:solidFill>
                <a:latin typeface="Arial"/>
                <a:ea typeface="Arial"/>
                <a:cs typeface="Arial"/>
              </a:defRPr>
            </a:pPr>
            <a:endParaRPr sz="2175" dirty="0">
              <a:solidFill>
                <a:srgbClr val="FFFFFF"/>
              </a:solidFill>
              <a:latin typeface="Arial"/>
              <a:ea typeface="Arial"/>
              <a:cs typeface="Arial"/>
            </a:endParaRPr>
          </a:p>
          <a:p>
            <a:pPr marL="0" indent="0">
              <a:lnSpc>
                <a:spcPct val="114000"/>
              </a:lnSpc>
              <a:spcBef>
                <a:spcPts val="0"/>
              </a:spcBef>
              <a:spcAft>
                <a:spcPts val="800"/>
              </a:spcAft>
              <a:buNone/>
              <a:defRPr sz="2325">
                <a:solidFill>
                  <a:srgbClr val="FFFFFF"/>
                </a:solidFill>
                <a:latin typeface="Arial"/>
                <a:ea typeface="Arial"/>
                <a:cs typeface="Arial"/>
              </a:defRPr>
            </a:pPr>
            <a:r>
              <a:rPr sz="2325" dirty="0">
                <a:solidFill>
                  <a:srgbClr val="FFFFFF"/>
                </a:solidFill>
                <a:latin typeface="Arial"/>
                <a:ea typeface="Arial"/>
                <a:cs typeface="Arial"/>
              </a:rPr>
              <a:t>Modelers compare geometry, properties, and standards by hand. Estimators need the same information for a reliable handoff.</a:t>
            </a:r>
            <a:endParaRPr sz="2175" dirty="0">
              <a:solidFill>
                <a:srgbClr val="FFFFFF"/>
              </a:solidFill>
              <a:latin typeface="Arial"/>
              <a:ea typeface="Arial"/>
              <a:cs typeface="Arial"/>
            </a:endParaRPr>
          </a:p>
        </p:txBody>
      </p:sp>
    </p:spTree>
    <p:extLst>
      <p:ext uri="{BB962C8B-B14F-4D97-AF65-F5344CB8AC3E}">
        <p14:creationId xmlns:p14="http://schemas.microsoft.com/office/powerpoint/2010/main" val="3667182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00000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CE4DD3B-1E9C-4BD8-B59A-9C7190C120F6}"/>
              </a:ext>
            </a:extLst>
          </p:cNvPr>
          <p:cNvSpPr>
            <a:spLocks noGrp="1"/>
          </p:cNvSpPr>
          <p:nvPr/>
        </p:nvSpPr>
        <p:spPr>
          <a:xfrm>
            <a:off x="390525" y="285750"/>
            <a:ext cx="11410950" cy="762000"/>
          </a:xfrm>
          <a:prstGeom prst="rect">
            <a:avLst/>
          </a:prstGeom>
          <a:noFill/>
          <a:ln w="0">
            <a:noFill/>
          </a:ln>
        </p:spPr>
        <p:txBody>
          <a:bodyPr>
            <a:noAutofit/>
          </a:bodyPr>
          <a:lstStyle/>
          <a:p>
            <a:pPr>
              <a:defRPr sz="3450">
                <a:solidFill>
                  <a:srgbClr val="FFFFFF"/>
                </a:solidFill>
                <a:latin typeface="Arial"/>
                <a:ea typeface="Arial"/>
                <a:cs typeface="Arial"/>
              </a:defRPr>
            </a:pPr>
            <a:r>
              <a:rPr lang="en-US" sz="3450" dirty="0">
                <a:solidFill>
                  <a:srgbClr val="FFFFFF"/>
                </a:solidFill>
                <a:latin typeface="Arial"/>
                <a:ea typeface="Arial"/>
                <a:cs typeface="Arial"/>
              </a:rPr>
              <a:t>The problem: model data is hard to verify</a:t>
            </a:r>
            <a:endParaRPr sz="3450" dirty="0">
              <a:solidFill>
                <a:srgbClr val="FFFFFF"/>
              </a:solidFill>
              <a:latin typeface="Arial"/>
              <a:ea typeface="Arial"/>
              <a:cs typeface="Arial"/>
            </a:endParaRPr>
          </a:p>
        </p:txBody>
      </p:sp>
      <p:sp>
        <p:nvSpPr>
          <p:cNvPr id="3" name="Rectangle 2">
            <a:extLst>
              <a:ext uri="{FF2B5EF4-FFF2-40B4-BE49-F238E27FC236}">
                <a16:creationId xmlns:a16="http://schemas.microsoft.com/office/drawing/2014/main" id="{E46917E0-C2E9-484B-A64B-8E10BAC473F6}"/>
              </a:ext>
            </a:extLst>
          </p:cNvPr>
          <p:cNvSpPr>
            <a:spLocks noGrp="1"/>
          </p:cNvSpPr>
          <p:nvPr/>
        </p:nvSpPr>
        <p:spPr>
          <a:xfrm>
            <a:off x="390525" y="6362700"/>
            <a:ext cx="11144250" cy="285750"/>
          </a:xfrm>
          <a:prstGeom prst="rect">
            <a:avLst/>
          </a:prstGeom>
          <a:noFill/>
          <a:ln w="0">
            <a:noFill/>
          </a:ln>
        </p:spPr>
        <p:txBody>
          <a:bodyPr>
            <a:noAutofit/>
          </a:bodyPr>
          <a:lstStyle/>
          <a:p>
            <a:pPr>
              <a:defRPr sz="1350">
                <a:solidFill>
                  <a:srgbClr val="FFFFFF"/>
                </a:solidFill>
                <a:latin typeface="Arial"/>
                <a:ea typeface="Arial"/>
                <a:cs typeface="Arial"/>
              </a:defRPr>
            </a:pPr>
            <a:r>
              <a:rPr sz="1350">
                <a:solidFill>
                  <a:srgbClr val="FFFFFF"/>
                </a:solidFill>
                <a:latin typeface="Arial"/>
                <a:ea typeface="Arial"/>
                <a:cs typeface="Arial"/>
              </a:rPr>
              <a:t>Illustrative workflow in development. Classification compliance supports model-data review.</a:t>
            </a:r>
          </a:p>
        </p:txBody>
      </p:sp>
      <p:sp>
        <p:nvSpPr>
          <p:cNvPr id="4" name="Rectangle 3">
            <a:extLst>
              <a:ext uri="{FF2B5EF4-FFF2-40B4-BE49-F238E27FC236}">
                <a16:creationId xmlns:a16="http://schemas.microsoft.com/office/drawing/2014/main" id="{C2712BE3-1FF9-4A36-AE3D-CB01C7782D90}"/>
              </a:ext>
            </a:extLst>
          </p:cNvPr>
          <p:cNvSpPr>
            <a:spLocks noGrp="1"/>
          </p:cNvSpPr>
          <p:nvPr/>
        </p:nvSpPr>
        <p:spPr>
          <a:xfrm>
            <a:off x="11430000" y="6477000"/>
            <a:ext cx="428625" cy="238125"/>
          </a:xfrm>
          <a:prstGeom prst="rect">
            <a:avLst/>
          </a:prstGeom>
          <a:noFill/>
          <a:ln w="0">
            <a:noFill/>
          </a:ln>
        </p:spPr>
        <p:txBody>
          <a:bodyPr>
            <a:noAutofit/>
          </a:bodyPr>
          <a:lstStyle/>
          <a:p>
            <a:pPr>
              <a:defRPr sz="1200">
                <a:solidFill>
                  <a:srgbClr val="FFFFFF"/>
                </a:solidFill>
                <a:latin typeface="Arial"/>
                <a:ea typeface="Arial"/>
                <a:cs typeface="Arial"/>
              </a:defRPr>
            </a:pPr>
            <a:r>
              <a:rPr sz="1200">
                <a:solidFill>
                  <a:srgbClr val="FFFFFF"/>
                </a:solidFill>
                <a:latin typeface="Arial"/>
                <a:ea typeface="Arial"/>
                <a:cs typeface="Arial"/>
              </a:rPr>
              <a:t>6</a:t>
            </a:r>
          </a:p>
        </p:txBody>
      </p:sp>
      <p:pic>
        <p:nvPicPr>
          <p:cNvPr id="2" name="Picture 1">
            <a:extLst>
              <a:ext uri="{FF2B5EF4-FFF2-40B4-BE49-F238E27FC236}">
                <a16:creationId xmlns:a16="http://schemas.microsoft.com/office/drawing/2014/main" id="{7B3B9684-07E2-1DF4-D06C-1C3E6D6B6E35}"/>
              </a:ext>
            </a:extLst>
          </p:cNvPr>
          <p:cNvPicPr>
            <a:picLocks noChangeAspect="1"/>
          </p:cNvPicPr>
          <p:nvPr/>
        </p:nvPicPr>
        <p:blipFill>
          <a:blip r:embed="rId3"/>
          <a:stretch>
            <a:fillRect/>
          </a:stretch>
        </p:blipFill>
        <p:spPr>
          <a:xfrm>
            <a:off x="249011" y="1010991"/>
            <a:ext cx="10789104" cy="5388469"/>
          </a:xfrm>
          <a:prstGeom prst="rect">
            <a:avLst/>
          </a:prstGeom>
        </p:spPr>
      </p:pic>
    </p:spTree>
    <p:extLst>
      <p:ext uri="{BB962C8B-B14F-4D97-AF65-F5344CB8AC3E}">
        <p14:creationId xmlns:p14="http://schemas.microsoft.com/office/powerpoint/2010/main" val="101592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E20367F-43F2-7564-3994-7F969BF46CE8}"/>
              </a:ext>
            </a:extLst>
          </p:cNvPr>
          <p:cNvSpPr>
            <a:spLocks noGrp="1"/>
          </p:cNvSpPr>
          <p:nvPr>
            <p:ph type="ftr" idx="3"/>
          </p:nvPr>
        </p:nvSpPr>
        <p:spPr/>
        <p:txBody>
          <a:bodyPr/>
          <a:lstStyle/>
          <a:p>
            <a:endParaRPr/>
          </a:p>
        </p:txBody>
      </p:sp>
      <p:sp>
        <p:nvSpPr>
          <p:cNvPr id="532" name="Google Shape;532;p58">
            <a:extLst>
              <a:ext uri="{FF2B5EF4-FFF2-40B4-BE49-F238E27FC236}">
                <a16:creationId xmlns:a16="http://schemas.microsoft.com/office/drawing/2014/main" id="{D4C92004-F6FC-8FE6-BAD5-82F7D96E79D7}"/>
              </a:ext>
            </a:extLst>
          </p:cNvPr>
          <p:cNvSpPr>
            <a:spLocks noGrp="1"/>
          </p:cNvSpPr>
          <p:nvPr>
            <p:ph type="sldNum" idx="4"/>
          </p:nvPr>
        </p:nvSpPr>
        <p:spPr>
          <a:xfrm>
            <a:off x="11277600" y="6276975"/>
            <a:ext cx="523875" cy="247650"/>
          </a:xfrm>
        </p:spPr>
        <p:txBody>
          <a:bodyPr spcFirstLastPara="1" vert="horz" wrap="square" lIns="0" tIns="0" rIns="0" bIns="0" anchor="b">
            <a:noAutofit/>
          </a:bodyPr>
          <a:lstStyle/>
          <a:p>
            <a:pPr>
              <a:buNone/>
              <a:defRPr sz="1200">
                <a:solidFill>
                  <a:srgbClr val="FFFFFF"/>
                </a:solidFill>
                <a:latin typeface="Arial"/>
                <a:ea typeface="Arial"/>
                <a:cs typeface="Arial"/>
              </a:defRPr>
            </a:pPr>
            <a:fld id="{EFD6AB9A-5F9E-5F59-51AB-3C8734130965}" type="slidenum">
              <a:rPr sz="1200">
                <a:solidFill>
                  <a:srgbClr val="FFFFFF"/>
                </a:solidFill>
                <a:latin typeface="Arial"/>
                <a:ea typeface="Arial"/>
                <a:cs typeface="Arial"/>
              </a:rPr>
              <a:t>10</a:t>
            </a:fld>
            <a:endParaRPr/>
          </a:p>
        </p:txBody>
      </p:sp>
      <p:sp>
        <p:nvSpPr>
          <p:cNvPr id="533" name="Google Shape;533;p58">
            <a:extLst>
              <a:ext uri="{FF2B5EF4-FFF2-40B4-BE49-F238E27FC236}">
                <a16:creationId xmlns:a16="http://schemas.microsoft.com/office/drawing/2014/main" id="{3A80AAE9-99DA-415B-48E5-DF2948540391}"/>
              </a:ext>
            </a:extLst>
          </p:cNvPr>
          <p:cNvSpPr>
            <a:spLocks noGrp="1"/>
          </p:cNvSpPr>
          <p:nvPr>
            <p:ph type="title"/>
          </p:nvPr>
        </p:nvSpPr>
        <p:spPr>
          <a:xfrm>
            <a:off x="390525" y="342900"/>
            <a:ext cx="5524500" cy="1047750"/>
          </a:xfrm>
        </p:spPr>
        <p:txBody>
          <a:bodyPr spcFirstLastPara="1" vert="horz" wrap="square" lIns="0" tIns="0" rIns="0" bIns="0" anchor="t">
            <a:noAutofit/>
          </a:bodyPr>
          <a:lstStyle/>
          <a:p>
            <a:pPr>
              <a:buNone/>
              <a:defRPr sz="3300">
                <a:solidFill>
                  <a:srgbClr val="FFFFFF"/>
                </a:solidFill>
                <a:latin typeface="Arial"/>
                <a:ea typeface="Arial"/>
                <a:cs typeface="Arial"/>
              </a:defRPr>
            </a:pPr>
            <a:r>
              <a:rPr sz="3300">
                <a:solidFill>
                  <a:srgbClr val="FFFFFF"/>
                </a:solidFill>
                <a:latin typeface="Arial"/>
                <a:ea typeface="Arial"/>
                <a:cs typeface="Arial"/>
              </a:rPr>
              <a:t>The current workspace</a:t>
            </a:r>
          </a:p>
        </p:txBody>
      </p:sp>
      <p:pic>
        <p:nvPicPr>
          <p:cNvPr id="538" name="Picture 3"/>
          <p:cNvPicPr>
            <a:picLocks noChangeAspect="1"/>
          </p:cNvPicPr>
          <p:nvPr/>
        </p:nvPicPr>
        <p:blipFill>
          <a:blip r:embed="rId3"/>
          <a:stretch/>
        </p:blipFill>
        <p:spPr>
          <a:xfrm>
            <a:off x="6269040" y="749216"/>
            <a:ext cx="5539740" cy="4896456"/>
          </a:xfrm>
          <a:prstGeom prst="roundRect">
            <a:avLst>
              <a:gd name="adj" fmla="val 1361"/>
            </a:avLst>
          </a:prstGeom>
        </p:spPr>
      </p:pic>
      <p:sp>
        <p:nvSpPr>
          <p:cNvPr id="8" name="Google Shape;534;p58">
            <a:extLst>
              <a:ext uri="{FF2B5EF4-FFF2-40B4-BE49-F238E27FC236}">
                <a16:creationId xmlns:a16="http://schemas.microsoft.com/office/drawing/2014/main" id="{33514EAC-B165-B2D5-733A-EDDA1BA94C46}"/>
              </a:ext>
            </a:extLst>
          </p:cNvPr>
          <p:cNvSpPr>
            <a:spLocks noGrp="1"/>
          </p:cNvSpPr>
          <p:nvPr/>
        </p:nvSpPr>
        <p:spPr>
          <a:xfrm>
            <a:off x="377825" y="1390650"/>
            <a:ext cx="5537200" cy="3962400"/>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Font typeface="Arial"/>
              <a:buNone/>
              <a:defRPr sz="2100">
                <a:solidFill>
                  <a:srgbClr val="FFFFFF"/>
                </a:solidFill>
                <a:latin typeface="Arial"/>
                <a:ea typeface="Arial"/>
                <a:cs typeface="Arial"/>
              </a:defRPr>
            </a:pPr>
            <a:r>
              <a:rPr sz="2100" dirty="0">
                <a:solidFill>
                  <a:srgbClr val="FFFFFF"/>
                </a:solidFill>
                <a:latin typeface="Arial"/>
                <a:ea typeface="Arial"/>
                <a:cs typeface="Arial"/>
              </a:rPr>
              <a:t>A connected view of the model</a:t>
            </a:r>
          </a:p>
          <a:p>
            <a:pPr marL="0" indent="0">
              <a:lnSpc>
                <a:spcPct val="114000"/>
              </a:lnSpc>
              <a:spcBef>
                <a:spcPts val="0"/>
              </a:spcBef>
              <a:spcAft>
                <a:spcPts val="800"/>
              </a:spcAft>
              <a:buFont typeface="Arial"/>
              <a:buNone/>
            </a:pPr>
            <a:endParaRPr sz="2100" dirty="0">
              <a:solidFill>
                <a:srgbClr val="FFFFFF"/>
              </a:solidFill>
              <a:latin typeface="Arial"/>
              <a:ea typeface="Arial"/>
              <a:cs typeface="Arial"/>
            </a:endParaRPr>
          </a:p>
          <a:p>
            <a:pPr marL="0" indent="0">
              <a:lnSpc>
                <a:spcPct val="114000"/>
              </a:lnSpc>
              <a:spcBef>
                <a:spcPts val="0"/>
              </a:spcBef>
              <a:spcAft>
                <a:spcPts val="800"/>
              </a:spcAft>
              <a:buFont typeface="Arial"/>
              <a:buNone/>
              <a:defRPr sz="2100">
                <a:solidFill>
                  <a:srgbClr val="FFFFFF"/>
                </a:solidFill>
                <a:latin typeface="Arial"/>
                <a:ea typeface="Arial"/>
                <a:cs typeface="Arial"/>
              </a:defRPr>
            </a:pPr>
            <a:r>
              <a:rPr sz="2100" dirty="0">
                <a:solidFill>
                  <a:srgbClr val="FFFFFF"/>
                </a:solidFill>
                <a:latin typeface="Arial"/>
                <a:ea typeface="Arial"/>
                <a:cs typeface="Arial"/>
              </a:rPr>
              <a:t>Select an element in the tree, 3D scene, or data sheet.</a:t>
            </a:r>
          </a:p>
          <a:p>
            <a:pPr marL="0" indent="0">
              <a:lnSpc>
                <a:spcPct val="114000"/>
              </a:lnSpc>
              <a:spcBef>
                <a:spcPts val="0"/>
              </a:spcBef>
              <a:spcAft>
                <a:spcPts val="800"/>
              </a:spcAft>
              <a:buFont typeface="Arial"/>
              <a:buNone/>
            </a:pPr>
            <a:endParaRPr sz="2100" dirty="0">
              <a:solidFill>
                <a:srgbClr val="FFFFFF"/>
              </a:solidFill>
              <a:latin typeface="Arial"/>
              <a:ea typeface="Arial"/>
              <a:cs typeface="Arial"/>
            </a:endParaRPr>
          </a:p>
          <a:p>
            <a:pPr marL="0" indent="0">
              <a:lnSpc>
                <a:spcPct val="114000"/>
              </a:lnSpc>
              <a:spcBef>
                <a:spcPts val="0"/>
              </a:spcBef>
              <a:spcAft>
                <a:spcPts val="800"/>
              </a:spcAft>
              <a:buFont typeface="Arial"/>
              <a:buNone/>
              <a:defRPr sz="2100">
                <a:solidFill>
                  <a:srgbClr val="FFFFFF"/>
                </a:solidFill>
                <a:latin typeface="Arial"/>
                <a:ea typeface="Arial"/>
                <a:cs typeface="Arial"/>
              </a:defRPr>
            </a:pPr>
            <a:r>
              <a:rPr sz="2100" dirty="0">
                <a:solidFill>
                  <a:srgbClr val="FFFFFF"/>
                </a:solidFill>
                <a:latin typeface="Arial"/>
                <a:ea typeface="Arial"/>
                <a:cs typeface="Arial"/>
              </a:rPr>
              <a:t>Inspect its properties, zoom in, or isolate it for review.</a:t>
            </a:r>
          </a:p>
          <a:p>
            <a:pPr marL="0" indent="0">
              <a:lnSpc>
                <a:spcPct val="114000"/>
              </a:lnSpc>
              <a:spcBef>
                <a:spcPts val="0"/>
              </a:spcBef>
              <a:spcAft>
                <a:spcPts val="800"/>
              </a:spcAft>
              <a:buFont typeface="Arial"/>
              <a:buNone/>
            </a:pPr>
            <a:endParaRPr sz="2100" dirty="0">
              <a:solidFill>
                <a:srgbClr val="FFFFFF"/>
              </a:solidFill>
              <a:latin typeface="Arial"/>
              <a:ea typeface="Arial"/>
              <a:cs typeface="Arial"/>
            </a:endParaRPr>
          </a:p>
          <a:p>
            <a:pPr marL="0" indent="0">
              <a:lnSpc>
                <a:spcPct val="114000"/>
              </a:lnSpc>
              <a:spcBef>
                <a:spcPts val="0"/>
              </a:spcBef>
              <a:spcAft>
                <a:spcPts val="800"/>
              </a:spcAft>
              <a:buFont typeface="Arial"/>
              <a:buNone/>
              <a:defRPr sz="2100">
                <a:solidFill>
                  <a:srgbClr val="FFFFFF"/>
                </a:solidFill>
                <a:latin typeface="Arial"/>
                <a:ea typeface="Arial"/>
                <a:cs typeface="Arial"/>
              </a:defRPr>
            </a:pPr>
            <a:r>
              <a:rPr sz="2100" dirty="0">
                <a:solidFill>
                  <a:srgbClr val="FFFFFF"/>
                </a:solidFill>
                <a:latin typeface="Arial"/>
                <a:ea typeface="Arial"/>
                <a:cs typeface="Arial"/>
              </a:rPr>
              <a:t>The bundled sample loads 483 elements.</a:t>
            </a:r>
          </a:p>
        </p:txBody>
      </p:sp>
    </p:spTree>
    <p:extLst>
      <p:ext uri="{BB962C8B-B14F-4D97-AF65-F5344CB8AC3E}">
        <p14:creationId xmlns:p14="http://schemas.microsoft.com/office/powerpoint/2010/main" val="3245670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E79D819C-33DB-D779-0CC9-74786C7AA643}"/>
              </a:ext>
            </a:extLst>
          </p:cNvPr>
          <p:cNvSpPr>
            <a:spLocks noGrp="1"/>
          </p:cNvSpPr>
          <p:nvPr>
            <p:ph type="ftr" idx="3"/>
          </p:nvPr>
        </p:nvSpPr>
        <p:spPr>
          <a:xfrm>
            <a:off x="390525" y="6048375"/>
            <a:ext cx="10287000" cy="381000"/>
          </a:xfrm>
        </p:spPr>
        <p:txBody>
          <a:bodyPr>
            <a:noAutofit/>
          </a:bodyPr>
          <a:lstStyle/>
          <a:p>
            <a:pPr>
              <a:buNone/>
              <a:defRPr sz="1425">
                <a:solidFill>
                  <a:srgbClr val="FFFFFF"/>
                </a:solidFill>
                <a:latin typeface="Arial"/>
                <a:ea typeface="Arial"/>
                <a:cs typeface="Arial"/>
              </a:defRPr>
            </a:pPr>
            <a:r>
              <a:rPr sz="1425">
                <a:solidFill>
                  <a:srgbClr val="FFFFFF"/>
                </a:solidFill>
                <a:latin typeface="Arial"/>
                <a:ea typeface="Arial"/>
                <a:cs typeface="Arial"/>
              </a:rPr>
              <a:t>Target workflow. AI mapping and write-back are not implemented in this repo.</a:t>
            </a:r>
            <a:endParaRPr/>
          </a:p>
        </p:txBody>
      </p:sp>
      <p:sp>
        <p:nvSpPr>
          <p:cNvPr id="2" name="Slide Number Placeholder 1">
            <a:extLst>
              <a:ext uri="{FF2B5EF4-FFF2-40B4-BE49-F238E27FC236}">
                <a16:creationId xmlns:a16="http://schemas.microsoft.com/office/drawing/2014/main" id="{6B79DB2A-CC47-00B8-FE1C-26473E47EA9C}"/>
              </a:ext>
            </a:extLst>
          </p:cNvPr>
          <p:cNvSpPr>
            <a:spLocks noGrp="1"/>
          </p:cNvSpPr>
          <p:nvPr>
            <p:ph type="sldNum" idx="4"/>
          </p:nvPr>
        </p:nvSpPr>
        <p:spPr>
          <a:xfrm>
            <a:off x="11279188" y="6278563"/>
            <a:ext cx="519112" cy="241300"/>
          </a:xfrm>
        </p:spPr>
        <p:txBody>
          <a:bodyPr>
            <a:noAutofit/>
          </a:bodyPr>
          <a:lstStyle/>
          <a:p>
            <a:pPr>
              <a:buNone/>
              <a:defRPr sz="1200">
                <a:solidFill>
                  <a:srgbClr val="FFFFFF"/>
                </a:solidFill>
                <a:latin typeface="Arial"/>
                <a:ea typeface="Arial"/>
                <a:cs typeface="Arial"/>
              </a:defRPr>
            </a:pPr>
            <a:fld id="{EE5B3003-2C54-13C6-9832-7637201064DE}" type="slidenum">
              <a:rPr sz="1200">
                <a:solidFill>
                  <a:srgbClr val="FFFFFF"/>
                </a:solidFill>
                <a:latin typeface="Arial"/>
                <a:ea typeface="Arial"/>
                <a:cs typeface="Arial"/>
              </a:rPr>
              <a:t>11</a:t>
            </a:fld>
            <a:endParaRPr/>
          </a:p>
        </p:txBody>
      </p:sp>
      <p:sp>
        <p:nvSpPr>
          <p:cNvPr id="3" name="Title 2">
            <a:extLst>
              <a:ext uri="{FF2B5EF4-FFF2-40B4-BE49-F238E27FC236}">
                <a16:creationId xmlns:a16="http://schemas.microsoft.com/office/drawing/2014/main" id="{89BFFB18-4CB5-6BE2-9B1E-49B4101293F1}"/>
              </a:ext>
            </a:extLst>
          </p:cNvPr>
          <p:cNvSpPr>
            <a:spLocks noGrp="1"/>
          </p:cNvSpPr>
          <p:nvPr>
            <p:ph type="title"/>
          </p:nvPr>
        </p:nvSpPr>
        <p:spPr>
          <a:xfrm>
            <a:off x="393700" y="344008"/>
            <a:ext cx="11404600" cy="1047491"/>
          </a:xfrm>
        </p:spPr>
        <p:txBody>
          <a:bodyPr>
            <a:noAutofit/>
          </a:bodyPr>
          <a:lstStyle/>
          <a:p>
            <a:pPr>
              <a:buNone/>
              <a:defRPr sz="3450">
                <a:solidFill>
                  <a:srgbClr val="FFFFFF"/>
                </a:solidFill>
                <a:latin typeface="Arial"/>
                <a:ea typeface="Arial"/>
                <a:cs typeface="Arial"/>
              </a:defRPr>
            </a:pPr>
            <a:r>
              <a:rPr sz="3450">
                <a:solidFill>
                  <a:srgbClr val="FFFFFF"/>
                </a:solidFill>
                <a:latin typeface="Arial"/>
                <a:ea typeface="Arial"/>
                <a:cs typeface="Arial"/>
              </a:rPr>
              <a:t>The solution: check each object in context</a:t>
            </a:r>
            <a:endParaRPr/>
          </a:p>
        </p:txBody>
      </p:sp>
      <p:sp>
        <p:nvSpPr>
          <p:cNvPr id="10" name="Content Placeholder 9">
            <a:extLst>
              <a:ext uri="{FF2B5EF4-FFF2-40B4-BE49-F238E27FC236}">
                <a16:creationId xmlns:a16="http://schemas.microsoft.com/office/drawing/2014/main" id="{40C911A7-2999-5B10-850F-7785C571AE51}"/>
              </a:ext>
            </a:extLst>
          </p:cNvPr>
          <p:cNvSpPr>
            <a:spLocks noGrp="1"/>
          </p:cNvSpPr>
          <p:nvPr>
            <p:ph idx="4294967295"/>
          </p:nvPr>
        </p:nvSpPr>
        <p:spPr>
          <a:xfrm>
            <a:off x="393700" y="2032000"/>
            <a:ext cx="5537200" cy="1643063"/>
          </a:xfrm>
        </p:spPr>
        <p:txBody>
          <a:bodyPr>
            <a:noAutofit/>
          </a:bodyPr>
          <a:lstStyle/>
          <a:p>
            <a:pPr marL="0" marR="0" lvl="0" indent="0" algn="l" defTabSz="914400">
              <a:lnSpc>
                <a:spcPct val="110000"/>
              </a:lnSpc>
              <a:spcBef>
                <a:spcPts val="0"/>
              </a:spcBef>
              <a:spcAft>
                <a:spcPts val="0"/>
              </a:spcAft>
              <a:buClrTx/>
              <a:buSzTx/>
              <a:buFontTx/>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1. Identify the building part</a:t>
            </a:r>
          </a:p>
          <a:p>
            <a:pPr marL="0" marR="0" lvl="0" indent="0" algn="l" defTabSz="914400">
              <a:lnSpc>
                <a:spcPct val="100000"/>
              </a:lnSpc>
              <a:spcBef>
                <a:spcPts val="1300"/>
              </a:spcBef>
              <a:spcAft>
                <a:spcPts val="1300"/>
              </a:spcAft>
              <a:buClrTx/>
              <a:buSzTx/>
              <a:buFontTx/>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Select a wall, window, or door and inspect its model properties.</a:t>
            </a:r>
          </a:p>
        </p:txBody>
      </p:sp>
      <p:sp>
        <p:nvSpPr>
          <p:cNvPr id="11" name="Content Placeholder 10">
            <a:extLst>
              <a:ext uri="{FF2B5EF4-FFF2-40B4-BE49-F238E27FC236}">
                <a16:creationId xmlns:a16="http://schemas.microsoft.com/office/drawing/2014/main" id="{9591DE77-626F-6364-307D-6A3CECC3E0AC}"/>
              </a:ext>
            </a:extLst>
          </p:cNvPr>
          <p:cNvSpPr>
            <a:spLocks noGrp="1"/>
          </p:cNvSpPr>
          <p:nvPr>
            <p:ph idx="4294967295"/>
          </p:nvPr>
        </p:nvSpPr>
        <p:spPr>
          <a:xfrm>
            <a:off x="6256618" y="2032000"/>
            <a:ext cx="5537200" cy="1643063"/>
          </a:xfrm>
        </p:spPr>
        <p:txBody>
          <a:bodyPr>
            <a:noAutofit/>
          </a:bodyPr>
          <a:lstStyle/>
          <a:p>
            <a:pPr marL="0" marR="0" lvl="0" indent="0" algn="l" defTabSz="914400">
              <a:lnSpc>
                <a:spcPct val="110000"/>
              </a:lnSpc>
              <a:spcBef>
                <a:spcPts val="0"/>
              </a:spcBef>
              <a:spcAft>
                <a:spcPts val="0"/>
              </a:spcAft>
              <a:buClrTx/>
              <a:buSzTx/>
              <a:buFontTx/>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2. Compare its classification</a:t>
            </a:r>
          </a:p>
          <a:p>
            <a:pPr marL="0" marR="0" lvl="0" indent="0" algn="l" defTabSz="914400">
              <a:lnSpc>
                <a:spcPct val="100000"/>
              </a:lnSpc>
              <a:spcBef>
                <a:spcPts val="1300"/>
              </a:spcBef>
              <a:spcAft>
                <a:spcPts val="1300"/>
              </a:spcAft>
              <a:buClrTx/>
              <a:buSzTx/>
              <a:buFontTx/>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Use the selected UniFormat edition to find the appropriate code and description.</a:t>
            </a:r>
          </a:p>
        </p:txBody>
      </p:sp>
      <p:sp>
        <p:nvSpPr>
          <p:cNvPr id="4" name="Content Placeholder 9">
            <a:extLst>
              <a:ext uri="{FF2B5EF4-FFF2-40B4-BE49-F238E27FC236}">
                <a16:creationId xmlns:a16="http://schemas.microsoft.com/office/drawing/2014/main" id="{5FBFFE27-6CE4-D49E-8371-7F40817D25C4}"/>
              </a:ext>
            </a:extLst>
          </p:cNvPr>
          <p:cNvSpPr>
            <a:spLocks noGrp="1"/>
          </p:cNvSpPr>
          <p:nvPr/>
        </p:nvSpPr>
        <p:spPr>
          <a:xfrm>
            <a:off x="393700" y="4016975"/>
            <a:ext cx="5537200" cy="1643185"/>
          </a:xfrm>
          <a:prstGeom prst="rect">
            <a:avLst/>
          </a:prstGeom>
        </p:spPr>
        <p:txBody>
          <a:bodyPr vert="horz" lIns="0" tIns="0" rIns="0" bIns="0">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0000"/>
              </a:lnSpc>
              <a:spcBef>
                <a:spcPts val="0"/>
              </a:spcBef>
              <a:buFontTx/>
              <a:buNone/>
              <a:defRPr sz="2025">
                <a:solidFill>
                  <a:srgbClr val="FFFFFF"/>
                </a:solidFill>
                <a:latin typeface="Arial"/>
                <a:ea typeface="Arial"/>
                <a:cs typeface="Arial"/>
              </a:defRPr>
            </a:pPr>
            <a:r>
              <a:rPr sz="2025">
                <a:solidFill>
                  <a:srgbClr val="FFFFFF"/>
                </a:solidFill>
                <a:latin typeface="Arial"/>
                <a:ea typeface="Arial"/>
                <a:cs typeface="Arial"/>
              </a:rPr>
              <a:t>3. Explain the mismatch</a:t>
            </a:r>
          </a:p>
          <a:p>
            <a:pPr marL="0" indent="0">
              <a:lnSpc>
                <a:spcPct val="100000"/>
              </a:lnSpc>
              <a:spcBef>
                <a:spcPts val="1300"/>
              </a:spcBef>
              <a:spcAft>
                <a:spcPts val="1300"/>
              </a:spcAft>
              <a:buFontTx/>
              <a:buNone/>
              <a:defRPr sz="2025">
                <a:solidFill>
                  <a:srgbClr val="FFFFFF"/>
                </a:solidFill>
                <a:latin typeface="Arial"/>
                <a:ea typeface="Arial"/>
                <a:cs typeface="Arial"/>
              </a:defRPr>
            </a:pPr>
            <a:r>
              <a:rPr sz="2025">
                <a:solidFill>
                  <a:srgbClr val="FFFFFF"/>
                </a:solidFill>
                <a:latin typeface="Arial"/>
                <a:ea typeface="Arial"/>
                <a:cs typeface="Arial"/>
              </a:rPr>
              <a:t>Show the current label beside the suggested classification and its reference.</a:t>
            </a:r>
            <a:endParaRPr sz="1800">
              <a:latin typeface="Helvetica Neue"/>
              <a:ea typeface="Helvetica Neue"/>
              <a:cs typeface="Helvetica Neue"/>
            </a:endParaRPr>
          </a:p>
        </p:txBody>
      </p:sp>
      <p:sp>
        <p:nvSpPr>
          <p:cNvPr id="5" name="Content Placeholder 10">
            <a:extLst>
              <a:ext uri="{FF2B5EF4-FFF2-40B4-BE49-F238E27FC236}">
                <a16:creationId xmlns:a16="http://schemas.microsoft.com/office/drawing/2014/main" id="{D6F50C40-7DBA-55A3-751E-00E97654E163}"/>
              </a:ext>
            </a:extLst>
          </p:cNvPr>
          <p:cNvSpPr>
            <a:spLocks noGrp="1"/>
          </p:cNvSpPr>
          <p:nvPr/>
        </p:nvSpPr>
        <p:spPr>
          <a:xfrm>
            <a:off x="6256618" y="4016975"/>
            <a:ext cx="5537200" cy="1643185"/>
          </a:xfrm>
          <a:prstGeom prst="rect">
            <a:avLst/>
          </a:prstGeom>
        </p:spPr>
        <p:txBody>
          <a:bodyPr vert="horz" lIns="0" tIns="0" rIns="0" bIns="0">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0000"/>
              </a:lnSpc>
              <a:spcBef>
                <a:spcPts val="0"/>
              </a:spcBef>
              <a:buFontTx/>
              <a:buNone/>
              <a:defRPr sz="2025">
                <a:solidFill>
                  <a:srgbClr val="FFFFFF"/>
                </a:solidFill>
                <a:latin typeface="Arial"/>
                <a:ea typeface="Arial"/>
                <a:cs typeface="Arial"/>
              </a:defRPr>
            </a:pPr>
            <a:r>
              <a:rPr sz="2025">
                <a:solidFill>
                  <a:srgbClr val="FFFFFF"/>
                </a:solidFill>
                <a:latin typeface="Arial"/>
                <a:ea typeface="Arial"/>
                <a:cs typeface="Arial"/>
              </a:rPr>
              <a:t>4. Review the correction</a:t>
            </a:r>
          </a:p>
          <a:p>
            <a:pPr marL="0" indent="0">
              <a:lnSpc>
                <a:spcPct val="100000"/>
              </a:lnSpc>
              <a:spcBef>
                <a:spcPts val="1300"/>
              </a:spcBef>
              <a:spcAft>
                <a:spcPts val="1300"/>
              </a:spcAft>
              <a:buFontTx/>
              <a:buNone/>
              <a:defRPr sz="2025">
                <a:solidFill>
                  <a:srgbClr val="FFFFFF"/>
                </a:solidFill>
                <a:latin typeface="Arial"/>
                <a:ea typeface="Arial"/>
                <a:cs typeface="Arial"/>
              </a:defRPr>
            </a:pPr>
            <a:r>
              <a:rPr sz="2025">
                <a:solidFill>
                  <a:srgbClr val="FFFFFF"/>
                </a:solidFill>
                <a:latin typeface="Arial"/>
                <a:ea typeface="Arial"/>
                <a:cs typeface="Arial"/>
              </a:rPr>
              <a:t>The designer confirms the match before changing the model data.</a:t>
            </a:r>
            <a:endParaRPr sz="1800">
              <a:latin typeface="Helvetica Neue"/>
              <a:ea typeface="Helvetica Neue"/>
              <a:cs typeface="Helvetica Neue"/>
            </a:endParaRPr>
          </a:p>
        </p:txBody>
      </p:sp>
    </p:spTree>
    <p:extLst>
      <p:ext uri="{BB962C8B-B14F-4D97-AF65-F5344CB8AC3E}">
        <p14:creationId xmlns:p14="http://schemas.microsoft.com/office/powerpoint/2010/main" val="360145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DE525C3-6A65-3281-3715-AE2CF21E370C}"/>
              </a:ext>
            </a:extLst>
          </p:cNvPr>
          <p:cNvSpPr>
            <a:spLocks noGrp="1"/>
          </p:cNvSpPr>
          <p:nvPr>
            <p:ph type="ftr" idx="3"/>
          </p:nvPr>
        </p:nvSpPr>
        <p:spPr>
          <a:xfrm>
            <a:off x="390525" y="6191250"/>
            <a:ext cx="10477500" cy="381000"/>
          </a:xfrm>
        </p:spPr>
        <p:txBody>
          <a:bodyPr>
            <a:noAutofit/>
          </a:bodyPr>
          <a:lstStyle/>
          <a:p>
            <a:pPr>
              <a:buNone/>
              <a:defRPr sz="1425">
                <a:solidFill>
                  <a:srgbClr val="FFFFFF"/>
                </a:solidFill>
                <a:latin typeface="Arial"/>
                <a:ea typeface="Arial"/>
                <a:cs typeface="Arial"/>
              </a:defRPr>
            </a:pPr>
            <a:r>
              <a:rPr sz="1425">
                <a:solidFill>
                  <a:srgbClr val="FFFFFF"/>
                </a:solidFill>
                <a:latin typeface="Arial"/>
                <a:ea typeface="Arial"/>
                <a:cs typeface="Arial"/>
              </a:rPr>
              <a:t>Live model and Agents API integration are not verified in this repository.</a:t>
            </a:r>
            <a:endParaRPr/>
          </a:p>
        </p:txBody>
      </p:sp>
      <p:sp>
        <p:nvSpPr>
          <p:cNvPr id="532" name="Google Shape;532;p58">
            <a:extLst>
              <a:ext uri="{FF2B5EF4-FFF2-40B4-BE49-F238E27FC236}">
                <a16:creationId xmlns:a16="http://schemas.microsoft.com/office/drawing/2014/main" id="{855F9338-C523-361B-6D81-B9AAD76BBB65}"/>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pPr>
              <a:buNone/>
              <a:defRPr sz="1200">
                <a:solidFill>
                  <a:srgbClr val="FFFFFF"/>
                </a:solidFill>
                <a:latin typeface="Arial"/>
                <a:ea typeface="Arial"/>
                <a:cs typeface="Arial"/>
              </a:defRPr>
            </a:pPr>
            <a:fld id="{D3D7D1C8-AE23-AA48-DF65-C742588DBE47}" type="slidenum">
              <a:rPr sz="1200">
                <a:solidFill>
                  <a:srgbClr val="FFFFFF"/>
                </a:solidFill>
                <a:latin typeface="Arial"/>
                <a:ea typeface="Arial"/>
                <a:cs typeface="Arial"/>
              </a:rPr>
              <a:t>12</a:t>
            </a:fld>
            <a:endParaRPr/>
          </a:p>
        </p:txBody>
      </p:sp>
      <p:sp>
        <p:nvSpPr>
          <p:cNvPr id="533" name="Google Shape;533;p58">
            <a:extLst>
              <a:ext uri="{FF2B5EF4-FFF2-40B4-BE49-F238E27FC236}">
                <a16:creationId xmlns:a16="http://schemas.microsoft.com/office/drawing/2014/main" id="{509200BE-15E5-FE37-6AFE-A51B10E1A9BC}"/>
              </a:ext>
            </a:extLst>
          </p:cNvPr>
          <p:cNvSpPr>
            <a:spLocks noGrp="1"/>
          </p:cNvSpPr>
          <p:nvPr>
            <p:ph type="title"/>
          </p:nvPr>
        </p:nvSpPr>
        <p:spPr>
          <a:xfrm>
            <a:off x="393700" y="344008"/>
            <a:ext cx="11404600" cy="1047491"/>
          </a:xfrm>
        </p:spPr>
        <p:txBody>
          <a:bodyPr spcFirstLastPara="1" vert="horz" wrap="square" lIns="0" tIns="0" rIns="0" bIns="0" anchor="t">
            <a:noAutofit/>
          </a:bodyPr>
          <a:lstStyle/>
          <a:p>
            <a:pPr>
              <a:buNone/>
              <a:defRPr sz="3450">
                <a:solidFill>
                  <a:srgbClr val="FFFFFF"/>
                </a:solidFill>
                <a:latin typeface="Arial"/>
                <a:ea typeface="Arial"/>
                <a:cs typeface="Arial"/>
              </a:defRPr>
            </a:pPr>
            <a:r>
              <a:rPr sz="3450">
                <a:solidFill>
                  <a:srgbClr val="FFFFFF"/>
                </a:solidFill>
                <a:latin typeface="Arial"/>
                <a:ea typeface="Arial"/>
                <a:cs typeface="Arial"/>
              </a:rPr>
              <a:t>Astra capabilities planned for Forma</a:t>
            </a:r>
          </a:p>
        </p:txBody>
      </p:sp>
      <p:sp>
        <p:nvSpPr>
          <p:cNvPr id="534" name="Google Shape;534;p58">
            <a:extLst>
              <a:ext uri="{FF2B5EF4-FFF2-40B4-BE49-F238E27FC236}">
                <a16:creationId xmlns:a16="http://schemas.microsoft.com/office/drawing/2014/main" id="{94D83715-924E-FD86-6E33-16B595E7DE71}"/>
              </a:ext>
            </a:extLst>
          </p:cNvPr>
          <p:cNvSpPr>
            <a:spLocks noGrp="1"/>
          </p:cNvSpPr>
          <p:nvPr>
            <p:ph idx="4294967295"/>
          </p:nvPr>
        </p:nvSpPr>
        <p:spPr>
          <a:xfrm>
            <a:off x="393700" y="3365500"/>
            <a:ext cx="3568700" cy="2628900"/>
          </a:xfrm>
          <a:prstGeom prst="rect">
            <a:avLst/>
          </a:prstGeom>
        </p:spPr>
        <p:txBody>
          <a:bodyPr spcFirstLastPara="1" vert="horz" wrap="square" lIns="0" tIns="0" rIns="0" bIns="0" anchor="t">
            <a:noAutofit/>
          </a:bodyPr>
          <a:lstStyle/>
          <a:p>
            <a:pPr marL="0" indent="0">
              <a:lnSpc>
                <a:spcPct val="114000"/>
              </a:lnSpc>
              <a:spcBef>
                <a:spcPts val="0"/>
              </a:spcBef>
              <a:spcAft>
                <a:spcPts val="800"/>
              </a:spcAft>
              <a:buNone/>
              <a:defRPr sz="2025">
                <a:solidFill>
                  <a:srgbClr val="FFFFFF"/>
                </a:solidFill>
                <a:latin typeface="Arial"/>
                <a:ea typeface="Arial"/>
                <a:cs typeface="Arial"/>
              </a:defRPr>
            </a:pPr>
            <a:r>
              <a:rPr sz="2025">
                <a:solidFill>
                  <a:srgbClr val="FFFFFF"/>
                </a:solidFill>
                <a:latin typeface="Arial"/>
                <a:ea typeface="Arial"/>
                <a:cs typeface="Arial"/>
              </a:rPr>
              <a:t>GPT-Live-1</a:t>
            </a:r>
            <a:endParaRPr sz="1800">
              <a:latin typeface="Helvetica Neue"/>
              <a:ea typeface="Helvetica Neue"/>
              <a:cs typeface="Helvetica Neue"/>
            </a:endParaRPr>
          </a:p>
          <a:p>
            <a:pPr marL="0" indent="0">
              <a:lnSpc>
                <a:spcPct val="114000"/>
              </a:lnSpc>
              <a:spcBef>
                <a:spcPts val="0"/>
              </a:spcBef>
              <a:spcAft>
                <a:spcPts val="800"/>
              </a:spcAft>
              <a:buNone/>
            </a:pPr>
            <a:endParaRPr sz="1800">
              <a:latin typeface="Helvetica Neue"/>
              <a:ea typeface="Helvetica Neue"/>
              <a:cs typeface="Helvetica Neue"/>
            </a:endParaRPr>
          </a:p>
          <a:p>
            <a:pPr marL="0" indent="0">
              <a:lnSpc>
                <a:spcPct val="114000"/>
              </a:lnSpc>
              <a:spcBef>
                <a:spcPts val="0"/>
              </a:spcBef>
              <a:spcAft>
                <a:spcPts val="800"/>
              </a:spcAft>
              <a:buNone/>
              <a:defRPr sz="2025">
                <a:solidFill>
                  <a:srgbClr val="FFFFFF"/>
                </a:solidFill>
                <a:latin typeface="Arial"/>
                <a:ea typeface="Arial"/>
                <a:cs typeface="Arial"/>
              </a:defRPr>
            </a:pPr>
            <a:r>
              <a:rPr sz="2025">
                <a:solidFill>
                  <a:srgbClr val="FFFFFF"/>
                </a:solidFill>
                <a:latin typeface="Arial"/>
                <a:ea typeface="Arial"/>
                <a:cs typeface="Arial"/>
              </a:rPr>
              <a:t>Discuss the current model through natural conversation while keeping the selected object in context.</a:t>
            </a:r>
            <a:endParaRPr sz="1800">
              <a:latin typeface="Helvetica Neue"/>
              <a:ea typeface="Helvetica Neue"/>
              <a:cs typeface="Helvetica Neue"/>
            </a:endParaRPr>
          </a:p>
        </p:txBody>
      </p:sp>
      <p:sp>
        <p:nvSpPr>
          <p:cNvPr id="2" name="Content Placeholder 1">
            <a:extLst>
              <a:ext uri="{FF2B5EF4-FFF2-40B4-BE49-F238E27FC236}">
                <a16:creationId xmlns:a16="http://schemas.microsoft.com/office/drawing/2014/main" id="{49D4B6C8-289F-F081-BCAE-309463E70BA1}"/>
              </a:ext>
            </a:extLst>
          </p:cNvPr>
          <p:cNvSpPr>
            <a:spLocks noGrp="1"/>
          </p:cNvSpPr>
          <p:nvPr>
            <p:ph idx="4294967295"/>
          </p:nvPr>
        </p:nvSpPr>
        <p:spPr>
          <a:xfrm>
            <a:off x="8229600" y="3365500"/>
            <a:ext cx="3568700" cy="2628900"/>
          </a:xfrm>
        </p:spPr>
        <p:txBody>
          <a:bodyPr>
            <a:noAutofit/>
          </a:bodyPr>
          <a:lstStyle/>
          <a:p>
            <a:pPr marL="0" marR="0" lvl="0" indent="0" algn="l" defTabSz="914400">
              <a:lnSpc>
                <a:spcPct val="114000"/>
              </a:lnSpc>
              <a:spcBef>
                <a:spcPts val="0"/>
              </a:spcBef>
              <a:spcAft>
                <a:spcPts val="800"/>
              </a:spcAft>
              <a:buClrTx/>
              <a:buSzTx/>
              <a:buFont typeface="Arial"/>
              <a:buNone/>
              <a:defRPr sz="2025">
                <a:solidFill>
                  <a:srgbClr val="FFFFFF"/>
                </a:solidFill>
                <a:latin typeface="Arial"/>
                <a:ea typeface="Arial"/>
                <a:cs typeface="Arial"/>
              </a:defRPr>
            </a:pPr>
            <a:r>
              <a:rPr sz="2025" b="0" i="0" u="none" cap="none" spc="0" dirty="0">
                <a:ln>
                  <a:noFill/>
                </a:ln>
                <a:solidFill>
                  <a:srgbClr val="FFFFFF"/>
                </a:solidFill>
                <a:latin typeface="Arial"/>
                <a:ea typeface="Arial"/>
                <a:cs typeface="Arial"/>
              </a:rPr>
              <a:t>Agents API</a:t>
            </a:r>
          </a:p>
          <a:p>
            <a:pPr marL="0" marR="0" lvl="0" indent="0" algn="l" defTabSz="914400">
              <a:lnSpc>
                <a:spcPct val="114000"/>
              </a:lnSpc>
              <a:spcBef>
                <a:spcPts val="0"/>
              </a:spcBef>
              <a:spcAft>
                <a:spcPts val="800"/>
              </a:spcAft>
              <a:buClrTx/>
              <a:buSzTx/>
              <a:buFont typeface="Arial"/>
              <a:buNone/>
            </a:pPr>
            <a:endParaRPr sz="2025" b="0" i="0" u="none" cap="none" spc="0" dirty="0">
              <a:ln>
                <a:noFill/>
              </a:ln>
              <a:solidFill>
                <a:srgbClr val="FFFFFF"/>
              </a:solidFill>
              <a:latin typeface="Arial"/>
              <a:ea typeface="Arial"/>
              <a:cs typeface="Arial"/>
            </a:endParaRPr>
          </a:p>
          <a:p>
            <a:pPr marL="0" marR="0" lvl="0" indent="0" algn="l" defTabSz="914400">
              <a:lnSpc>
                <a:spcPct val="114000"/>
              </a:lnSpc>
              <a:spcBef>
                <a:spcPts val="0"/>
              </a:spcBef>
              <a:spcAft>
                <a:spcPts val="800"/>
              </a:spcAft>
              <a:buClrTx/>
              <a:buSzTx/>
              <a:buFont typeface="Arial"/>
              <a:buNone/>
              <a:defRPr sz="2025">
                <a:solidFill>
                  <a:srgbClr val="FFFFFF"/>
                </a:solidFill>
                <a:latin typeface="Arial"/>
                <a:ea typeface="Arial"/>
                <a:cs typeface="Arial"/>
              </a:defRPr>
            </a:pPr>
            <a:r>
              <a:rPr sz="2025" b="0" i="0" u="none" cap="none" spc="0" dirty="0">
                <a:ln>
                  <a:noFill/>
                </a:ln>
                <a:solidFill>
                  <a:srgbClr val="FFFFFF"/>
                </a:solidFill>
                <a:latin typeface="Arial"/>
                <a:ea typeface="Arial"/>
                <a:cs typeface="Arial"/>
              </a:rPr>
              <a:t>Use model tools to inspect properties, change the view, and prepare an issue for human review.</a:t>
            </a:r>
          </a:p>
        </p:txBody>
      </p:sp>
      <p:sp>
        <p:nvSpPr>
          <p:cNvPr id="3" name="Content Placeholder 2">
            <a:extLst>
              <a:ext uri="{FF2B5EF4-FFF2-40B4-BE49-F238E27FC236}">
                <a16:creationId xmlns:a16="http://schemas.microsoft.com/office/drawing/2014/main" id="{E4A749CC-0D72-2ABA-CEDC-7DFC7D138B4B}"/>
              </a:ext>
            </a:extLst>
          </p:cNvPr>
          <p:cNvSpPr>
            <a:spLocks noGrp="1"/>
          </p:cNvSpPr>
          <p:nvPr>
            <p:ph idx="4294967295"/>
          </p:nvPr>
        </p:nvSpPr>
        <p:spPr>
          <a:xfrm>
            <a:off x="4311650" y="3365500"/>
            <a:ext cx="3568700" cy="2628900"/>
          </a:xfrm>
        </p:spPr>
        <p:txBody>
          <a:bodyPr>
            <a:noAutofit/>
          </a:bodyPr>
          <a:lstStyle/>
          <a:p>
            <a:pPr marL="0" marR="0" lvl="0" indent="0" algn="l" defTabSz="914400">
              <a:lnSpc>
                <a:spcPct val="114000"/>
              </a:lnSpc>
              <a:spcBef>
                <a:spcPts val="0"/>
              </a:spcBef>
              <a:spcAft>
                <a:spcPts val="800"/>
              </a:spcAft>
              <a:buClrTx/>
              <a:buSzTx/>
              <a:buFont typeface="Arial"/>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Visual Understanding</a:t>
            </a:r>
          </a:p>
          <a:p>
            <a:pPr marL="0" marR="0" lvl="0" indent="0" algn="l" defTabSz="914400">
              <a:lnSpc>
                <a:spcPct val="114000"/>
              </a:lnSpc>
              <a:spcBef>
                <a:spcPts val="0"/>
              </a:spcBef>
              <a:spcAft>
                <a:spcPts val="800"/>
              </a:spcAft>
              <a:buClrTx/>
              <a:buSzTx/>
              <a:buFont typeface="Arial"/>
              <a:buNone/>
            </a:pPr>
            <a:endParaRPr sz="2025" b="0" i="0" u="none" cap="none" spc="0">
              <a:ln>
                <a:noFill/>
              </a:ln>
              <a:solidFill>
                <a:srgbClr val="FFFFFF"/>
              </a:solidFill>
              <a:latin typeface="Arial"/>
              <a:ea typeface="Arial"/>
              <a:cs typeface="Arial"/>
            </a:endParaRPr>
          </a:p>
          <a:p>
            <a:pPr marL="0" indent="0">
              <a:buNone/>
              <a:defRPr sz="2025">
                <a:solidFill>
                  <a:srgbClr val="FFFFFF"/>
                </a:solidFill>
                <a:latin typeface="Arial"/>
                <a:ea typeface="Arial"/>
                <a:cs typeface="Arial"/>
              </a:defRPr>
            </a:pPr>
            <a:r>
              <a:rPr sz="2025">
                <a:solidFill>
                  <a:srgbClr val="FFFFFF"/>
                </a:solidFill>
                <a:latin typeface="Arial"/>
                <a:ea typeface="Arial"/>
                <a:cs typeface="Arial"/>
              </a:rPr>
              <a:t>Connect questions about the visible 3D scene with IFC element properties and review evidence.</a:t>
            </a:r>
            <a:endParaRPr/>
          </a:p>
        </p:txBody>
      </p:sp>
      <p:pic>
        <p:nvPicPr>
          <p:cNvPr id="5" name="Picture 4">
            <a:extLst>
              <a:ext uri="{FF2B5EF4-FFF2-40B4-BE49-F238E27FC236}">
                <a16:creationId xmlns:a16="http://schemas.microsoft.com/office/drawing/2014/main" id="{30F56323-A08F-9F3B-B935-E181AC46D0F4}"/>
              </a:ext>
            </a:extLst>
          </p:cNvPr>
          <p:cNvPicPr>
            <a:picLocks noChangeAspect="1"/>
          </p:cNvPicPr>
          <p:nvPr/>
        </p:nvPicPr>
        <p:blipFill>
          <a:blip r:embed="rId3"/>
          <a:stretch>
            <a:fillRect/>
          </a:stretch>
        </p:blipFill>
        <p:spPr>
          <a:xfrm>
            <a:off x="-303893" y="336548"/>
            <a:ext cx="3429000" cy="3429000"/>
          </a:xfrm>
          <a:prstGeom prst="rect">
            <a:avLst/>
          </a:prstGeom>
        </p:spPr>
      </p:pic>
      <p:pic>
        <p:nvPicPr>
          <p:cNvPr id="6" name="Picture 5">
            <a:extLst>
              <a:ext uri="{FF2B5EF4-FFF2-40B4-BE49-F238E27FC236}">
                <a16:creationId xmlns:a16="http://schemas.microsoft.com/office/drawing/2014/main" id="{43FF530B-9FF2-FAB8-DF11-9BD39D81944A}"/>
              </a:ext>
            </a:extLst>
          </p:cNvPr>
          <p:cNvPicPr>
            <a:picLocks noChangeAspect="1"/>
          </p:cNvPicPr>
          <p:nvPr/>
        </p:nvPicPr>
        <p:blipFill>
          <a:blip r:embed="rId4"/>
          <a:stretch>
            <a:fillRect/>
          </a:stretch>
        </p:blipFill>
        <p:spPr>
          <a:xfrm>
            <a:off x="3962400" y="510720"/>
            <a:ext cx="3080657" cy="3080657"/>
          </a:xfrm>
          <a:prstGeom prst="rect">
            <a:avLst/>
          </a:prstGeom>
        </p:spPr>
      </p:pic>
      <p:pic>
        <p:nvPicPr>
          <p:cNvPr id="7" name="Picture 6">
            <a:extLst>
              <a:ext uri="{FF2B5EF4-FFF2-40B4-BE49-F238E27FC236}">
                <a16:creationId xmlns:a16="http://schemas.microsoft.com/office/drawing/2014/main" id="{41107C81-D940-A8E6-E796-4030466BA02F}"/>
              </a:ext>
            </a:extLst>
          </p:cNvPr>
          <p:cNvPicPr>
            <a:picLocks noChangeAspect="1"/>
          </p:cNvPicPr>
          <p:nvPr/>
        </p:nvPicPr>
        <p:blipFill>
          <a:blip r:embed="rId5"/>
          <a:stretch>
            <a:fillRect/>
          </a:stretch>
        </p:blipFill>
        <p:spPr>
          <a:xfrm>
            <a:off x="7678057" y="736599"/>
            <a:ext cx="2628901" cy="2628901"/>
          </a:xfrm>
          <a:prstGeom prst="rect">
            <a:avLst/>
          </a:prstGeom>
        </p:spPr>
      </p:pic>
    </p:spTree>
    <p:extLst>
      <p:ext uri="{BB962C8B-B14F-4D97-AF65-F5344CB8AC3E}">
        <p14:creationId xmlns:p14="http://schemas.microsoft.com/office/powerpoint/2010/main" val="1393456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BA02CCA-F21B-9365-60C4-CCFEB9244CCA}"/>
              </a:ext>
            </a:extLst>
          </p:cNvPr>
          <p:cNvSpPr>
            <a:spLocks noGrp="1"/>
          </p:cNvSpPr>
          <p:nvPr>
            <p:ph type="ftr" idx="3"/>
          </p:nvPr>
        </p:nvSpPr>
        <p:spPr>
          <a:xfrm>
            <a:off x="393700" y="6279952"/>
            <a:ext cx="3568700" cy="241240"/>
          </a:xfrm>
        </p:spPr>
        <p:txBody>
          <a:bodyPr/>
          <a:lstStyle/>
          <a:p>
            <a:endParaRPr/>
          </a:p>
        </p:txBody>
      </p:sp>
      <p:sp>
        <p:nvSpPr>
          <p:cNvPr id="532" name="Google Shape;532;p58">
            <a:extLst>
              <a:ext uri="{FF2B5EF4-FFF2-40B4-BE49-F238E27FC236}">
                <a16:creationId xmlns:a16="http://schemas.microsoft.com/office/drawing/2014/main" id="{3B21B056-C0DC-9927-7975-E8A8720D325A}"/>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pPr>
              <a:buNone/>
              <a:defRPr sz="1200">
                <a:solidFill>
                  <a:srgbClr val="FFFFFF"/>
                </a:solidFill>
                <a:latin typeface="Arial"/>
                <a:ea typeface="Arial"/>
                <a:cs typeface="Arial"/>
              </a:defRPr>
            </a:pPr>
            <a:fld id="{388657AE-30A1-5A7A-6A7F-315D84436430}" type="slidenum">
              <a:rPr sz="1200">
                <a:solidFill>
                  <a:srgbClr val="FFFFFF"/>
                </a:solidFill>
                <a:latin typeface="Arial"/>
                <a:ea typeface="Arial"/>
                <a:cs typeface="Arial"/>
              </a:rPr>
              <a:t>13</a:t>
            </a:fld>
            <a:endParaRPr/>
          </a:p>
        </p:txBody>
      </p:sp>
      <p:sp>
        <p:nvSpPr>
          <p:cNvPr id="533" name="Google Shape;533;p58">
            <a:extLst>
              <a:ext uri="{FF2B5EF4-FFF2-40B4-BE49-F238E27FC236}">
                <a16:creationId xmlns:a16="http://schemas.microsoft.com/office/drawing/2014/main" id="{62D86C57-5A36-A9CA-FBAE-7FD6A93121B0}"/>
              </a:ext>
            </a:extLst>
          </p:cNvPr>
          <p:cNvSpPr>
            <a:spLocks noGrp="1"/>
          </p:cNvSpPr>
          <p:nvPr>
            <p:ph type="title"/>
          </p:nvPr>
        </p:nvSpPr>
        <p:spPr>
          <a:xfrm>
            <a:off x="393700" y="344008"/>
            <a:ext cx="11404600" cy="1047491"/>
          </a:xfrm>
        </p:spPr>
        <p:txBody>
          <a:bodyPr spcFirstLastPara="1" vert="horz" wrap="square" lIns="0" tIns="0" rIns="0" bIns="0" anchor="t">
            <a:noAutofit/>
          </a:bodyPr>
          <a:lstStyle/>
          <a:p>
            <a:pPr>
              <a:buNone/>
              <a:defRPr sz="3600">
                <a:solidFill>
                  <a:srgbClr val="FFFFFF"/>
                </a:solidFill>
                <a:latin typeface="Arial"/>
                <a:ea typeface="Arial"/>
                <a:cs typeface="Arial"/>
              </a:defRPr>
            </a:pPr>
            <a:r>
              <a:rPr sz="3600">
                <a:solidFill>
                  <a:srgbClr val="FFFFFF"/>
                </a:solidFill>
                <a:latin typeface="Arial"/>
                <a:ea typeface="Arial"/>
                <a:cs typeface="Arial"/>
              </a:rPr>
              <a:t>Prototype status and next steps</a:t>
            </a:r>
          </a:p>
        </p:txBody>
      </p:sp>
      <p:sp>
        <p:nvSpPr>
          <p:cNvPr id="5" name="Google Shape;558;p61">
            <a:extLst>
              <a:ext uri="{FF2B5EF4-FFF2-40B4-BE49-F238E27FC236}">
                <a16:creationId xmlns:a16="http://schemas.microsoft.com/office/drawing/2014/main" id="{CF52371F-8816-97E4-7F6A-234DB3FEF95A}"/>
              </a:ext>
            </a:extLst>
          </p:cNvPr>
          <p:cNvSpPr>
            <a:spLocks noGrp="1"/>
          </p:cNvSpPr>
          <p:nvPr/>
        </p:nvSpPr>
        <p:spPr>
          <a:xfrm>
            <a:off x="393700" y="4013200"/>
            <a:ext cx="3568700" cy="1981200"/>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Working today</a:t>
            </a:r>
          </a:p>
          <a:p>
            <a:pPr marL="0" indent="0">
              <a:lnSpc>
                <a:spcPct val="114000"/>
              </a:lnSpc>
              <a:spcBef>
                <a:spcPts val="0"/>
              </a:spcBef>
              <a:spcAft>
                <a:spcPts val="800"/>
              </a:spcAft>
              <a:buFont typeface="Arial"/>
              <a:buNone/>
            </a:pPr>
            <a:endParaRPr sz="2025">
              <a:solidFill>
                <a:srgbClr val="FFFFFF"/>
              </a:solidFill>
              <a:latin typeface="Arial"/>
              <a:ea typeface="Arial"/>
              <a:cs typeface="Arial"/>
            </a:endParaRPr>
          </a:p>
          <a:p>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IFC import, linked selection, scene controls, Excel export, and local review issues.</a:t>
            </a:r>
          </a:p>
        </p:txBody>
      </p:sp>
      <p:sp>
        <p:nvSpPr>
          <p:cNvPr id="6" name="Google Shape;559;p61">
            <a:extLst>
              <a:ext uri="{FF2B5EF4-FFF2-40B4-BE49-F238E27FC236}">
                <a16:creationId xmlns:a16="http://schemas.microsoft.com/office/drawing/2014/main" id="{B35EA25F-F28D-25C7-A5DF-16A7EADF8DBD}"/>
              </a:ext>
            </a:extLst>
          </p:cNvPr>
          <p:cNvSpPr>
            <a:spLocks noGrp="1"/>
          </p:cNvSpPr>
          <p:nvPr/>
        </p:nvSpPr>
        <p:spPr>
          <a:xfrm>
            <a:off x="4318000" y="4013200"/>
            <a:ext cx="3568700" cy="1981200"/>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Tool foundation</a:t>
            </a:r>
            <a:endParaRPr sz="2000">
              <a:latin typeface="Helvetica Neue"/>
              <a:ea typeface="Helvetica Neue"/>
              <a:cs typeface="Helvetica Neue"/>
            </a:endParaRPr>
          </a:p>
          <a:p>
            <a:pPr marL="0" indent="0">
              <a:lnSpc>
                <a:spcPct val="114000"/>
              </a:lnSpc>
              <a:spcBef>
                <a:spcPts val="0"/>
              </a:spcBef>
              <a:spcAft>
                <a:spcPts val="800"/>
              </a:spcAft>
              <a:buFont typeface="Arial"/>
              <a:buNone/>
            </a:pPr>
            <a:endParaRPr sz="2000">
              <a:latin typeface="Helvetica Neue"/>
              <a:ea typeface="Helvetica Neue"/>
              <a:cs typeface="Helvetica Neue"/>
            </a:endParaRPr>
          </a:p>
          <a:p>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10 WebMCP tools expose model data, scene state, measurements, and issue actions.</a:t>
            </a:r>
            <a:endParaRPr sz="2000">
              <a:latin typeface="Helvetica Neue"/>
              <a:ea typeface="Helvetica Neue"/>
              <a:cs typeface="Helvetica Neue"/>
            </a:endParaRPr>
          </a:p>
        </p:txBody>
      </p:sp>
      <p:sp>
        <p:nvSpPr>
          <p:cNvPr id="7" name="Google Shape;560;p61">
            <a:extLst>
              <a:ext uri="{FF2B5EF4-FFF2-40B4-BE49-F238E27FC236}">
                <a16:creationId xmlns:a16="http://schemas.microsoft.com/office/drawing/2014/main" id="{6E61CDC3-05E3-B689-0BCE-9014DDCB5EE8}"/>
              </a:ext>
            </a:extLst>
          </p:cNvPr>
          <p:cNvSpPr>
            <a:spLocks noGrp="1"/>
          </p:cNvSpPr>
          <p:nvPr/>
        </p:nvSpPr>
        <p:spPr>
          <a:xfrm>
            <a:off x="8232273" y="4013200"/>
            <a:ext cx="3568700" cy="1981200"/>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Next integration</a:t>
            </a:r>
            <a:endParaRPr sz="2000">
              <a:latin typeface="Helvetica Neue"/>
              <a:ea typeface="Helvetica Neue"/>
              <a:cs typeface="Helvetica Neue"/>
            </a:endParaRPr>
          </a:p>
          <a:p>
            <a:pPr marL="0" indent="0">
              <a:lnSpc>
                <a:spcPct val="114000"/>
              </a:lnSpc>
              <a:spcBef>
                <a:spcPts val="0"/>
              </a:spcBef>
              <a:spcAft>
                <a:spcPts val="800"/>
              </a:spcAft>
              <a:buFont typeface="Arial"/>
              <a:buNone/>
            </a:pPr>
            <a:endParaRPr sz="2000">
              <a:latin typeface="Helvetica Neue"/>
              <a:ea typeface="Helvetica Neue"/>
              <a:cs typeface="Helvetica Neue"/>
            </a:endParaRPr>
          </a:p>
          <a:p>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Connect live Astra, add standards reasoning, and persist approved mappings.</a:t>
            </a:r>
            <a:endParaRPr sz="2000">
              <a:latin typeface="Helvetica Neue"/>
              <a:ea typeface="Helvetica Neue"/>
              <a:cs typeface="Helvetica Neue"/>
            </a:endParaRPr>
          </a:p>
        </p:txBody>
      </p:sp>
      <p:sp>
        <p:nvSpPr>
          <p:cNvPr id="8" name="Google Shape;561;p61">
            <a:extLst>
              <a:ext uri="{FF2B5EF4-FFF2-40B4-BE49-F238E27FC236}">
                <a16:creationId xmlns:a16="http://schemas.microsoft.com/office/drawing/2014/main" id="{2E9332F7-1AC8-A3A0-635E-D70D0C3E6A72}"/>
              </a:ext>
            </a:extLst>
          </p:cNvPr>
          <p:cNvSpPr>
            <a:spLocks noGrp="1"/>
          </p:cNvSpPr>
          <p:nvPr/>
        </p:nvSpPr>
        <p:spPr>
          <a:xfrm>
            <a:off x="4279904" y="3382303"/>
            <a:ext cx="315580" cy="353873"/>
          </a:xfrm>
          <a:custGeom>
            <a:avLst/>
            <a:gdLst/>
            <a:ahLst/>
            <a:cxnLst/>
            <a:rect l="l" t="t" r="r" b="b"/>
            <a:pathLst>
              <a:path w="20236" h="20115">
                <a:moveTo>
                  <a:pt x="11303" y="2594"/>
                </a:moveTo>
                <a:lnTo>
                  <a:pt x="2175" y="11983"/>
                </a:lnTo>
                <a:lnTo>
                  <a:pt x="9033" y="11983"/>
                </a:lnTo>
                <a:cubicBezTo>
                  <a:pt x="9364" y="11983"/>
                  <a:pt x="9678" y="12118"/>
                  <a:pt x="9883" y="12348"/>
                </a:cubicBezTo>
                <a:cubicBezTo>
                  <a:pt x="10089" y="12579"/>
                  <a:pt x="10165" y="12880"/>
                  <a:pt x="10089" y="13166"/>
                </a:cubicBezTo>
                <a:lnTo>
                  <a:pt x="8933" y="17522"/>
                </a:lnTo>
                <a:lnTo>
                  <a:pt x="18061" y="8133"/>
                </a:lnTo>
                <a:lnTo>
                  <a:pt x="11203" y="8133"/>
                </a:lnTo>
                <a:cubicBezTo>
                  <a:pt x="10872" y="8133"/>
                  <a:pt x="10558" y="7999"/>
                  <a:pt x="10353" y="7768"/>
                </a:cubicBezTo>
                <a:cubicBezTo>
                  <a:pt x="10147" y="7537"/>
                  <a:pt x="10071" y="7236"/>
                  <a:pt x="10147" y="6950"/>
                </a:cubicBezTo>
                <a:lnTo>
                  <a:pt x="11303" y="2594"/>
                </a:lnTo>
                <a:close/>
                <a:moveTo>
                  <a:pt x="10382" y="593"/>
                </a:moveTo>
                <a:cubicBezTo>
                  <a:pt x="11679" y="-742"/>
                  <a:pt x="14125" y="363"/>
                  <a:pt x="13670" y="2078"/>
                </a:cubicBezTo>
                <a:lnTo>
                  <a:pt x="12574" y="6208"/>
                </a:lnTo>
                <a:lnTo>
                  <a:pt x="18061" y="6208"/>
                </a:lnTo>
                <a:cubicBezTo>
                  <a:pt x="19918" y="6208"/>
                  <a:pt x="20918" y="8142"/>
                  <a:pt x="19705" y="9390"/>
                </a:cubicBezTo>
                <a:lnTo>
                  <a:pt x="9854" y="19523"/>
                </a:lnTo>
                <a:cubicBezTo>
                  <a:pt x="8557" y="20858"/>
                  <a:pt x="6111" y="19753"/>
                  <a:pt x="6566" y="18038"/>
                </a:cubicBezTo>
                <a:lnTo>
                  <a:pt x="7662" y="13908"/>
                </a:lnTo>
                <a:lnTo>
                  <a:pt x="2175" y="13908"/>
                </a:lnTo>
                <a:cubicBezTo>
                  <a:pt x="318" y="13908"/>
                  <a:pt x="-682" y="11974"/>
                  <a:pt x="531" y="10726"/>
                </a:cubicBezTo>
                <a:lnTo>
                  <a:pt x="10382" y="593"/>
                </a:lnTo>
                <a:close/>
              </a:path>
            </a:pathLst>
          </a:custGeom>
          <a:solidFill>
            <a:schemeClr val="tx1"/>
          </a:solidFill>
          <a:ln>
            <a:noFill/>
          </a:ln>
        </p:spPr>
        <p:txBody>
          <a:bodyPr spcFirstLastPara="1" wrap="square" lIns="67725" tIns="67725" rIns="67725" bIns="67725" anchor="ctr">
            <a:noAutofit/>
          </a:bodyPr>
          <a:lstStyle/>
          <a:p>
            <a:pPr algn="ctr">
              <a:buClr>
                <a:srgbClr val="FFFFFF"/>
              </a:buClr>
              <a:buSzPts val="4300"/>
              <a:buNone/>
            </a:pPr>
            <a:endParaRPr sz="4300">
              <a:solidFill>
                <a:srgbClr val="FFFFFF"/>
              </a:solidFill>
              <a:latin typeface="Helvetica Neue"/>
              <a:ea typeface="Helvetica Neue"/>
              <a:cs typeface="Helvetica Neue"/>
            </a:endParaRPr>
          </a:p>
        </p:txBody>
      </p:sp>
      <p:sp>
        <p:nvSpPr>
          <p:cNvPr id="9" name="Google Shape;562;p61">
            <a:extLst>
              <a:ext uri="{FF2B5EF4-FFF2-40B4-BE49-F238E27FC236}">
                <a16:creationId xmlns:a16="http://schemas.microsoft.com/office/drawing/2014/main" id="{1F6EAF7D-166C-52A8-35F4-18CE1043DC36}"/>
              </a:ext>
            </a:extLst>
          </p:cNvPr>
          <p:cNvSpPr>
            <a:spLocks noGrp="1"/>
          </p:cNvSpPr>
          <p:nvPr/>
        </p:nvSpPr>
        <p:spPr>
          <a:xfrm>
            <a:off x="401398" y="3378212"/>
            <a:ext cx="327078" cy="362074"/>
          </a:xfrm>
          <a:custGeom>
            <a:avLst/>
            <a:gdLst/>
            <a:ahLst/>
            <a:cxnLst/>
            <a:rect l="l" t="t" r="r" b="b"/>
            <a:pathLst>
              <a:path w="21600" h="21333">
                <a:moveTo>
                  <a:pt x="11359" y="2130"/>
                </a:moveTo>
                <a:cubicBezTo>
                  <a:pt x="11014" y="1951"/>
                  <a:pt x="10588" y="1951"/>
                  <a:pt x="10241" y="2130"/>
                </a:cubicBezTo>
                <a:lnTo>
                  <a:pt x="3250" y="5732"/>
                </a:lnTo>
                <a:lnTo>
                  <a:pt x="10817" y="9530"/>
                </a:lnTo>
                <a:lnTo>
                  <a:pt x="18593" y="5856"/>
                </a:lnTo>
                <a:lnTo>
                  <a:pt x="11359" y="2130"/>
                </a:lnTo>
                <a:close/>
                <a:moveTo>
                  <a:pt x="19364" y="7749"/>
                </a:moveTo>
                <a:lnTo>
                  <a:pt x="11918" y="11267"/>
                </a:lnTo>
                <a:lnTo>
                  <a:pt x="11918" y="18916"/>
                </a:lnTo>
                <a:lnTo>
                  <a:pt x="18805" y="15367"/>
                </a:lnTo>
                <a:cubicBezTo>
                  <a:pt x="19152" y="15189"/>
                  <a:pt x="19364" y="14860"/>
                  <a:pt x="19364" y="14503"/>
                </a:cubicBezTo>
                <a:lnTo>
                  <a:pt x="19364" y="7749"/>
                </a:lnTo>
                <a:close/>
                <a:moveTo>
                  <a:pt x="9682" y="18916"/>
                </a:moveTo>
                <a:lnTo>
                  <a:pt x="9682" y="11250"/>
                </a:lnTo>
                <a:lnTo>
                  <a:pt x="2236" y="7513"/>
                </a:lnTo>
                <a:lnTo>
                  <a:pt x="2236" y="14503"/>
                </a:lnTo>
                <a:cubicBezTo>
                  <a:pt x="2236" y="14860"/>
                  <a:pt x="2448" y="15189"/>
                  <a:pt x="2795" y="15367"/>
                </a:cubicBezTo>
                <a:lnTo>
                  <a:pt x="9682" y="18916"/>
                </a:lnTo>
                <a:close/>
                <a:moveTo>
                  <a:pt x="9123" y="401"/>
                </a:moveTo>
                <a:cubicBezTo>
                  <a:pt x="10160" y="-133"/>
                  <a:pt x="11440" y="-133"/>
                  <a:pt x="12477" y="401"/>
                </a:cubicBezTo>
                <a:lnTo>
                  <a:pt x="19923" y="4238"/>
                </a:lnTo>
                <a:cubicBezTo>
                  <a:pt x="20962" y="4773"/>
                  <a:pt x="21600" y="5761"/>
                  <a:pt x="21600" y="6830"/>
                </a:cubicBezTo>
                <a:lnTo>
                  <a:pt x="21600" y="14503"/>
                </a:lnTo>
                <a:cubicBezTo>
                  <a:pt x="21600" y="15572"/>
                  <a:pt x="20962" y="16561"/>
                  <a:pt x="19923" y="17096"/>
                </a:cubicBezTo>
                <a:lnTo>
                  <a:pt x="12477" y="20932"/>
                </a:lnTo>
                <a:cubicBezTo>
                  <a:pt x="11440" y="21467"/>
                  <a:pt x="10160" y="21467"/>
                  <a:pt x="9123" y="20932"/>
                </a:cubicBezTo>
                <a:lnTo>
                  <a:pt x="1677" y="17096"/>
                </a:lnTo>
                <a:cubicBezTo>
                  <a:pt x="640" y="16561"/>
                  <a:pt x="0" y="15572"/>
                  <a:pt x="0" y="14503"/>
                </a:cubicBezTo>
                <a:lnTo>
                  <a:pt x="0" y="6830"/>
                </a:lnTo>
                <a:cubicBezTo>
                  <a:pt x="0" y="5761"/>
                  <a:pt x="640" y="4773"/>
                  <a:pt x="1677" y="4238"/>
                </a:cubicBezTo>
                <a:lnTo>
                  <a:pt x="9123" y="401"/>
                </a:lnTo>
                <a:close/>
              </a:path>
            </a:pathLst>
          </a:custGeom>
          <a:solidFill>
            <a:schemeClr val="tx1"/>
          </a:solidFill>
          <a:ln>
            <a:noFill/>
          </a:ln>
        </p:spPr>
        <p:txBody>
          <a:bodyPr spcFirstLastPara="1" wrap="square" lIns="67725" tIns="67725" rIns="67725" bIns="67725" anchor="ctr">
            <a:noAutofit/>
          </a:bodyPr>
          <a:lstStyle/>
          <a:p>
            <a:pPr algn="ctr">
              <a:buClr>
                <a:srgbClr val="FFFFFF"/>
              </a:buClr>
              <a:buSzPts val="4300"/>
              <a:buNone/>
            </a:pPr>
            <a:endParaRPr sz="4300">
              <a:solidFill>
                <a:srgbClr val="FFFFFF"/>
              </a:solidFill>
              <a:latin typeface="Helvetica Neue"/>
              <a:ea typeface="Helvetica Neue"/>
              <a:cs typeface="Helvetica Neue"/>
            </a:endParaRPr>
          </a:p>
        </p:txBody>
      </p:sp>
      <p:sp>
        <p:nvSpPr>
          <p:cNvPr id="10" name="Google Shape;563;p61">
            <a:extLst>
              <a:ext uri="{FF2B5EF4-FFF2-40B4-BE49-F238E27FC236}">
                <a16:creationId xmlns:a16="http://schemas.microsoft.com/office/drawing/2014/main" id="{56E3A8EC-7B67-B778-5CC6-BC0282925006}"/>
              </a:ext>
            </a:extLst>
          </p:cNvPr>
          <p:cNvSpPr>
            <a:spLocks noGrp="1"/>
          </p:cNvSpPr>
          <p:nvPr/>
        </p:nvSpPr>
        <p:spPr>
          <a:xfrm>
            <a:off x="8231597" y="3406849"/>
            <a:ext cx="338580" cy="270918"/>
          </a:xfrm>
          <a:custGeom>
            <a:avLst/>
            <a:gdLst/>
            <a:ahLst/>
            <a:cxnLst/>
            <a:rect l="l" t="t" r="r" b="b"/>
            <a:pathLst>
              <a:path w="21600" h="21600">
                <a:moveTo>
                  <a:pt x="6220" y="0"/>
                </a:moveTo>
                <a:lnTo>
                  <a:pt x="15380" y="0"/>
                </a:lnTo>
                <a:cubicBezTo>
                  <a:pt x="16250" y="0"/>
                  <a:pt x="16968" y="0"/>
                  <a:pt x="17552" y="59"/>
                </a:cubicBezTo>
                <a:cubicBezTo>
                  <a:pt x="18159" y="122"/>
                  <a:pt x="18717" y="255"/>
                  <a:pt x="19241" y="589"/>
                </a:cubicBezTo>
                <a:cubicBezTo>
                  <a:pt x="20055" y="1106"/>
                  <a:pt x="20715" y="1932"/>
                  <a:pt x="21129" y="2948"/>
                </a:cubicBezTo>
                <a:cubicBezTo>
                  <a:pt x="21396" y="3603"/>
                  <a:pt x="21503" y="4301"/>
                  <a:pt x="21552" y="5060"/>
                </a:cubicBezTo>
                <a:cubicBezTo>
                  <a:pt x="21600" y="5790"/>
                  <a:pt x="21600" y="6688"/>
                  <a:pt x="21600" y="7775"/>
                </a:cubicBezTo>
                <a:lnTo>
                  <a:pt x="21600" y="13825"/>
                </a:lnTo>
                <a:cubicBezTo>
                  <a:pt x="21600" y="14912"/>
                  <a:pt x="21600" y="15810"/>
                  <a:pt x="21552" y="16540"/>
                </a:cubicBezTo>
                <a:cubicBezTo>
                  <a:pt x="21503" y="17299"/>
                  <a:pt x="21396" y="17997"/>
                  <a:pt x="21129" y="18652"/>
                </a:cubicBezTo>
                <a:cubicBezTo>
                  <a:pt x="20715" y="19668"/>
                  <a:pt x="20055" y="20494"/>
                  <a:pt x="19241" y="21011"/>
                </a:cubicBezTo>
                <a:cubicBezTo>
                  <a:pt x="18717" y="21345"/>
                  <a:pt x="18159" y="21478"/>
                  <a:pt x="17552" y="21541"/>
                </a:cubicBezTo>
                <a:cubicBezTo>
                  <a:pt x="16968" y="21600"/>
                  <a:pt x="16250" y="21600"/>
                  <a:pt x="15380" y="21600"/>
                </a:cubicBezTo>
                <a:lnTo>
                  <a:pt x="6220" y="21600"/>
                </a:lnTo>
                <a:cubicBezTo>
                  <a:pt x="5350" y="21600"/>
                  <a:pt x="4632" y="21600"/>
                  <a:pt x="4048" y="21541"/>
                </a:cubicBezTo>
                <a:cubicBezTo>
                  <a:pt x="3441" y="21478"/>
                  <a:pt x="2883" y="21345"/>
                  <a:pt x="2359" y="21011"/>
                </a:cubicBezTo>
                <a:cubicBezTo>
                  <a:pt x="1545" y="20494"/>
                  <a:pt x="885" y="19668"/>
                  <a:pt x="471" y="18652"/>
                </a:cubicBezTo>
                <a:cubicBezTo>
                  <a:pt x="204" y="17997"/>
                  <a:pt x="97" y="17299"/>
                  <a:pt x="48" y="16540"/>
                </a:cubicBezTo>
                <a:cubicBezTo>
                  <a:pt x="0" y="15810"/>
                  <a:pt x="0" y="14912"/>
                  <a:pt x="0" y="13825"/>
                </a:cubicBezTo>
                <a:lnTo>
                  <a:pt x="0" y="7775"/>
                </a:lnTo>
                <a:cubicBezTo>
                  <a:pt x="0" y="6688"/>
                  <a:pt x="0" y="5790"/>
                  <a:pt x="48" y="5060"/>
                </a:cubicBezTo>
                <a:cubicBezTo>
                  <a:pt x="97" y="4301"/>
                  <a:pt x="204" y="3603"/>
                  <a:pt x="471" y="2948"/>
                </a:cubicBezTo>
                <a:cubicBezTo>
                  <a:pt x="885" y="1932"/>
                  <a:pt x="1545" y="1106"/>
                  <a:pt x="2359" y="589"/>
                </a:cubicBezTo>
                <a:cubicBezTo>
                  <a:pt x="2883" y="255"/>
                  <a:pt x="3441" y="122"/>
                  <a:pt x="4048" y="59"/>
                </a:cubicBezTo>
                <a:cubicBezTo>
                  <a:pt x="4632" y="0"/>
                  <a:pt x="5350" y="0"/>
                  <a:pt x="6220" y="0"/>
                </a:cubicBezTo>
                <a:close/>
                <a:moveTo>
                  <a:pt x="2160" y="9450"/>
                </a:moveTo>
                <a:lnTo>
                  <a:pt x="2160" y="13770"/>
                </a:lnTo>
                <a:cubicBezTo>
                  <a:pt x="2160" y="14927"/>
                  <a:pt x="2161" y="15713"/>
                  <a:pt x="2201" y="16320"/>
                </a:cubicBezTo>
                <a:cubicBezTo>
                  <a:pt x="2239" y="16911"/>
                  <a:pt x="2309" y="17215"/>
                  <a:pt x="2395" y="17426"/>
                </a:cubicBezTo>
                <a:cubicBezTo>
                  <a:pt x="2603" y="17933"/>
                  <a:pt x="2933" y="18347"/>
                  <a:pt x="3339" y="18606"/>
                </a:cubicBezTo>
                <a:cubicBezTo>
                  <a:pt x="3508" y="18714"/>
                  <a:pt x="3751" y="18801"/>
                  <a:pt x="4224" y="18849"/>
                </a:cubicBezTo>
                <a:cubicBezTo>
                  <a:pt x="4710" y="18899"/>
                  <a:pt x="5338" y="18900"/>
                  <a:pt x="6264" y="18900"/>
                </a:cubicBezTo>
                <a:lnTo>
                  <a:pt x="15336" y="18900"/>
                </a:lnTo>
                <a:cubicBezTo>
                  <a:pt x="16262" y="18900"/>
                  <a:pt x="16890" y="18899"/>
                  <a:pt x="17376" y="18849"/>
                </a:cubicBezTo>
                <a:cubicBezTo>
                  <a:pt x="17849" y="18801"/>
                  <a:pt x="18092" y="18714"/>
                  <a:pt x="18261" y="18606"/>
                </a:cubicBezTo>
                <a:cubicBezTo>
                  <a:pt x="18667" y="18347"/>
                  <a:pt x="18997" y="17933"/>
                  <a:pt x="19205" y="17426"/>
                </a:cubicBezTo>
                <a:cubicBezTo>
                  <a:pt x="19291" y="17215"/>
                  <a:pt x="19361" y="16911"/>
                  <a:pt x="19399" y="16320"/>
                </a:cubicBezTo>
                <a:cubicBezTo>
                  <a:pt x="19439" y="15713"/>
                  <a:pt x="19440" y="14927"/>
                  <a:pt x="19440" y="13770"/>
                </a:cubicBezTo>
                <a:lnTo>
                  <a:pt x="19440" y="9450"/>
                </a:lnTo>
                <a:lnTo>
                  <a:pt x="2160" y="9450"/>
                </a:lnTo>
                <a:close/>
                <a:moveTo>
                  <a:pt x="19438" y="6750"/>
                </a:moveTo>
                <a:cubicBezTo>
                  <a:pt x="19435" y="6148"/>
                  <a:pt x="19425" y="5677"/>
                  <a:pt x="19399" y="5280"/>
                </a:cubicBezTo>
                <a:cubicBezTo>
                  <a:pt x="19361" y="4689"/>
                  <a:pt x="19291" y="4385"/>
                  <a:pt x="19205" y="4174"/>
                </a:cubicBezTo>
                <a:cubicBezTo>
                  <a:pt x="18997" y="3667"/>
                  <a:pt x="18667" y="3254"/>
                  <a:pt x="18261" y="2994"/>
                </a:cubicBezTo>
                <a:cubicBezTo>
                  <a:pt x="18092" y="2886"/>
                  <a:pt x="17849" y="2799"/>
                  <a:pt x="17376" y="2751"/>
                </a:cubicBezTo>
                <a:cubicBezTo>
                  <a:pt x="16890" y="2701"/>
                  <a:pt x="16262" y="2700"/>
                  <a:pt x="15336" y="2700"/>
                </a:cubicBezTo>
                <a:lnTo>
                  <a:pt x="6264" y="2700"/>
                </a:lnTo>
                <a:cubicBezTo>
                  <a:pt x="5338" y="2700"/>
                  <a:pt x="4710" y="2701"/>
                  <a:pt x="4224" y="2751"/>
                </a:cubicBezTo>
                <a:cubicBezTo>
                  <a:pt x="3751" y="2799"/>
                  <a:pt x="3508" y="2886"/>
                  <a:pt x="3339" y="2994"/>
                </a:cubicBezTo>
                <a:cubicBezTo>
                  <a:pt x="2933" y="3254"/>
                  <a:pt x="2603" y="3667"/>
                  <a:pt x="2395" y="4174"/>
                </a:cubicBezTo>
                <a:cubicBezTo>
                  <a:pt x="2309" y="4385"/>
                  <a:pt x="2239" y="4689"/>
                  <a:pt x="2201" y="5280"/>
                </a:cubicBezTo>
                <a:cubicBezTo>
                  <a:pt x="2175" y="5677"/>
                  <a:pt x="2165" y="6148"/>
                  <a:pt x="2162" y="6750"/>
                </a:cubicBezTo>
                <a:lnTo>
                  <a:pt x="19438" y="6750"/>
                </a:lnTo>
                <a:close/>
                <a:moveTo>
                  <a:pt x="12960" y="14850"/>
                </a:moveTo>
                <a:cubicBezTo>
                  <a:pt x="12960" y="14105"/>
                  <a:pt x="13444" y="13500"/>
                  <a:pt x="14040" y="13500"/>
                </a:cubicBezTo>
                <a:lnTo>
                  <a:pt x="16200" y="13500"/>
                </a:lnTo>
                <a:cubicBezTo>
                  <a:pt x="16796" y="13500"/>
                  <a:pt x="17280" y="14105"/>
                  <a:pt x="17280" y="14850"/>
                </a:cubicBezTo>
                <a:cubicBezTo>
                  <a:pt x="17280" y="15595"/>
                  <a:pt x="16796" y="16200"/>
                  <a:pt x="16200" y="16200"/>
                </a:cubicBezTo>
                <a:lnTo>
                  <a:pt x="14040" y="16200"/>
                </a:lnTo>
                <a:cubicBezTo>
                  <a:pt x="13444" y="16200"/>
                  <a:pt x="12960" y="15595"/>
                  <a:pt x="12960" y="14850"/>
                </a:cubicBezTo>
                <a:close/>
              </a:path>
            </a:pathLst>
          </a:custGeom>
          <a:solidFill>
            <a:schemeClr val="tx1"/>
          </a:solidFill>
          <a:ln>
            <a:noFill/>
          </a:ln>
        </p:spPr>
        <p:txBody>
          <a:bodyPr spcFirstLastPara="1" wrap="square" lIns="67725" tIns="67725" rIns="67725" bIns="67725" anchor="ctr">
            <a:noAutofit/>
          </a:bodyPr>
          <a:lstStyle/>
          <a:p>
            <a:pPr algn="ctr">
              <a:buClr>
                <a:srgbClr val="FFFFFF"/>
              </a:buClr>
              <a:buSzPts val="4300"/>
              <a:buNone/>
            </a:pPr>
            <a:endParaRPr sz="430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1053439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9AC8B6-148F-970D-D8DE-AD2E0AB19BC8}"/>
              </a:ext>
            </a:extLst>
          </p:cNvPr>
          <p:cNvSpPr>
            <a:spLocks noGrp="1"/>
          </p:cNvSpPr>
          <p:nvPr>
            <p:ph type="ctrTitle"/>
          </p:nvPr>
        </p:nvSpPr>
        <p:spPr>
          <a:xfrm>
            <a:off x="393700" y="1738755"/>
            <a:ext cx="9448800" cy="2491490"/>
          </a:xfrm>
        </p:spPr>
        <p:txBody>
          <a:bodyPr>
            <a:noAutofit/>
          </a:bodyPr>
          <a:lstStyle/>
          <a:p>
            <a:pPr>
              <a:buNone/>
              <a:defRPr sz="5100">
                <a:solidFill>
                  <a:srgbClr val="FFFFFF"/>
                </a:solidFill>
                <a:latin typeface="Arial"/>
                <a:ea typeface="Arial"/>
                <a:cs typeface="Arial"/>
              </a:defRPr>
            </a:pPr>
            <a:r>
              <a:rPr sz="5100">
                <a:solidFill>
                  <a:srgbClr val="FFFFFF"/>
                </a:solidFill>
                <a:latin typeface="Arial"/>
                <a:ea typeface="Arial"/>
                <a:cs typeface="Arial"/>
              </a:rPr>
              <a:t>Clearer model data</a:t>
            </a:r>
          </a:p>
          <a:p>
            <a:pPr>
              <a:buNone/>
              <a:defRPr sz="5100">
                <a:solidFill>
                  <a:srgbClr val="FFFFFF"/>
                </a:solidFill>
                <a:latin typeface="Arial"/>
                <a:ea typeface="Arial"/>
                <a:cs typeface="Arial"/>
              </a:defRPr>
            </a:pPr>
            <a:r>
              <a:rPr sz="5100">
                <a:solidFill>
                  <a:srgbClr val="FFFFFF"/>
                </a:solidFill>
                <a:latin typeface="Arial"/>
                <a:ea typeface="Arial"/>
                <a:cs typeface="Arial"/>
              </a:rPr>
              <a:t>for construction teams</a:t>
            </a:r>
          </a:p>
        </p:txBody>
      </p:sp>
      <p:sp>
        <p:nvSpPr>
          <p:cNvPr id="5" name="Subtitle 4">
            <a:extLst>
              <a:ext uri="{FF2B5EF4-FFF2-40B4-BE49-F238E27FC236}">
                <a16:creationId xmlns:a16="http://schemas.microsoft.com/office/drawing/2014/main" id="{A8E1F2E1-786A-48AE-5E52-007228284270}"/>
              </a:ext>
            </a:extLst>
          </p:cNvPr>
          <p:cNvSpPr>
            <a:spLocks noGrp="1"/>
          </p:cNvSpPr>
          <p:nvPr>
            <p:ph type="subTitle" idx="1"/>
          </p:nvPr>
        </p:nvSpPr>
        <p:spPr>
          <a:xfrm>
            <a:off x="390525" y="4972050"/>
            <a:ext cx="8096250" cy="1095375"/>
          </a:xfrm>
        </p:spPr>
        <p:txBody>
          <a:bodyPr>
            <a:noAutofit/>
          </a:bodyPr>
          <a:lstStyle/>
          <a:p>
            <a:pPr>
              <a:buNone/>
              <a:defRPr sz="2100">
                <a:solidFill>
                  <a:srgbClr val="FFFFFF"/>
                </a:solidFill>
                <a:latin typeface="Arial"/>
                <a:ea typeface="Arial"/>
                <a:cs typeface="Arial"/>
              </a:defRPr>
            </a:pPr>
            <a:r>
              <a:rPr sz="2100">
                <a:solidFill>
                  <a:srgbClr val="FFFFFF"/>
                </a:solidFill>
                <a:latin typeface="Arial"/>
                <a:ea typeface="Arial"/>
                <a:cs typeface="Arial"/>
              </a:rPr>
              <a:t>Forma</a:t>
            </a:r>
          </a:p>
          <a:p>
            <a:pPr>
              <a:buNone/>
              <a:defRPr sz="2100">
                <a:solidFill>
                  <a:srgbClr val="FFFFFF"/>
                </a:solidFill>
                <a:latin typeface="Arial"/>
                <a:ea typeface="Arial"/>
                <a:cs typeface="Arial"/>
              </a:defRPr>
            </a:pPr>
            <a:r>
              <a:rPr sz="2100">
                <a:solidFill>
                  <a:srgbClr val="FFFFFF"/>
                </a:solidFill>
                <a:latin typeface="Arial"/>
                <a:ea typeface="Arial"/>
                <a:cs typeface="Arial"/>
              </a:rPr>
              <a:t>Questions and live demo</a:t>
            </a:r>
          </a:p>
        </p:txBody>
      </p:sp>
      <p:sp>
        <p:nvSpPr>
          <p:cNvPr id="6" name="Subtitle 4">
            <a:extLst>
              <a:ext uri="{FF2B5EF4-FFF2-40B4-BE49-F238E27FC236}">
                <a16:creationId xmlns:a16="http://schemas.microsoft.com/office/drawing/2014/main" id="{A94AB779-D110-4562-575A-800C929A77DB}"/>
              </a:ext>
            </a:extLst>
          </p:cNvPr>
          <p:cNvSpPr>
            <a:spLocks noGrp="1"/>
          </p:cNvSpPr>
          <p:nvPr/>
        </p:nvSpPr>
        <p:spPr>
          <a:xfrm>
            <a:off x="393700" y="392241"/>
            <a:ext cx="1612900" cy="649159"/>
          </a:xfrm>
          <a:prstGeom prst="rect">
            <a:avLst/>
          </a:prstGeom>
        </p:spPr>
        <p:txBody>
          <a:bodyPr vert="horz" lIns="0" tIns="0" rIns="0" bIns="0">
            <a:noAutofit/>
          </a:bodyPr>
          <a:lstStyle>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a:pPr>
              <a:buNone/>
              <a:defRPr sz="1800">
                <a:solidFill>
                  <a:srgbClr val="FFFFFF"/>
                </a:solidFill>
                <a:latin typeface="Arial"/>
                <a:ea typeface="Arial"/>
                <a:cs typeface="Arial"/>
              </a:defRPr>
            </a:pPr>
            <a:r>
              <a:rPr sz="1800">
                <a:solidFill>
                  <a:srgbClr val="FFFFFF"/>
                </a:solidFill>
                <a:latin typeface="Arial"/>
                <a:ea typeface="Arial"/>
                <a:cs typeface="Arial"/>
              </a:rPr>
              <a:t>Thank you</a:t>
            </a:r>
          </a:p>
        </p:txBody>
      </p:sp>
    </p:spTree>
    <p:extLst>
      <p:ext uri="{BB962C8B-B14F-4D97-AF65-F5344CB8AC3E}">
        <p14:creationId xmlns:p14="http://schemas.microsoft.com/office/powerpoint/2010/main" val="3653678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CD47D-0812-5F5E-8AA0-B4316F994F47}"/>
              </a:ext>
            </a:extLst>
          </p:cNvPr>
          <p:cNvSpPr>
            <a:spLocks noGrp="1"/>
          </p:cNvSpPr>
          <p:nvPr>
            <p:ph type="ctrTitle"/>
          </p:nvPr>
        </p:nvSpPr>
        <p:spPr>
          <a:xfrm>
            <a:off x="283563" y="1373916"/>
            <a:ext cx="7174888" cy="2491490"/>
          </a:xfrm>
        </p:spPr>
        <p:txBody>
          <a:bodyPr anchor="ctr">
            <a:noAutofit/>
          </a:bodyPr>
          <a:lstStyle/>
          <a:p>
            <a:pPr>
              <a:buNone/>
              <a:defRPr sz="6900">
                <a:solidFill>
                  <a:srgbClr val="FFFFFF"/>
                </a:solidFill>
                <a:latin typeface="Arial"/>
                <a:ea typeface="Arial"/>
                <a:cs typeface="Arial"/>
              </a:defRPr>
            </a:pPr>
            <a:r>
              <a:rPr sz="6900" dirty="0">
                <a:solidFill>
                  <a:srgbClr val="FFFFFF"/>
                </a:solidFill>
                <a:latin typeface="Arial"/>
                <a:ea typeface="Arial"/>
                <a:cs typeface="Arial"/>
              </a:rPr>
              <a:t>Forma</a:t>
            </a:r>
          </a:p>
        </p:txBody>
      </p:sp>
      <p:sp>
        <p:nvSpPr>
          <p:cNvPr id="5" name="Subtitle 4">
            <a:extLst>
              <a:ext uri="{FF2B5EF4-FFF2-40B4-BE49-F238E27FC236}">
                <a16:creationId xmlns:a16="http://schemas.microsoft.com/office/drawing/2014/main" id="{283B85AD-626B-46B7-0C36-31F5BABDE10D}"/>
              </a:ext>
            </a:extLst>
          </p:cNvPr>
          <p:cNvSpPr>
            <a:spLocks noGrp="1"/>
          </p:cNvSpPr>
          <p:nvPr>
            <p:ph type="subTitle" idx="1"/>
          </p:nvPr>
        </p:nvSpPr>
        <p:spPr>
          <a:xfrm>
            <a:off x="190741" y="3522520"/>
            <a:ext cx="4392145" cy="762000"/>
          </a:xfrm>
        </p:spPr>
        <p:txBody>
          <a:bodyPr anchor="b">
            <a:noAutofit/>
          </a:bodyPr>
          <a:lstStyle/>
          <a:p>
            <a:pPr>
              <a:buNone/>
              <a:defRPr sz="1875">
                <a:solidFill>
                  <a:srgbClr val="FFFFFF"/>
                </a:solidFill>
                <a:latin typeface="Arial"/>
                <a:ea typeface="Arial"/>
                <a:cs typeface="Arial"/>
              </a:defRPr>
            </a:pPr>
            <a:r>
              <a:rPr sz="1875" dirty="0">
                <a:solidFill>
                  <a:srgbClr val="FFFFFF"/>
                </a:solidFill>
                <a:latin typeface="Arial"/>
                <a:ea typeface="Arial"/>
                <a:cs typeface="Arial"/>
              </a:rPr>
              <a:t>Visual compliance review for building model data</a:t>
            </a:r>
          </a:p>
          <a:p>
            <a:pPr>
              <a:buNone/>
              <a:defRPr sz="1875">
                <a:solidFill>
                  <a:srgbClr val="FFFFFF"/>
                </a:solidFill>
                <a:latin typeface="Arial"/>
                <a:ea typeface="Arial"/>
                <a:cs typeface="Arial"/>
              </a:defRPr>
            </a:pPr>
            <a:r>
              <a:rPr sz="1875" dirty="0">
                <a:solidFill>
                  <a:srgbClr val="FFFFFF"/>
                </a:solidFill>
                <a:latin typeface="Arial"/>
                <a:ea typeface="Arial"/>
                <a:cs typeface="Arial"/>
              </a:rPr>
              <a:t>Use cases, pain points, and the solution</a:t>
            </a:r>
          </a:p>
        </p:txBody>
      </p:sp>
      <p:sp>
        <p:nvSpPr>
          <p:cNvPr id="6" name="Subtitle 4">
            <a:extLst>
              <a:ext uri="{FF2B5EF4-FFF2-40B4-BE49-F238E27FC236}">
                <a16:creationId xmlns:a16="http://schemas.microsoft.com/office/drawing/2014/main" id="{543BAB87-2ABE-9D84-8400-3B5ABA08B3C2}"/>
              </a:ext>
            </a:extLst>
          </p:cNvPr>
          <p:cNvSpPr>
            <a:spLocks noGrp="1"/>
          </p:cNvSpPr>
          <p:nvPr/>
        </p:nvSpPr>
        <p:spPr>
          <a:xfrm>
            <a:off x="720534" y="275915"/>
            <a:ext cx="5702300" cy="649159"/>
          </a:xfrm>
          <a:prstGeom prst="rect">
            <a:avLst/>
          </a:prstGeom>
        </p:spPr>
        <p:txBody>
          <a:bodyPr vert="horz" lIns="0" tIns="0" rIns="0" bIns="0">
            <a:noAutofit/>
          </a:bodyPr>
          <a:lstStyle>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a:pPr>
              <a:defRPr sz="1800">
                <a:solidFill>
                  <a:srgbClr val="FFFFFF"/>
                </a:solidFill>
                <a:latin typeface="Arial"/>
                <a:ea typeface="Arial"/>
                <a:cs typeface="Arial"/>
              </a:defRPr>
            </a:pPr>
            <a:r>
              <a:rPr lang="en-US" sz="1800" dirty="0">
                <a:solidFill>
                  <a:srgbClr val="FFFFFF"/>
                </a:solidFill>
                <a:latin typeface="Arial"/>
                <a:ea typeface="Arial"/>
                <a:cs typeface="Arial"/>
              </a:rPr>
              <a:t>Open AI Developer - Hackathon </a:t>
            </a:r>
            <a:endParaRPr sz="1800" dirty="0">
              <a:solidFill>
                <a:srgbClr val="FFFFFF"/>
              </a:solidFill>
              <a:latin typeface="Arial"/>
              <a:ea typeface="Arial"/>
              <a:cs typeface="Arial"/>
            </a:endParaRPr>
          </a:p>
        </p:txBody>
      </p:sp>
      <p:sp>
        <p:nvSpPr>
          <p:cNvPr id="8" name="Rectangle 7">
            <a:extLst>
              <a:ext uri="{FF2B5EF4-FFF2-40B4-BE49-F238E27FC236}">
                <a16:creationId xmlns:a16="http://schemas.microsoft.com/office/drawing/2014/main" id="{EE6F4757-463F-4F53-ABF0-1AEEE1A13DCC}"/>
              </a:ext>
            </a:extLst>
          </p:cNvPr>
          <p:cNvSpPr>
            <a:spLocks noGrp="1"/>
          </p:cNvSpPr>
          <p:nvPr/>
        </p:nvSpPr>
        <p:spPr>
          <a:xfrm>
            <a:off x="190741" y="4984021"/>
            <a:ext cx="7096125" cy="1000125"/>
          </a:xfrm>
          <a:prstGeom prst="rect">
            <a:avLst/>
          </a:prstGeom>
          <a:noFill/>
          <a:ln w="0">
            <a:noFill/>
          </a:ln>
        </p:spPr>
        <p:txBody>
          <a:bodyPr>
            <a:noAutofit/>
          </a:bodyPr>
          <a:lstStyle/>
          <a:p>
            <a:pPr>
              <a:buNone/>
              <a:defRPr sz="1800">
                <a:solidFill>
                  <a:srgbClr val="FFFFFF"/>
                </a:solidFill>
                <a:latin typeface="Arial"/>
                <a:ea typeface="Arial"/>
                <a:cs typeface="Arial"/>
              </a:defRPr>
            </a:pPr>
            <a:r>
              <a:rPr sz="1800" dirty="0">
                <a:solidFill>
                  <a:srgbClr val="FFFFFF"/>
                </a:solidFill>
                <a:latin typeface="Arial"/>
                <a:ea typeface="Arial"/>
                <a:cs typeface="Arial"/>
              </a:rPr>
              <a:t>Chuong Ho  ·  </a:t>
            </a:r>
            <a:r>
              <a:rPr sz="1800" dirty="0" err="1">
                <a:solidFill>
                  <a:srgbClr val="FFFFFF"/>
                </a:solidFill>
                <a:latin typeface="Arial"/>
                <a:ea typeface="Arial"/>
                <a:cs typeface="Arial"/>
              </a:rPr>
              <a:t>chuongpqvn@gmail.com</a:t>
            </a:r>
            <a:endParaRPr sz="1800" dirty="0">
              <a:solidFill>
                <a:srgbClr val="FFFFFF"/>
              </a:solidFill>
              <a:latin typeface="Arial"/>
              <a:ea typeface="Arial"/>
              <a:cs typeface="Arial"/>
            </a:endParaRPr>
          </a:p>
          <a:p>
            <a:pPr>
              <a:buNone/>
              <a:defRPr sz="1800">
                <a:solidFill>
                  <a:srgbClr val="FFFFFF"/>
                </a:solidFill>
                <a:latin typeface="Arial"/>
                <a:ea typeface="Arial"/>
                <a:cs typeface="Arial"/>
              </a:defRPr>
            </a:pPr>
            <a:r>
              <a:rPr sz="1800" dirty="0" err="1">
                <a:solidFill>
                  <a:srgbClr val="FFFFFF"/>
                </a:solidFill>
                <a:latin typeface="Arial"/>
                <a:ea typeface="Arial"/>
                <a:cs typeface="Arial"/>
              </a:rPr>
              <a:t>Wonseok</a:t>
            </a:r>
            <a:r>
              <a:rPr sz="1800" dirty="0">
                <a:solidFill>
                  <a:srgbClr val="FFFFFF"/>
                </a:solidFill>
                <a:latin typeface="Arial"/>
                <a:ea typeface="Arial"/>
                <a:cs typeface="Arial"/>
              </a:rPr>
              <a:t>  ·  </a:t>
            </a:r>
            <a:r>
              <a:rPr sz="1800" dirty="0" err="1">
                <a:solidFill>
                  <a:srgbClr val="FFFFFF"/>
                </a:solidFill>
                <a:latin typeface="Arial"/>
                <a:ea typeface="Arial"/>
                <a:cs typeface="Arial"/>
              </a:rPr>
              <a:t>wonseoklee.dev@gmail.com</a:t>
            </a:r>
            <a:endParaRPr sz="1800" dirty="0">
              <a:solidFill>
                <a:srgbClr val="FFFFFF"/>
              </a:solidFill>
              <a:latin typeface="Arial"/>
              <a:ea typeface="Arial"/>
              <a:cs typeface="Arial"/>
            </a:endParaRPr>
          </a:p>
        </p:txBody>
      </p:sp>
      <p:pic>
        <p:nvPicPr>
          <p:cNvPr id="2" name="Picture 3">
            <a:extLst>
              <a:ext uri="{FF2B5EF4-FFF2-40B4-BE49-F238E27FC236}">
                <a16:creationId xmlns:a16="http://schemas.microsoft.com/office/drawing/2014/main" id="{F785FE3A-19EB-58BB-23FE-E52E43364B6B}"/>
              </a:ext>
            </a:extLst>
          </p:cNvPr>
          <p:cNvPicPr>
            <a:picLocks noChangeAspect="1"/>
          </p:cNvPicPr>
          <p:nvPr/>
        </p:nvPicPr>
        <p:blipFill>
          <a:blip r:embed="rId3"/>
          <a:stretch/>
        </p:blipFill>
        <p:spPr>
          <a:xfrm>
            <a:off x="5525728" y="571215"/>
            <a:ext cx="6382709" cy="5641538"/>
          </a:xfrm>
          <a:prstGeom prst="roundRect">
            <a:avLst>
              <a:gd name="adj" fmla="val 1361"/>
            </a:avLst>
          </a:prstGeom>
        </p:spPr>
      </p:pic>
      <p:pic>
        <p:nvPicPr>
          <p:cNvPr id="9" name="Picture 8" descr="OpenAI (ChatGPT) Free SVG, PNG, and ... · LobeHub">
            <a:extLst>
              <a:ext uri="{FF2B5EF4-FFF2-40B4-BE49-F238E27FC236}">
                <a16:creationId xmlns:a16="http://schemas.microsoft.com/office/drawing/2014/main" id="{20AC51AF-C04A-616F-D364-C2ECF05D28F6}"/>
              </a:ext>
            </a:extLst>
          </p:cNvPr>
          <p:cNvPicPr>
            <a:picLocks noChangeAspect="1"/>
          </p:cNvPicPr>
          <p:nvPr/>
        </p:nvPicPr>
        <p:blipFill>
          <a:blip r:embed="rId4"/>
          <a:stretch>
            <a:fillRect/>
          </a:stretch>
        </p:blipFill>
        <p:spPr>
          <a:xfrm>
            <a:off x="190741" y="162798"/>
            <a:ext cx="439972" cy="439972"/>
          </a:xfrm>
          <a:prstGeom prst="rect">
            <a:avLst/>
          </a:prstGeom>
        </p:spPr>
      </p:pic>
      <p:sp>
        <p:nvSpPr>
          <p:cNvPr id="10" name="TextBox 9">
            <a:extLst>
              <a:ext uri="{FF2B5EF4-FFF2-40B4-BE49-F238E27FC236}">
                <a16:creationId xmlns:a16="http://schemas.microsoft.com/office/drawing/2014/main" id="{33F33E85-1B8E-732D-7EF4-80C526E978C7}"/>
              </a:ext>
            </a:extLst>
          </p:cNvPr>
          <p:cNvSpPr txBox="1"/>
          <p:nvPr/>
        </p:nvSpPr>
        <p:spPr>
          <a:xfrm>
            <a:off x="190741" y="6212753"/>
            <a:ext cx="3820351" cy="369332"/>
          </a:xfrm>
          <a:prstGeom prst="rect">
            <a:avLst/>
          </a:prstGeom>
          <a:noFill/>
        </p:spPr>
        <p:txBody>
          <a:bodyPr wrap="square" rtlCol="0">
            <a:spAutoFit/>
          </a:bodyPr>
          <a:lstStyle/>
          <a:p>
            <a:r>
              <a:rPr lang="en-US" dirty="0"/>
              <a:t>13/09/2026</a:t>
            </a:r>
          </a:p>
        </p:txBody>
      </p:sp>
    </p:spTree>
    <p:extLst>
      <p:ext uri="{BB962C8B-B14F-4D97-AF65-F5344CB8AC3E}">
        <p14:creationId xmlns:p14="http://schemas.microsoft.com/office/powerpoint/2010/main" val="3258783314"/>
      </p:ext>
    </p:extLst>
  </p:cSld>
  <p:clrMapOvr>
    <a:masterClrMapping/>
  </p:clrMapOvr>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1152</Words>
  <Application>Microsoft Macintosh PowerPoint</Application>
  <DocSecurity>0</DocSecurity>
  <PresentationFormat>Widescreen</PresentationFormat>
  <Paragraphs>137</Paragraphs>
  <Slides>15</Slides>
  <Notes>13</Notes>
  <HiddenSlides>2</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Helvetica Neue</vt:lpstr>
      <vt:lpstr>Default Codex Theme</vt:lpstr>
      <vt:lpstr>PowerPoint Presentation</vt:lpstr>
      <vt:lpstr>PowerPoint Presentation</vt:lpstr>
      <vt:lpstr>Live demo sequence</vt:lpstr>
      <vt:lpstr>DEMO</vt:lpstr>
      <vt:lpstr>DEMO</vt:lpstr>
      <vt:lpstr>PowerPoint Presentation</vt:lpstr>
      <vt:lpstr>PowerPoint Presentation</vt:lpstr>
      <vt:lpstr>The problem: model data is hard to verify</vt:lpstr>
      <vt:lpstr>PowerPoint Presentation</vt:lpstr>
      <vt:lpstr>The current workspace</vt:lpstr>
      <vt:lpstr>The solution: check each object in context</vt:lpstr>
      <vt:lpstr>Astra capabilities planned for Forma</vt:lpstr>
      <vt:lpstr>Prototype status and next steps</vt:lpstr>
      <vt:lpstr>Clearer model data for construction teams</vt:lpstr>
      <vt:lpstr>Forma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Ho, Van Chuong</cp:lastModifiedBy>
  <cp:revision>13</cp:revision>
  <dcterms:created xsi:type="dcterms:W3CDTF">2026-09-13T06:11:05Z</dcterms:created>
  <dcterms:modified xsi:type="dcterms:W3CDTF">2026-09-13T07:15:22Z</dcterms:modified>
</cp:coreProperties>
</file>