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3f7f5ad58d41bd" /><Relationship Type="http://schemas.openxmlformats.org/officeDocument/2006/relationships/extended-properties" Target="/docProps/app.xml" Id="Readb29992eab4a77" /><Relationship Type="http://schemas.openxmlformats.org/officeDocument/2006/relationships/officeDocument" Target="/ppt/presentation.xml" Id="R437ac89179c941af" /></Relationships>
</file>

<file path=ppt/presentation.xml><?xml version="1.0" encoding="utf-8"?>
<p:presentation xmlns:p="http://schemas.openxmlformats.org/presentationml/2006/main">
  <p:sldMasterIdLst>
    <p:sldMasterId xmlns:r="http://schemas.openxmlformats.org/officeDocument/2006/relationships" id="2147483648" r:id="R31056c7860ba4fa7"/>
  </p:sldMasterIdLst>
  <p:notesMasterIdLst>
    <p:notesMasterId xmlns:r="http://schemas.openxmlformats.org/officeDocument/2006/relationships" r:id="Ra06514009eae477e"/>
  </p:notesMasterIdLst>
  <p:sldIdLst>
    <p:sldId xmlns:r="http://schemas.openxmlformats.org/officeDocument/2006/relationships" id="256" r:id="R525fd5f82eba4bc1"/>
    <p:sldId xmlns:r="http://schemas.openxmlformats.org/officeDocument/2006/relationships" id="257" r:id="R37351ce7542f44cc"/>
    <p:sldId xmlns:r="http://schemas.openxmlformats.org/officeDocument/2006/relationships" id="258" r:id="R8007f2a7e9f14b59"/>
    <p:sldId xmlns:r="http://schemas.openxmlformats.org/officeDocument/2006/relationships" id="259" r:id="R4f26a2d1b5274aaa"/>
    <p:sldId xmlns:r="http://schemas.openxmlformats.org/officeDocument/2006/relationships" id="260" r:id="Rd86198b338a3449e"/>
    <p:sldId xmlns:r="http://schemas.openxmlformats.org/officeDocument/2006/relationships" id="261" r:id="R1c947e6fdedd4fce"/>
    <p:sldId xmlns:r="http://schemas.openxmlformats.org/officeDocument/2006/relationships" id="262" r:id="R34411c5ecb024349"/>
    <p:sldId xmlns:r="http://schemas.openxmlformats.org/officeDocument/2006/relationships" id="263" r:id="Rc7129adb9b054234"/>
    <p:sldId xmlns:r="http://schemas.openxmlformats.org/officeDocument/2006/relationships" id="264" r:id="R2e676380384643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855382ae6964c9c" /><Relationship Type="http://schemas.openxmlformats.org/officeDocument/2006/relationships/slideMaster" Target="/ppt/slideMasters/slideMaster1.xml" Id="R31056c7860ba4fa7" /><Relationship Type="http://schemas.openxmlformats.org/officeDocument/2006/relationships/notesMaster" Target="/ppt/notesMasters/notesMaster1.xml" Id="Ra06514009eae477e" /><Relationship Type="http://schemas.openxmlformats.org/officeDocument/2006/relationships/presProps" Target="/ppt/presProps.xml" Id="R87bef53c711741d9" /><Relationship Type="http://schemas.openxmlformats.org/officeDocument/2006/relationships/viewProps" Target="/ppt/viewProps.xml" Id="R1c7d8aed94c44703" /><Relationship Type="http://schemas.openxmlformats.org/officeDocument/2006/relationships/tableStyles" Target="/ppt/tableStyles.xml" Id="Ra67bcb71fd4449a1" /><Relationship Type="http://schemas.openxmlformats.org/officeDocument/2006/relationships/slide" Target="/ppt/slides/slide1.xml" Id="R525fd5f82eba4bc1" /><Relationship Type="http://schemas.openxmlformats.org/officeDocument/2006/relationships/slide" Target="/ppt/slides/slide2.xml" Id="R37351ce7542f44cc" /><Relationship Type="http://schemas.openxmlformats.org/officeDocument/2006/relationships/slide" Target="/ppt/slides/slide3.xml" Id="R8007f2a7e9f14b59" /><Relationship Type="http://schemas.openxmlformats.org/officeDocument/2006/relationships/slide" Target="/ppt/slides/slide4.xml" Id="R4f26a2d1b5274aaa" /><Relationship Type="http://schemas.openxmlformats.org/officeDocument/2006/relationships/slide" Target="/ppt/slides/slide5.xml" Id="Rd86198b338a3449e" /><Relationship Type="http://schemas.openxmlformats.org/officeDocument/2006/relationships/slide" Target="/ppt/slides/slide6.xml" Id="R1c947e6fdedd4fce" /><Relationship Type="http://schemas.openxmlformats.org/officeDocument/2006/relationships/slide" Target="/ppt/slides/slide7.xml" Id="R34411c5ecb024349" /><Relationship Type="http://schemas.openxmlformats.org/officeDocument/2006/relationships/slide" Target="/ppt/slides/slide8.xml" Id="Rc7129adb9b054234" /><Relationship Type="http://schemas.openxmlformats.org/officeDocument/2006/relationships/slide" Target="/ppt/slides/slide9.xml" Id="R2e676380384643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ee61fdc05549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60a2cc3cdd4864" /><Relationship Type="http://schemas.openxmlformats.org/officeDocument/2006/relationships/notesMaster" Target="/ppt/notesMasters/notesMaster1.xml" Id="R74fccf0ae6ca4f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69025df9f64893" /><Relationship Type="http://schemas.openxmlformats.org/officeDocument/2006/relationships/notesMaster" Target="/ppt/notesMasters/notesMaster1.xml" Id="R5e2f47dec5484b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a2e55ee8e04ea8" /><Relationship Type="http://schemas.openxmlformats.org/officeDocument/2006/relationships/notesMaster" Target="/ppt/notesMasters/notesMaster1.xml" Id="R3f0bb595d62840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def391000c493b" /><Relationship Type="http://schemas.openxmlformats.org/officeDocument/2006/relationships/notesMaster" Target="/ppt/notesMasters/notesMaster1.xml" Id="R28616d46562340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c98ed0bc2c4686" /><Relationship Type="http://schemas.openxmlformats.org/officeDocument/2006/relationships/notesMaster" Target="/ppt/notesMasters/notesMaster1.xml" Id="Rc64679f4871549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13d6d0f6954f34" /><Relationship Type="http://schemas.openxmlformats.org/officeDocument/2006/relationships/notesMaster" Target="/ppt/notesMasters/notesMaster1.xml" Id="Re8844d6298d245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0997073d2d4029" /><Relationship Type="http://schemas.openxmlformats.org/officeDocument/2006/relationships/notesMaster" Target="/ppt/notesMasters/notesMaster1.xml" Id="R6c8e24103bc14c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cae5a739814185" /><Relationship Type="http://schemas.openxmlformats.org/officeDocument/2006/relationships/notesMaster" Target="/ppt/notesMasters/notesMaster1.xml" Id="R576e7dee87e345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e304568f7f4bc2" /><Relationship Type="http://schemas.openxmlformats.org/officeDocument/2006/relationships/notesMaster" Target="/ppt/notesMasters/notesMaster1.xml" Id="R7c2b4a55366d4a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Astra-IFC-Complience helps modeling and cost estimation teams inspect building model entities and review the data behind them. We aim to combine model conversation with standards-based mapping and compliance review. Preserve the project name as supplied. Sources: user project brief. Cover photo retained from the chosen Simple Dark Mode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Problem, 25 seconds: Focus on the handoff between modelers and estimators. The goal is to make it easier to establish what an element is and whether its data is suitable for downstream work. Do not claim measured time or cost savings. Sources: user brief; frontend/src/lib/model.ts; frontend/src/App.tsx.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Product, 30 seconds: The application currently uses the Forma name in its interface. Show that the tree, geometry, and sheet refer to the same element. Zoom and isolate help investigate it. Source: actual screenshot captured from localhost on 13 September 2026; frontend/src/App.tsx; frontend/src/lib/viewer.ts. 483 elements appeared in the sample during this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workflow, 30 seconds: Describe this as the planned AI mapping workflow. The repository contains assets/ASTM-UniFormat.xlsx, but the current frontend does not implement standard ingestion, AI classification updates, or model write-back. A classification mapping is not itself proof of regulatory compliance. Compliance conclusions need the applicable requirement and supporting property evidence. Sources: user brief; assets/ASTM-UniFormat.xlsx;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Astra, 30 seconds: These correspond to the requested categories: Best use of GPT-Live-1, Best example of Visual Understanding, and Best use of Agents API. This slide describes intended use, not award wins. The repository has browser tool registration, but it does not establish a direct GPT-Live-1 or Agents API connection. Built-in chat uses mock responses and browser speech. If a separate external Astra session is used for judging, demonstrate that session. Sources: frontend/src/lib/webmcp.ts; frontend/src/components/ChatPanel.tsx; frontend/src/mock-api/index.ts; frontend/README.md.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approximately 90 seconds: Open Sample model. Select a wall from the model tree. Inspect its properties. Ask Tell me about the selected element. Type Isolate selected element to demonstrate the local command. Restore with Show all. Use Draft an issue, enter a meaningful title, review it, and save. Reopen the saved issue to restore its viewpoint. Filter the sheet and choose Export .xlsx. General chat answers are mocked, so do not present them as live Astra reasoning. Sources: frontend/src/lib/review.ts; frontend/src/components/ChatPanel.tsx;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Status, 25 seconds: The review tool layer exposes ten tools. It registers when the browser provides modelContext and otherwise falls back to local tools. Measurement returns approximate world-axis bounding boxes in metres, not exact quantities for estimating. Review issues persist in browser local storage. Next work includes live model integration, standard-backed reasoning, and approved mapping persistence. Sources: frontend/src/lib/webmcp.ts; frontend/src/lib/review.ts; frontend/README.md.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35 seconds. Compare the same construction model review scope with and without the app. Manual workflow is an illustrative baseline, not a measured industry benchmark. The app supports linked object inspection, local issues with saved viewpoints, and filtered XLSX export. Example assumptions: manual review 8 hours, app-assisted review 4 hours including human verification, and US$50 per staff-hour. Calculation: (8 - 4) = 4 hours saved; 4 / 8 = 50% reduction; 8 × 50 = US$400 manual labor; 4 × 50 = US$200 app-assisted labor; gross labor savings US$200 per review. These are scenario values, not actual measured product performance or guaranteed savings. Net savings would subtract software, AI, setup and training costs. This is review labor cost, not a reduction in construction materials or total project cost. Potential benefits include less copying, easier verification and traceable review context. No quantified rework, error-rate or construction-cost reduction is established. Automated standards mapping and live AI integration remain planned as described earlier. Sources: user request; frontend/src/App.tsx; frontend/src/lib/model.ts; frontend/src/lib/review.ts. Validate with timed manual and app-assisted reviews of the same model and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15 seconds: Our focus is helping modelers and estimators inspect the same objects and review the same evidence. Invite questions about the live model, tool actions, and standards mapping workflow. Source: user project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4798964a224f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113f67089b4c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c9043f5ee341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1006c527144c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082cef5d9046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0827f11b9740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5c478d45da460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31ea3af62a45f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1b909a83d94de8" /><Relationship Type="http://schemas.openxmlformats.org/officeDocument/2006/relationships/slideLayout" Target="/ppt/slideLayouts/slideLayout1.xml" Id="Rb1e3bb7fa91a4083" /><Relationship Type="http://schemas.openxmlformats.org/officeDocument/2006/relationships/slideLayout" Target="/ppt/slideLayouts/slideLayout2.xml" Id="R689bbcbd07dc4386" /><Relationship Type="http://schemas.openxmlformats.org/officeDocument/2006/relationships/slideLayout" Target="/ppt/slideLayouts/slideLayout3.xml" Id="R5c5a050201a84020" /><Relationship Type="http://schemas.openxmlformats.org/officeDocument/2006/relationships/slideLayout" Target="/ppt/slideLayouts/slideLayout4.xml" Id="R71fbb55b6fe94274" /><Relationship Type="http://schemas.openxmlformats.org/officeDocument/2006/relationships/slideLayout" Target="/ppt/slideLayouts/slideLayout5.xml" Id="R6246b2cba823471d" /><Relationship Type="http://schemas.openxmlformats.org/officeDocument/2006/relationships/slideLayout" Target="/ppt/slideLayouts/slideLayout6.xml" Id="R477a83f248ad4e06" /><Relationship Type="http://schemas.openxmlformats.org/officeDocument/2006/relationships/slideLayout" Target="/ppt/slideLayouts/slideLayout7.xml" Id="R2b23458df6d64879" /><Relationship Type="http://schemas.openxmlformats.org/officeDocument/2006/relationships/slideLayout" Target="/ppt/slideLayouts/slideLayout8.xml" Id="Rf00d4e8bb24b4f1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1e3bb7fa91a4083"/>
    <p:sldLayoutId xmlns:r="http://schemas.openxmlformats.org/officeDocument/2006/relationships" id="2147483650" r:id="R689bbcbd07dc4386"/>
    <p:sldLayoutId xmlns:r="http://schemas.openxmlformats.org/officeDocument/2006/relationships" id="2147483651" r:id="R5c5a050201a84020"/>
    <p:sldLayoutId xmlns:r="http://schemas.openxmlformats.org/officeDocument/2006/relationships" id="2147483652" r:id="R71fbb55b6fe94274"/>
    <p:sldLayoutId xmlns:r="http://schemas.openxmlformats.org/officeDocument/2006/relationships" id="2147483653" r:id="R6246b2cba823471d"/>
    <p:sldLayoutId xmlns:r="http://schemas.openxmlformats.org/officeDocument/2006/relationships" id="2147483654" r:id="R477a83f248ad4e06"/>
    <p:sldLayoutId xmlns:r="http://schemas.openxmlformats.org/officeDocument/2006/relationships" id="2147483655" r:id="R2b23458df6d64879"/>
    <p:sldLayoutId xmlns:r="http://schemas.openxmlformats.org/officeDocument/2006/relationships" id="2147483656" r:id="Rf00d4e8bb24b4f1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aab3506f6e44f7" /><Relationship Type="http://schemas.openxmlformats.org/officeDocument/2006/relationships/image" Target="/ppt/media/image.png" Id="R3c88d7d18fe942d1" /><Relationship Type="http://schemas.openxmlformats.org/officeDocument/2006/relationships/notesSlide" Target="/ppt/notesSlides/notesSlide1.xml" Id="R2cfb138099f14b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f1b89985cb40bb" /><Relationship Type="http://schemas.openxmlformats.org/officeDocument/2006/relationships/notesSlide" Target="/ppt/notesSlides/notesSlide2.xml" Id="Rb16ac83a6fe2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2c3e33227949fe" /><Relationship Type="http://schemas.openxmlformats.org/officeDocument/2006/relationships/image" Target="/ppt/media/image.jpeg" Id="R49895de0163c47e5" /><Relationship Type="http://schemas.openxmlformats.org/officeDocument/2006/relationships/notesSlide" Target="/ppt/notesSlides/notesSlide3.xml" Id="R61262ff3297f45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5f69ebcbfc4c72" /><Relationship Type="http://schemas.openxmlformats.org/officeDocument/2006/relationships/notesSlide" Target="/ppt/notesSlides/notesSlide4.xml" Id="R8c037bf7182345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c581aa97694399" /><Relationship Type="http://schemas.openxmlformats.org/officeDocument/2006/relationships/notesSlide" Target="/ppt/notesSlides/notesSlide5.xml" Id="R243a733806764c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68bafeec2c47f2" /><Relationship Type="http://schemas.openxmlformats.org/officeDocument/2006/relationships/notesSlide" Target="/ppt/notesSlides/notesSlide6.xml" Id="R4b0aae70a25343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e72ff874f24c8e" /><Relationship Type="http://schemas.openxmlformats.org/officeDocument/2006/relationships/notesSlide" Target="/ppt/notesSlides/notesSlide7.xml" Id="Rcfb4dc4104164d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7aebd350e74a91" /><Relationship Type="http://schemas.openxmlformats.org/officeDocument/2006/relationships/notesSlide" Target="/ppt/notesSlides/notesSlide8.xml" Id="R2eccc0d1c3194b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d987dc5e54422d" /><Relationship Type="http://schemas.openxmlformats.org/officeDocument/2006/relationships/notesSlide" Target="/ppt/notesSlides/notesSlide9.xml" Id="Rb598ece15c814f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283563" y="1373916"/>
            <a:ext cx="7174888" cy="2491490"/>
          </a:xfrm>
        </p:spPr>
        <p:txBody>
          <a:bodyPr xmlns:a="http://schemas.openxmlformats.org/drawingml/2006/main" anchor="ctr">
            <a:noAutofit/>
          </a:bodyPr>
          <a:lstStyle xmlns:a="http://schemas.openxmlformats.org/drawingml/2006/main"/>
          <a:p xmlns:a="http://schemas.openxmlformats.org/drawingml/2006/main">
            <a:pPr>
              <a:buNone/>
              <a:defRPr sz="5700">
                <a:solidFill>
                  <a:srgbClr val="FFFFFF"/>
                </a:solidFill>
                <a:latin typeface="Arial"/>
                <a:ea typeface="Arial"/>
                <a:cs typeface="Arial"/>
              </a:defRPr>
            </a:pPr>
            <a:r>
              <a:rPr sz="5700">
                <a:solidFill>
                  <a:srgbClr val="FFFFFF"/>
                </a:solidFill>
                <a:latin typeface="Arial"/>
                <a:ea typeface="Arial"/>
                <a:cs typeface="Arial"/>
              </a:rPr>
              <a:t>Astra-IFC-</a:t>
            </a:r>
          </a:p>
          <a:p xmlns:a="http://schemas.openxmlformats.org/drawingml/2006/main">
            <a:pPr>
              <a:buNone/>
              <a:defRPr sz="5700">
                <a:solidFill>
                  <a:srgbClr val="FFFFFF"/>
                </a:solidFill>
                <a:latin typeface="Arial"/>
                <a:ea typeface="Arial"/>
                <a:cs typeface="Arial"/>
              </a:defRPr>
            </a:pPr>
            <a:r>
              <a:rPr sz="5700">
                <a:solidFill>
                  <a:srgbClr val="FFFFFF"/>
                </a:solidFill>
                <a:latin typeface="Arial"/>
                <a:ea typeface="Arial"/>
                <a:cs typeface="Arial"/>
              </a:rPr>
              <a:t>Compliance</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283563" y="4366340"/>
            <a:ext cx="6910483" cy="762000"/>
          </a:xfrm>
        </p:spPr>
        <p:txBody>
          <a:bodyPr xmlns:a="http://schemas.openxmlformats.org/drawingml/2006/main" anchor="b">
            <a:noAutofit/>
          </a:bodyPr>
          <a:lstStyle xmlns:a="http://schemas.openxmlformats.org/drawingml/2006/main"/>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AI-assisted model review</a:t>
            </a:r>
          </a:p>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For modeling and cost estimation teams</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Hackathon project demo</a:t>
            </a:r>
          </a:p>
        </p:txBody>
      </p:sp>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3c88d7d18fe942d1"/>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EE6F4757-463F-4F53-ABF0-1AEEE1A13DCC}"/>
              </a:ext>
            </a:extLst>
          </p:cNvPr>
          <p:cNvSpPr>
            <a:spLocks xmlns:a="http://schemas.openxmlformats.org/drawingml/2006/main" noGrp="1"/>
          </p:cNvSpPr>
          <p:nvPr/>
        </p:nvSpPr>
        <p:spPr>
          <a:xfrm xmlns:a="http://schemas.openxmlformats.org/drawingml/2006/main">
            <a:off x="190741" y="5465634"/>
            <a:ext cx="709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Chuong Ho  ·  </a:t>
            </a:r>
            <a:r>
              <a:rPr sz="1800">
                <a:solidFill>
                  <a:srgbClr val="FFFFFF"/>
                </a:solidFill>
                <a:latin typeface="Arial"/>
                <a:ea typeface="Arial"/>
                <a:cs typeface="Arial"/>
              </a:rPr>
              <a:t>Chuongpvn@gmail.com</a:t>
            </a:r>
            <a:endParaRPr sz="1800">
              <a:solidFill>
                <a:srgbClr val="FFFFFF"/>
              </a:solidFill>
              <a:latin typeface="Arial"/>
              <a:ea typeface="Arial"/>
              <a:cs typeface="Arial"/>
            </a:endParaRPr>
          </a:p>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Wonseok</a:t>
            </a:r>
            <a:r>
              <a:rPr sz="1800">
                <a:solidFill>
                  <a:srgbClr val="FFFFFF"/>
                </a:solidFill>
                <a:latin typeface="Arial"/>
                <a:ea typeface="Arial"/>
                <a:cs typeface="Arial"/>
              </a:rPr>
              <a:t>  ·  </a:t>
            </a:r>
            <a:r>
              <a:rPr sz="1800">
                <a:solidFill>
                  <a:srgbClr val="FFFFFF"/>
                </a:solidFill>
                <a:latin typeface="Arial"/>
                <a:ea typeface="Arial"/>
                <a:cs typeface="Arial"/>
              </a:rPr>
              <a:t>wonseoklee.dev@gmail.com</a:t>
            </a:r>
            <a:endParaRPr sz="1800">
              <a:solidFill>
                <a:srgbClr val="FFFFFF"/>
              </a:solidFill>
              <a:latin typeface="Arial"/>
              <a:ea typeface="Arial"/>
              <a:cs typeface="Arial"/>
            </a:endParaRP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Model data review before estimation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Modeling teams</a:t>
            </a:r>
          </a:p>
          <a:p xmlns:a="http://schemas.openxmlformats.org/drawingml/2006/main">
            <a:pPr marL="0" indent="0">
              <a:lnSpc>
                <a:spcPct val="114000"/>
              </a:lnSpc>
              <a:spcBef>
                <a:spcPts val="0"/>
              </a:spcBef>
              <a:spcAft>
                <a:spcPts val="800"/>
              </a:spcAft>
              <a:buFont typeface="Arial"/>
              <a:buNone/>
            </a:pP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Check an object’s identity and properties in its 3D context.</a:t>
            </a:r>
          </a:p>
          <a:p xmlns:a="http://schemas.openxmlformats.org/drawingml/2006/main">
            <a:pPr marL="0" indent="0">
              <a:lnSpc>
                <a:spcPct val="114000"/>
              </a:lnSpc>
              <a:spcBef>
                <a:spcPts val="0"/>
              </a:spcBef>
              <a:spcAft>
                <a:spcPts val="800"/>
              </a:spcAft>
              <a:buFont typeface="Arial"/>
              <a:buNone/>
            </a:pP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Resolve missing or inconsistent information before handing the model to estimators.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Cost estimation teams</a:t>
            </a:r>
          </a:p>
          <a:p xmlns:a="http://schemas.openxmlformats.org/drawingml/2006/main">
            <a:pPr marL="0" indent="0">
              <a:lnSpc>
                <a:spcPct val="114000"/>
              </a:lnSpc>
              <a:spcBef>
                <a:spcPts val="0"/>
              </a:spcBef>
              <a:spcAft>
                <a:spcPts val="800"/>
              </a:spcAft>
              <a:buNone/>
            </a:pP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Review which elements belong in the estimate.</a:t>
            </a:r>
          </a:p>
          <a:p xmlns:a="http://schemas.openxmlformats.org/drawingml/2006/main">
            <a:pPr marL="0" indent="0">
              <a:lnSpc>
                <a:spcPct val="114000"/>
              </a:lnSpc>
              <a:spcBef>
                <a:spcPts val="0"/>
              </a:spcBef>
              <a:spcAft>
                <a:spcPts val="800"/>
              </a:spcAft>
              <a:buNone/>
            </a:pP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Inspect classifications and export the filtered element list for further work.</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23875"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202359C0-8A7A-196E-DD58-8E6569619F09}" type="slidenum">
              <a:rPr sz="1200">
                <a:solidFill>
                  <a:srgbClr val="FFFFFF"/>
                </a:solidFill>
                <a:latin typeface="Arial"/>
                <a:ea typeface="Arial"/>
                <a:cs typeface="Arial"/>
              </a:rPr>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0525" y="342900"/>
            <a:ext cx="5524500" cy="10477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300">
                <a:solidFill>
                  <a:srgbClr val="FFFFFF"/>
                </a:solidFill>
                <a:latin typeface="Arial"/>
                <a:ea typeface="Arial"/>
                <a:cs typeface="Arial"/>
              </a:defRPr>
            </a:pPr>
            <a:r>
              <a:rPr sz="3300">
                <a:solidFill>
                  <a:srgbClr val="FFFFFF"/>
                </a:solidFill>
                <a:latin typeface="Arial"/>
                <a:ea typeface="Arial"/>
                <a:cs typeface="Arial"/>
              </a:rPr>
              <a:t>The current workspace</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49895de0163c47e5"/>
          <a:stretch xmlns:a="http://schemas.openxmlformats.org/drawingml/2006/main"/>
        </p:blipFill>
        <p:spPr>
          <a:xfrm xmlns:a="http://schemas.openxmlformats.org/drawingml/2006/main">
            <a:off x="6269040" y="749216"/>
            <a:ext cx="5539740" cy="4896456"/>
          </a:xfrm>
          <a:prstGeom xmlns:a="http://schemas.openxmlformats.org/drawingml/2006/main" prst="roundRect">
            <a:avLst>
              <a:gd name="adj" fmla="val 1361"/>
            </a:avLst>
          </a:prstGeom>
        </p:spPr>
      </p:pic>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A connected view of the model</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Select an element in the tree, 3D scene, or data sheet.</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Inspect its properties, zoom in, or isolate it for review.</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The bundled sample loads 483 elements.</a:t>
            </a:r>
          </a:p>
        </p:txBody>
      </p:sp>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0525" y="6048375"/>
            <a:ext cx="102870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Target workflow. AI mapping and write-back are not implemented in this repo.</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FD6AB9A-5F9E-5F59-51AB-3C8734130965}" type="slidenum">
              <a:rPr sz="1200">
                <a:solidFill>
                  <a:srgbClr val="FFFFFF"/>
                </a:solidFill>
                <a:latin typeface="Arial"/>
                <a:ea typeface="Arial"/>
                <a:cs typeface="Arial"/>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AI-assisted mapping and compliance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1. Read the standard</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the supplied ASTM UniFormat workbook as the reference for mapping.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2. Propose a mapping</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AI suggests a classification using the object’s properties and context.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3. Review the evidence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Ask why the mapping fits and identify missing data before accepting it.</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4. Confirm and update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 modeler approves the mapping before updating the model data.</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0525" y="6191250"/>
            <a:ext cx="104775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Live model and Agents API integration are not verified in this repository.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E5B3003-2C54-13C6-9832-7637201064DE}" type="slidenum">
              <a:rPr sz="1200">
                <a:solidFill>
                  <a:srgbClr val="FFFFFF"/>
                </a:solidFill>
                <a:latin typeface="Arial"/>
                <a:ea typeface="Arial"/>
                <a:cs typeface="Arial"/>
              </a:rPr>
              <a:t>5</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Astra: intended hackathon use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GPT-Live-1</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Discuss the current model through natural conversation while keeping the selected object in context.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Agents API</a:t>
            </a:r>
          </a:p>
          <a:p xmlns:a="http://schemas.openxmlformats.org/drawingml/2006/main">
            <a:pPr marL="0" marR="0" lvl="0" indent="0" algn="l" defTabSz="914400">
              <a:lnSpc>
                <a:spcPct val="114000"/>
              </a:lnSpc>
              <a:spcBef>
                <a:spcPts val="0"/>
              </a:spcBef>
              <a:spcAft>
                <a:spcPts val="800"/>
              </a:spcAft>
              <a:buClrTx/>
              <a:buSzTx/>
              <a:buFont typeface="Arial"/>
              <a:buNone/>
            </a:pPr>
            <a:endParaRPr sz="2025" b="0" i="0" u="none" cap="none" spc="0">
              <a:ln>
                <a:noFill/>
              </a:ln>
              <a:solidFill>
                <a:srgbClr val="FFFFFF"/>
              </a:solidFill>
              <a:latin typeface="Arial"/>
              <a:ea typeface="Arial"/>
              <a:cs typeface="Arial"/>
            </a:endParaRPr>
          </a:p>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model tools to inspect properties, change the view, and prepare an issue for human review.</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Visual Understanding</a:t>
            </a:r>
          </a:p>
          <a:p xmlns:a="http://schemas.openxmlformats.org/drawingml/2006/main">
            <a:pPr marL="0" marR="0" lvl="0" indent="0" algn="l" defTabSz="914400">
              <a:lnSpc>
                <a:spcPct val="114000"/>
              </a:lnSpc>
              <a:spcBef>
                <a:spcPts val="0"/>
              </a:spcBef>
              <a:spcAft>
                <a:spcPts val="800"/>
              </a:spcAft>
              <a:buClrTx/>
              <a:buSzTx/>
              <a:buFont typeface="Arial"/>
              <a:buNone/>
            </a:pPr>
            <a:endParaRPr sz="2025" b="0" i="0" u="none" cap="none" spc="0">
              <a:ln>
                <a:noFill/>
              </a:ln>
              <a:solidFill>
                <a:srgbClr val="FFFFFF"/>
              </a:solidFill>
              <a:latin typeface="Arial"/>
              <a:ea typeface="Arial"/>
              <a:cs typeface="Arial"/>
            </a:endParaRPr>
          </a:p>
          <a:p xmlns:a="http://schemas.openxmlformats.org/drawingml/2006/main">
            <a:pPr marL="0" indent="0">
              <a:buNone/>
              <a:defRPr sz="2025">
                <a:solidFill>
                  <a:srgbClr val="FFFFFF"/>
                </a:solidFill>
                <a:latin typeface="Arial"/>
                <a:ea typeface="Arial"/>
                <a:cs typeface="Arial"/>
              </a:defRPr>
            </a:pPr>
            <a:r>
              <a:rPr sz="2025">
                <a:solidFill>
                  <a:srgbClr val="FFFFFF"/>
                </a:solidFill>
                <a:latin typeface="Arial"/>
                <a:ea typeface="Arial"/>
                <a:cs typeface="Arial"/>
              </a:rPr>
              <a:t>Connect questions about the visible 3D scene with IFC element properties and review evidence.</a:t>
            </a:r>
            <a:endParaRPr/>
          </a:p>
        </p:txBody>
      </p:sp>
    </p:spTree>
    <p:extLst>
      <p:ext uri="{BB962C8B-B14F-4D97-AF65-F5344CB8AC3E}">
        <p14:creationId xmlns:p14="http://schemas.microsoft.com/office/powerpoint/2010/main" val="13934569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C630A04-5A25-9E0C-9436-126091DB86B3}" type="slidenum">
              <a:t>6</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Live demo sequence</a:t>
            </a:r>
          </a:p>
        </p:txBody>
      </p:sp>
      <p:graphicFrame>
        <p:nvGraphicFramePr>
          <p:cNvPr id="10"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Open the sample IFC model</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Select an object and inspect properties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Ask about the selected element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Isolate it and inspect the 3D view</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Draft and save a review issue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Filter the sheet and export Excel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D3D7D1C8-AE23-AA48-DF65-C742588DBE47}" type="slidenum">
              <a:rPr sz="1200">
                <a:solidFill>
                  <a:srgbClr val="FFFFFF"/>
                </a:solidFill>
                <a:latin typeface="Arial"/>
                <a:ea typeface="Arial"/>
                <a:cs typeface="Arial"/>
              </a:rPr>
              <a:t>7</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Prototype status and next steps</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Working today</a:t>
            </a:r>
          </a:p>
          <a:p xmlns:a="http://schemas.openxmlformats.org/drawingml/2006/main">
            <a:pPr marL="0" indent="0">
              <a:lnSpc>
                <a:spcPct val="114000"/>
              </a:lnSpc>
              <a:spcBef>
                <a:spcPts val="0"/>
              </a:spcBef>
              <a:spcAft>
                <a:spcPts val="800"/>
              </a:spcAft>
              <a:buFont typeface="Arial"/>
              <a:buNone/>
            </a:pPr>
            <a:endParaRPr sz="202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IFC import, linked selection, scene controls, Excel export, and local review issues.</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Tool foundation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10 WebMCP tools expose model data, scene state, measurements, and issue actions.</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Next integration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Connect live Astra, add standards reasoning, and persist approved mappings.</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283D44-2EED-45AC-B02F-747A8A65F333}"/>
              </a:ext>
            </a:extLst>
          </p:cNvPr>
          <p:cNvSpPr>
            <a:spLocks xmlns:a="http://schemas.openxmlformats.org/drawingml/2006/main" noGrp="1"/>
          </p:cNvSpPr>
          <p:nvPr/>
        </p:nvSpPr>
        <p:spPr>
          <a:xfrm xmlns:a="http://schemas.openxmlformats.org/drawingml/2006/main">
            <a:off x="390525" y="342900"/>
            <a:ext cx="1141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a:solidFill>
                  <a:srgbClr val="FFFFFF"/>
                </a:solidFill>
                <a:latin typeface="Arial"/>
                <a:ea typeface="Arial"/>
                <a:cs typeface="Arial"/>
              </a:defRPr>
            </a:pPr>
            <a:r>
              <a:rPr sz="3450">
                <a:solidFill>
                  <a:srgbClr val="FFFFFF"/>
                </a:solidFill>
                <a:latin typeface="Arial"/>
                <a:ea typeface="Arial"/>
                <a:cs typeface="Arial"/>
              </a:rPr>
              <a:t>Manual review vs. Astra-IFC-Complience</a:t>
            </a:r>
          </a:p>
        </p:txBody>
      </p:sp>
      <p:sp>
        <p:nvSpPr>
          <p:cNvPr id="2" name="">
            <a:extLst xmlns:a="http://schemas.openxmlformats.org/drawingml/2006/main">
              <a:ext uri="{FF2B5EF4-FFF2-40B4-BE49-F238E27FC236}">
                <a16:creationId xmlns:a16="http://schemas.microsoft.com/office/drawing/2014/main" id="{6D848A9E-5F43-4C0F-B360-47BA627FF2AA}"/>
              </a:ext>
            </a:extLst>
          </p:cNvPr>
          <p:cNvSpPr>
            <a:spLocks xmlns:a="http://schemas.openxmlformats.org/drawingml/2006/main" noGrp="1"/>
          </p:cNvSpPr>
          <p:nvPr/>
        </p:nvSpPr>
        <p:spPr>
          <a:xfrm xmlns:a="http://schemas.openxmlformats.org/drawingml/2006/main">
            <a:off x="390525" y="11620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Construction model review before cost estimation</a:t>
            </a:r>
          </a:p>
        </p:txBody>
      </p:sp>
      <p:graphicFrame>
        <p:nvGraphicFramePr>
          <p:cNvPr id="12" name=""/>
          <p:cNvGraphicFramePr/>
          <p:nvPr/>
        </p:nvGraphicFramePr>
        <p:xfrm>
          <a:off xmlns:a="http://schemas.openxmlformats.org/drawingml/2006/main" x="390525" y="1809750"/>
          <a:ext xmlns:a="http://schemas.openxmlformats.org/drawingml/2006/main" cx="11410950" cy="2857500"/>
        </p:xfrm>
        <a:graphic xmlns:a="http://schemas.openxmlformats.org/drawingml/2006/main">
          <a:graphicData uri="http://schemas.openxmlformats.org/drawingml/2006/table">
            <a:tbl>
              <a:tblPr/>
              <a:tblGrid>
                <a:gridCol w="2762250"/>
                <a:gridCol w="4191000"/>
                <a:gridCol w="4457700"/>
              </a:tblGrid>
              <a:tr h="571500">
                <a:tc>
                  <a:txBody>
                    <a:bodyPr/>
                    <a:lstStyle/>
                    <a:p>
                      <a:r>
                        <a:rPr sz="1725" b="1">
                          <a:solidFill>
                            <a:srgbClr val="FFFFFF"/>
                          </a:solidFill>
                          <a:latin typeface="Arial"/>
                          <a:ea typeface="Arial"/>
                          <a:cs typeface="Arial"/>
                        </a:rPr>
                        <a:t>Review activity</a:t>
                      </a:r>
                    </a:p>
                  </a:txBody>
                  <a:tcPr marL="91440" marR="91440" marT="45720" marB="45720">
                    <a:solidFill>
                      <a:srgbClr val="242424"/>
                    </a:solidFill>
                  </a:tcPr>
                </a:tc>
                <a:tc>
                  <a:txBody>
                    <a:bodyPr/>
                    <a:lstStyle/>
                    <a:p>
                      <a:r>
                        <a:rPr sz="1725" b="1">
                          <a:solidFill>
                            <a:srgbClr val="FFFFFF"/>
                          </a:solidFill>
                          <a:latin typeface="Arial"/>
                          <a:ea typeface="Arial"/>
                          <a:cs typeface="Arial"/>
                        </a:rPr>
                        <a:t>Manual workflow</a:t>
                      </a:r>
                    </a:p>
                  </a:txBody>
                  <a:tcPr marL="91440" marR="91440" marT="45720" marB="45720">
                    <a:solidFill>
                      <a:srgbClr val="242424"/>
                    </a:solidFill>
                  </a:tcPr>
                </a:tc>
                <a:tc>
                  <a:txBody>
                    <a:bodyPr/>
                    <a:lstStyle/>
                    <a:p>
                      <a:r>
                        <a:rPr sz="1725" b="1">
                          <a:solidFill>
                            <a:srgbClr val="FFFFFF"/>
                          </a:solidFill>
                          <a:latin typeface="Arial"/>
                          <a:ea typeface="Arial"/>
                          <a:cs typeface="Arial"/>
                        </a:rPr>
                        <a:t>With the app</a:t>
                      </a:r>
                    </a:p>
                  </a:txBody>
                  <a:tcPr marL="91440" marR="91440" marT="45720" marB="45720">
                    <a:solidFill>
                      <a:srgbClr val="242424"/>
                    </a:solidFill>
                  </a:tcPr>
                </a:tc>
              </a:tr>
              <a:tr h="571500">
                <a:tc>
                  <a:txBody>
                    <a:bodyPr/>
                    <a:lstStyle/>
                    <a:p>
                      <a:r>
                        <a:rPr sz="1725" b="0">
                          <a:solidFill>
                            <a:srgbClr val="FFFFFF"/>
                          </a:solidFill>
                          <a:latin typeface="Arial"/>
                          <a:ea typeface="Arial"/>
                          <a:cs typeface="Arial"/>
                        </a:rPr>
                        <a:t>Find and inspect objects</a:t>
                      </a:r>
                    </a:p>
                  </a:txBody>
                  <a:tcPr marL="91440" marR="91440" marT="45720" marB="45720">
                    <a:solidFill>
                      <a:srgbClr val="000000"/>
                    </a:solidFill>
                  </a:tcPr>
                </a:tc>
                <a:tc>
                  <a:txBody>
                    <a:bodyPr/>
                    <a:lstStyle/>
                    <a:p>
                      <a:r>
                        <a:rPr sz="1725" b="0">
                          <a:solidFill>
                            <a:srgbClr val="FFFFFF"/>
                          </a:solidFill>
                          <a:latin typeface="Arial"/>
                          <a:ea typeface="Arial"/>
                          <a:cs typeface="Arial"/>
                        </a:rPr>
                        <a:t>Cross-check model and schedules</a:t>
                      </a:r>
                    </a:p>
                  </a:txBody>
                  <a:tcPr marL="91440" marR="91440" marT="45720" marB="45720">
                    <a:solidFill>
                      <a:srgbClr val="000000"/>
                    </a:solidFill>
                  </a:tcPr>
                </a:tc>
                <a:tc>
                  <a:txBody>
                    <a:bodyPr/>
                    <a:lstStyle/>
                    <a:p>
                      <a:r>
                        <a:rPr sz="1725" b="0">
                          <a:solidFill>
                            <a:srgbClr val="FFFFFF"/>
                          </a:solidFill>
                          <a:latin typeface="Arial"/>
                          <a:ea typeface="Arial"/>
                          <a:cs typeface="Arial"/>
                        </a:rPr>
                        <a:t>Linked 3D view, tree, and properties</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Record review findings</a:t>
                      </a:r>
                    </a:p>
                  </a:txBody>
                  <a:tcPr marL="91440" marR="91440" marT="45720" marB="45720">
                    <a:solidFill>
                      <a:srgbClr val="000000"/>
                    </a:solidFill>
                  </a:tcPr>
                </a:tc>
                <a:tc>
                  <a:txBody>
                    <a:bodyPr/>
                    <a:lstStyle/>
                    <a:p>
                      <a:r>
                        <a:rPr sz="1725" b="0">
                          <a:solidFill>
                            <a:srgbClr val="FFFFFF"/>
                          </a:solidFill>
                          <a:latin typeface="Arial"/>
                          <a:ea typeface="Arial"/>
                          <a:cs typeface="Arial"/>
                        </a:rPr>
                        <a:t>Capture screenshots and notes</a:t>
                      </a:r>
                    </a:p>
                  </a:txBody>
                  <a:tcPr marL="91440" marR="91440" marT="45720" marB="45720">
                    <a:solidFill>
                      <a:srgbClr val="000000"/>
                    </a:solidFill>
                  </a:tcPr>
                </a:tc>
                <a:tc>
                  <a:txBody>
                    <a:bodyPr/>
                    <a:lstStyle/>
                    <a:p>
                      <a:r>
                        <a:rPr sz="1725" b="0">
                          <a:solidFill>
                            <a:srgbClr val="FFFFFF"/>
                          </a:solidFill>
                          <a:latin typeface="Arial"/>
                          <a:ea typeface="Arial"/>
                          <a:cs typeface="Arial"/>
                        </a:rPr>
                        <a:t>Save issues with their viewpoints</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Prepare element data</a:t>
                      </a:r>
                    </a:p>
                  </a:txBody>
                  <a:tcPr marL="91440" marR="91440" marT="45720" marB="45720">
                    <a:solidFill>
                      <a:srgbClr val="000000"/>
                    </a:solidFill>
                  </a:tcPr>
                </a:tc>
                <a:tc>
                  <a:txBody>
                    <a:bodyPr/>
                    <a:lstStyle/>
                    <a:p>
                      <a:r>
                        <a:rPr sz="1725" b="0">
                          <a:solidFill>
                            <a:srgbClr val="FFFFFF"/>
                          </a:solidFill>
                          <a:latin typeface="Arial"/>
                          <a:ea typeface="Arial"/>
                          <a:cs typeface="Arial"/>
                        </a:rPr>
                        <a:t>Compile an element list by hand</a:t>
                      </a:r>
                    </a:p>
                  </a:txBody>
                  <a:tcPr marL="91440" marR="91440" marT="45720" marB="45720">
                    <a:solidFill>
                      <a:srgbClr val="000000"/>
                    </a:solidFill>
                  </a:tcPr>
                </a:tc>
                <a:tc>
                  <a:txBody>
                    <a:bodyPr/>
                    <a:lstStyle/>
                    <a:p>
                      <a:r>
                        <a:rPr sz="1725" b="0">
                          <a:solidFill>
                            <a:srgbClr val="FFFFFF"/>
                          </a:solidFill>
                          <a:latin typeface="Arial"/>
                          <a:ea typeface="Arial"/>
                          <a:cs typeface="Arial"/>
                        </a:rPr>
                        <a:t>Filter model data and export Excel</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Illustrative effort per review</a:t>
                      </a:r>
                    </a:p>
                  </a:txBody>
                  <a:tcPr marL="91440" marR="91440" marT="45720" marB="45720">
                    <a:solidFill>
                      <a:srgbClr val="000000"/>
                    </a:solidFill>
                  </a:tcPr>
                </a:tc>
                <a:tc>
                  <a:txBody>
                    <a:bodyPr/>
                    <a:lstStyle/>
                    <a:p>
                      <a:r>
                        <a:rPr sz="1725" b="0">
                          <a:solidFill>
                            <a:srgbClr val="FFFFFF"/>
                          </a:solidFill>
                          <a:latin typeface="Arial"/>
                          <a:ea typeface="Arial"/>
                          <a:cs typeface="Arial"/>
                        </a:rPr>
                        <a:t>8 hours / US$400 labor</a:t>
                      </a:r>
                    </a:p>
                  </a:txBody>
                  <a:tcPr marL="91440" marR="91440" marT="45720" marB="45720">
                    <a:solidFill>
                      <a:srgbClr val="000000"/>
                    </a:solidFill>
                  </a:tcPr>
                </a:tc>
                <a:tc>
                  <a:txBody>
                    <a:bodyPr/>
                    <a:lstStyle/>
                    <a:p>
                      <a:r>
                        <a:rPr sz="1725" b="0">
                          <a:solidFill>
                            <a:srgbClr val="FFFFFF"/>
                          </a:solidFill>
                          <a:latin typeface="Arial"/>
                          <a:ea typeface="Arial"/>
                          <a:cs typeface="Arial"/>
                        </a:rPr>
                        <a:t>4 hours / US$200 labor</a:t>
                      </a:r>
                    </a:p>
                  </a:txBody>
                  <a:tcPr marL="91440" marR="91440" marT="45720" marB="45720">
                    <a:solidFill>
                      <a:srgbClr val="000000"/>
                    </a:solidFill>
                  </a:tcPr>
                </a:tc>
              </a:tr>
            </a:tbl>
          </a:graphicData>
        </a:graphic>
      </p:graphicFrame>
      <p:sp>
        <p:nvSpPr>
          <p:cNvPr id="4" name="">
            <a:extLst xmlns:a="http://schemas.openxmlformats.org/drawingml/2006/main">
              <a:ext uri="{FF2B5EF4-FFF2-40B4-BE49-F238E27FC236}">
                <a16:creationId xmlns:a16="http://schemas.microsoft.com/office/drawing/2014/main" id="{509A5B92-E246-49C4-8F29-17264466E1DF}"/>
              </a:ext>
            </a:extLst>
          </p:cNvPr>
          <p:cNvSpPr>
            <a:spLocks xmlns:a="http://schemas.openxmlformats.org/drawingml/2006/main" noGrp="1"/>
          </p:cNvSpPr>
          <p:nvPr/>
        </p:nvSpPr>
        <p:spPr>
          <a:xfrm xmlns:a="http://schemas.openxmlformats.org/drawingml/2006/main">
            <a:off x="390525" y="4876800"/>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FFFFFF"/>
                </a:solidFill>
                <a:latin typeface="Arial"/>
                <a:ea typeface="Arial"/>
                <a:cs typeface="Arial"/>
              </a:defRPr>
            </a:pPr>
            <a:r>
              <a:rPr sz="2850">
                <a:solidFill>
                  <a:srgbClr val="FFFFFF"/>
                </a:solidFill>
                <a:latin typeface="Arial"/>
                <a:ea typeface="Arial"/>
                <a:cs typeface="Arial"/>
              </a:rPr>
              <a:t>4 hours saved</a:t>
            </a:r>
          </a:p>
        </p:txBody>
      </p:sp>
      <p:sp>
        <p:nvSpPr>
          <p:cNvPr id="5" name="">
            <a:extLst xmlns:a="http://schemas.openxmlformats.org/drawingml/2006/main">
              <a:ext uri="{FF2B5EF4-FFF2-40B4-BE49-F238E27FC236}">
                <a16:creationId xmlns:a16="http://schemas.microsoft.com/office/drawing/2014/main" id="{2419CF30-8C85-47E9-8A23-F08FB17B60F3}"/>
              </a:ext>
            </a:extLst>
          </p:cNvPr>
          <p:cNvSpPr>
            <a:spLocks xmlns:a="http://schemas.openxmlformats.org/drawingml/2006/main" noGrp="1"/>
          </p:cNvSpPr>
          <p:nvPr/>
        </p:nvSpPr>
        <p:spPr>
          <a:xfrm xmlns:a="http://schemas.openxmlformats.org/drawingml/2006/main">
            <a:off x="4267200" y="487680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FFFFFF"/>
                </a:solidFill>
                <a:latin typeface="Arial"/>
                <a:ea typeface="Arial"/>
                <a:cs typeface="Arial"/>
              </a:defRPr>
            </a:pPr>
            <a:r>
              <a:rPr sz="2850">
                <a:solidFill>
                  <a:srgbClr val="FFFFFF"/>
                </a:solidFill>
                <a:latin typeface="Arial"/>
                <a:ea typeface="Arial"/>
                <a:cs typeface="Arial"/>
              </a:rPr>
              <a:t>50% less review time</a:t>
            </a:r>
          </a:p>
        </p:txBody>
      </p:sp>
      <p:sp>
        <p:nvSpPr>
          <p:cNvPr id="6" name="">
            <a:extLst xmlns:a="http://schemas.openxmlformats.org/drawingml/2006/main">
              <a:ext uri="{FF2B5EF4-FFF2-40B4-BE49-F238E27FC236}">
                <a16:creationId xmlns:a16="http://schemas.microsoft.com/office/drawing/2014/main" id="{74704C41-5822-4D28-9560-E338CA4C9963}"/>
              </a:ext>
            </a:extLst>
          </p:cNvPr>
          <p:cNvSpPr>
            <a:spLocks xmlns:a="http://schemas.openxmlformats.org/drawingml/2006/main" noGrp="1"/>
          </p:cNvSpPr>
          <p:nvPr/>
        </p:nvSpPr>
        <p:spPr>
          <a:xfrm xmlns:a="http://schemas.openxmlformats.org/drawingml/2006/main">
            <a:off x="8524875" y="48768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FFFFFF"/>
                </a:solidFill>
                <a:latin typeface="Arial"/>
                <a:ea typeface="Arial"/>
                <a:cs typeface="Arial"/>
              </a:defRPr>
            </a:pPr>
            <a:r>
              <a:rPr sz="2850">
                <a:solidFill>
                  <a:srgbClr val="FFFFFF"/>
                </a:solidFill>
                <a:latin typeface="Arial"/>
                <a:ea typeface="Arial"/>
                <a:cs typeface="Arial"/>
              </a:rPr>
              <a:t>US$200 saved</a:t>
            </a:r>
          </a:p>
        </p:txBody>
      </p:sp>
      <p:sp>
        <p:nvSpPr>
          <p:cNvPr id="7" name="">
            <a:extLst xmlns:a="http://schemas.openxmlformats.org/drawingml/2006/main">
              <a:ext uri="{FF2B5EF4-FFF2-40B4-BE49-F238E27FC236}">
                <a16:creationId xmlns:a16="http://schemas.microsoft.com/office/drawing/2014/main" id="{002224F8-0FE6-421F-9C0F-E5A2ED140219}"/>
              </a:ext>
            </a:extLst>
          </p:cNvPr>
          <p:cNvSpPr>
            <a:spLocks xmlns:a="http://schemas.openxmlformats.org/drawingml/2006/main" noGrp="1"/>
          </p:cNvSpPr>
          <p:nvPr/>
        </p:nvSpPr>
        <p:spPr>
          <a:xfrm xmlns:a="http://schemas.openxmlformats.org/drawingml/2006/main">
            <a:off x="390525" y="546735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FFFFFF"/>
                </a:solidFill>
                <a:latin typeface="Arial"/>
                <a:ea typeface="Arial"/>
                <a:cs typeface="Arial"/>
              </a:defRPr>
            </a:pPr>
            <a:r>
              <a:rPr sz="1875">
                <a:solidFill>
                  <a:srgbClr val="FFFFFF"/>
                </a:solidFill>
                <a:latin typeface="Arial"/>
                <a:ea typeface="Arial"/>
                <a:cs typeface="Arial"/>
              </a:rPr>
              <a:t>Benefits: easier data verification, traceable reviews, and a clearer handoff to estimators.</a:t>
            </a:r>
          </a:p>
        </p:txBody>
      </p:sp>
      <p:sp>
        <p:nvSpPr>
          <p:cNvPr id="8" name="">
            <a:extLst xmlns:a="http://schemas.openxmlformats.org/drawingml/2006/main">
              <a:ext uri="{FF2B5EF4-FFF2-40B4-BE49-F238E27FC236}">
                <a16:creationId xmlns:a16="http://schemas.microsoft.com/office/drawing/2014/main" id="{6D6C1C35-6144-4502-BF45-D8DBC24043F6}"/>
              </a:ext>
            </a:extLst>
          </p:cNvPr>
          <p:cNvSpPr>
            <a:spLocks xmlns:a="http://schemas.openxmlformats.org/drawingml/2006/main" noGrp="1"/>
          </p:cNvSpPr>
          <p:nvPr/>
        </p:nvSpPr>
        <p:spPr>
          <a:xfrm xmlns:a="http://schemas.openxmlformats.org/drawingml/2006/main">
            <a:off x="390525" y="611505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FFFFFF"/>
                </a:solidFill>
                <a:latin typeface="Arial"/>
                <a:ea typeface="Arial"/>
                <a:cs typeface="Arial"/>
              </a:defRPr>
            </a:pPr>
            <a:r>
              <a:rPr sz="1425">
                <a:solidFill>
                  <a:srgbClr val="FFFFFF"/>
                </a:solidFill>
                <a:latin typeface="Arial"/>
                <a:ea typeface="Arial"/>
                <a:cs typeface="Arial"/>
              </a:rPr>
              <a:t>Illustrative scenario, not measured: 8h vs. 4h at US$50/h. Gross labor savings exclude app and AI costs.</a:t>
            </a:r>
          </a:p>
        </p:txBody>
      </p:sp>
      <p:sp>
        <p:nvSpPr>
          <p:cNvPr id="9" name="">
            <a:extLst xmlns:a="http://schemas.openxmlformats.org/drawingml/2006/main">
              <a:ext uri="{FF2B5EF4-FFF2-40B4-BE49-F238E27FC236}">
                <a16:creationId xmlns:a16="http://schemas.microsoft.com/office/drawing/2014/main" id="{C6A2FE3C-71CA-4BE4-9BD4-5C8AD9A470D6}"/>
              </a:ext>
            </a:extLst>
          </p:cNvPr>
          <p:cNvSpPr>
            <a:spLocks xmlns:a="http://schemas.openxmlformats.org/drawingml/2006/main" noGrp="1"/>
          </p:cNvSpPr>
          <p:nvPr/>
        </p:nvSpPr>
        <p:spPr>
          <a:xfrm xmlns:a="http://schemas.openxmlformats.org/drawingml/2006/main">
            <a:off x="112776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Arial"/>
                <a:ea typeface="Arial"/>
                <a:cs typeface="Arial"/>
              </a:defRPr>
            </a:pPr>
            <a:r>
              <a:rPr sz="1200">
                <a:solidFill>
                  <a:srgbClr val="FFFFFF"/>
                </a:solidFill>
                <a:latin typeface="Arial"/>
                <a:ea typeface="Arial"/>
                <a:cs typeface="Arial"/>
              </a:rPr>
              <a:t>8</a:t>
            </a:r>
          </a:p>
        </p:txBody>
      </p:sp>
    </p:spTree>
    <p:extLst>
      <p:ext uri="{BB962C8B-B14F-4D97-AF65-F5344CB8AC3E}">
        <p14:creationId xmlns:p14="http://schemas.microsoft.com/office/powerpoint/2010/main" val="13702578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buNone/>
              <a:defRPr sz="5400">
                <a:solidFill>
                  <a:srgbClr val="FFFFFF"/>
                </a:solidFill>
                <a:latin typeface="Arial"/>
                <a:ea typeface="Arial"/>
                <a:cs typeface="Arial"/>
              </a:defRPr>
            </a:pPr>
            <a:r>
              <a:rPr sz="5400">
                <a:solidFill>
                  <a:srgbClr val="FFFFFF"/>
                </a:solidFill>
                <a:latin typeface="Arial"/>
                <a:ea typeface="Arial"/>
                <a:cs typeface="Arial"/>
              </a:rPr>
              <a:t>Model review with</a:t>
            </a:r>
          </a:p>
          <a:p xmlns:a="http://schemas.openxmlformats.org/drawingml/2006/main">
            <a:pPr>
              <a:buNone/>
              <a:defRPr sz="5400">
                <a:solidFill>
                  <a:srgbClr val="FFFFFF"/>
                </a:solidFill>
                <a:latin typeface="Arial"/>
                <a:ea typeface="Arial"/>
                <a:cs typeface="Arial"/>
              </a:defRPr>
            </a:pPr>
            <a:r>
              <a:rPr sz="5400">
                <a:solidFill>
                  <a:srgbClr val="FFFFFF"/>
                </a:solidFill>
                <a:latin typeface="Arial"/>
                <a:ea typeface="Arial"/>
                <a:cs typeface="Arial"/>
              </a:rPr>
              <a:t>visible evidence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0525" y="4972050"/>
            <a:ext cx="8096250" cy="1095375"/>
          </a:xfrm>
        </p:spPr>
        <p:txBody>
          <a:bodyPr xmlns:a="http://schemas.openxmlformats.org/drawingml/2006/main">
            <a:noAutofit/>
          </a:bodyPr>
          <a:lstStyle xmlns:a="http://schemas.openxmlformats.org/drawingml/2006/main"/>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Astra-IFC-Complience</a:t>
            </a:r>
          </a:p>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Questions and live demo</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Thank you</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2026-09-13T05:38:17.5290000Z</dcterms:created>
  <dcterms:modified xsi:type="dcterms:W3CDTF">2026-09-13T05:38:17.5290000Z</dcterms:modified>
</coreProperties>
</file>