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b671d846da446a" /><Relationship Type="http://schemas.openxmlformats.org/officeDocument/2006/relationships/extended-properties" Target="/docProps/app.xml" Id="R44981f05fae24bd0" /><Relationship Type="http://schemas.openxmlformats.org/officeDocument/2006/relationships/officeDocument" Target="/ppt/presentation.xml" Id="R2d8177587d6d414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0522b23d45f64286"/>
  </p:sldMasterIdLst>
  <p:notesMasterIdLst>
    <p:notesMasterId xmlns:r="http://schemas.openxmlformats.org/officeDocument/2006/relationships" r:id="R3ba9a714c8724610"/>
  </p:notesMasterIdLst>
  <p:sldIdLst>
    <p:sldId xmlns:r="http://schemas.openxmlformats.org/officeDocument/2006/relationships" id="256" r:id="Rbf741326387f4ab6"/>
    <p:sldId xmlns:r="http://schemas.openxmlformats.org/officeDocument/2006/relationships" id="257" r:id="Rde1b60f7652347d0"/>
    <p:sldId xmlns:r="http://schemas.openxmlformats.org/officeDocument/2006/relationships" id="258" r:id="R279078c039094c47"/>
    <p:sldId xmlns:r="http://schemas.openxmlformats.org/officeDocument/2006/relationships" id="259" r:id="R4114adcaaf734503"/>
    <p:sldId xmlns:r="http://schemas.openxmlformats.org/officeDocument/2006/relationships" id="260" r:id="R394b226124f042b8"/>
    <p:sldId xmlns:r="http://schemas.openxmlformats.org/officeDocument/2006/relationships" id="261" r:id="R812be7bd7e9e406b"/>
    <p:sldId xmlns:r="http://schemas.openxmlformats.org/officeDocument/2006/relationships" id="262" r:id="R0a11e36dd1d041e9"/>
    <p:sldId xmlns:r="http://schemas.openxmlformats.org/officeDocument/2006/relationships" id="263" r:id="Rb179ff92c1984541"/>
  </p:sldIdLst>
  <p:sldSz cx="12192000" cy="6858000"/>
  <p:notesSz cx="6858000" cy="9144000"/>
  <p:embeddedFontLst>
    <p:embeddedFont>
      <p:font typeface="OpenAI Sans"/>
      <p:regular xmlns:r="http://schemas.openxmlformats.org/officeDocument/2006/relationships" r:id="Re5861296084d4fc4"/>
      <p:bold xmlns:r="http://schemas.openxmlformats.org/officeDocument/2006/relationships" r:id="R8c2592c69c924d3c"/>
      <p:italic xmlns:r="http://schemas.openxmlformats.org/officeDocument/2006/relationships" r:id="R603c4f7784d14ac5"/>
      <p:boldItalic xmlns:r="http://schemas.openxmlformats.org/officeDocument/2006/relationships" r:id="R84b252854a144fd8"/>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ab3c8bb05bb49b1" /><Relationship Type="http://schemas.openxmlformats.org/officeDocument/2006/relationships/slideMaster" Target="/ppt/slideMasters/slideMaster1.xml" Id="R0522b23d45f64286" /><Relationship Type="http://schemas.openxmlformats.org/officeDocument/2006/relationships/notesMaster" Target="/ppt/notesMasters/notesMaster1.xml" Id="R3ba9a714c8724610" /><Relationship Type="http://schemas.openxmlformats.org/officeDocument/2006/relationships/presProps" Target="/ppt/presProps.xml" Id="R3fb1af7d03c7437f" /><Relationship Type="http://schemas.openxmlformats.org/officeDocument/2006/relationships/viewProps" Target="/ppt/viewProps.xml" Id="Rdc9ef4150a704674" /><Relationship Type="http://schemas.openxmlformats.org/officeDocument/2006/relationships/tableStyles" Target="/ppt/tableStyles.xml" Id="Re2851902c9e54291" /><Relationship Type="http://schemas.openxmlformats.org/officeDocument/2006/relationships/font" Target="/ppt/fonts/font.dat" Id="Re5861296084d4fc4" /><Relationship Type="http://schemas.openxmlformats.org/officeDocument/2006/relationships/font" Target="/ppt/fonts/font2.dat" Id="R8c2592c69c924d3c" /><Relationship Type="http://schemas.openxmlformats.org/officeDocument/2006/relationships/font" Target="/ppt/fonts/font3.dat" Id="R603c4f7784d14ac5" /><Relationship Type="http://schemas.openxmlformats.org/officeDocument/2006/relationships/font" Target="/ppt/fonts/font4.dat" Id="R84b252854a144fd8" /><Relationship Type="http://schemas.openxmlformats.org/officeDocument/2006/relationships/slide" Target="/ppt/slides/slide1.xml" Id="Rbf741326387f4ab6" /><Relationship Type="http://schemas.openxmlformats.org/officeDocument/2006/relationships/slide" Target="/ppt/slides/slide2.xml" Id="Rde1b60f7652347d0" /><Relationship Type="http://schemas.openxmlformats.org/officeDocument/2006/relationships/slide" Target="/ppt/slides/slide3.xml" Id="R279078c039094c47" /><Relationship Type="http://schemas.openxmlformats.org/officeDocument/2006/relationships/slide" Target="/ppt/slides/slide4.xml" Id="R4114adcaaf734503" /><Relationship Type="http://schemas.openxmlformats.org/officeDocument/2006/relationships/slide" Target="/ppt/slides/slide5.xml" Id="R394b226124f042b8" /><Relationship Type="http://schemas.openxmlformats.org/officeDocument/2006/relationships/slide" Target="/ppt/slides/slide6.xml" Id="R812be7bd7e9e406b" /><Relationship Type="http://schemas.openxmlformats.org/officeDocument/2006/relationships/slide" Target="/ppt/slides/slide7.xml" Id="R0a11e36dd1d041e9" /><Relationship Type="http://schemas.openxmlformats.org/officeDocument/2006/relationships/slide" Target="/ppt/slides/slide8.xml" Id="Rb179ff92c19845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adbed4536249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40b053ffb74237" /><Relationship Type="http://schemas.openxmlformats.org/officeDocument/2006/relationships/notesMaster" Target="/ppt/notesMasters/notesMaster1.xml" Id="R0eed13a9ac3246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da69f0ae2b498e" /><Relationship Type="http://schemas.openxmlformats.org/officeDocument/2006/relationships/notesMaster" Target="/ppt/notesMasters/notesMaster1.xml" Id="R0f5a042a71754e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4821c78486474b" /><Relationship Type="http://schemas.openxmlformats.org/officeDocument/2006/relationships/notesMaster" Target="/ppt/notesMasters/notesMaster1.xml" Id="R8e312795d8d64e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95eb056a5a4428" /><Relationship Type="http://schemas.openxmlformats.org/officeDocument/2006/relationships/notesMaster" Target="/ppt/notesMasters/notesMaster1.xml" Id="Rb4a393dfb34349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0e5615c8b6451b" /><Relationship Type="http://schemas.openxmlformats.org/officeDocument/2006/relationships/notesMaster" Target="/ppt/notesMasters/notesMaster1.xml" Id="R0fceecae419c47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cfd0a954cd4fcf" /><Relationship Type="http://schemas.openxmlformats.org/officeDocument/2006/relationships/notesMaster" Target="/ppt/notesMasters/notesMaster1.xml" Id="R8e7cba75b0b843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0c14de8a834496" /><Relationship Type="http://schemas.openxmlformats.org/officeDocument/2006/relationships/notesMaster" Target="/ppt/notesMasters/notesMaster1.xml" Id="R8b5078da800f43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bb482022d747db" /><Relationship Type="http://schemas.openxmlformats.org/officeDocument/2006/relationships/notesMaster" Target="/ppt/notesMasters/notesMaster1.xml" Id="R8009797208d546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20 seconds: Astra-IFC-Complience helps modeling and cost estimation teams inspect building model entities and review the data behind them. We aim to combine model conversation with standards-based mapping and compliance review. Preserve the project name as supplied. Sources: user project brief. Cover photo retained from the chosen Simple Dark Mode template.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Problem, 25 seconds: Focus on the handoff between modelers and estimators. The goal is to make it easier to establish what an element is and whether its data is suitable for downstream work. Do not claim measured time or cost savings. Sources: user brief; frontend/src/lib/model.ts; frontend/src/App.tsx.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Product, 30 seconds: The application currently uses the Forma name in its interface. Show that the tree, geometry, and sheet refer to the same element. Zoom and isolate help investigate it. Source: actual screenshot captured from localhost on 13 September 2026; frontend/src/App.tsx; frontend/src/lib/viewer.ts. 483 elements appeared in the sample during this capture.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workflow, 30 seconds: Describe this as the planned AI mapping workflow. The repository contains assets/ASTM-UniFormat.xlsx, but the current frontend does not implement standard ingestion, AI classification updates, or model write-back. A classification mapping is not itself proof of regulatory compliance. Compliance conclusions need the applicable requirement and supporting property evidence. Sources: user brief; assets/ASTM-UniFormat.xlsx; frontend/src/lib/model.ts.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Astra, 30 seconds: These correspond to the requested categories: Best use of GPT-Live-1, Best example of Visual Understanding, and Best use of Agents API. This slide describes intended use, not award wins. The repository has browser tool registration, but it does not establish a direct GPT-Live-1 or Agents API connection. Built-in chat uses mock responses and browser speech. If a separate external Astra session is used for judging, demonstrate that session. Sources: frontend/src/lib/webmcp.ts; frontend/src/components/ChatPanel.tsx; frontend/src/mock-api/index.ts; frontend/README.md.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approximately 90 seconds: Open Sample model. Select a wall from the model tree. Inspect its properties. Ask Tell me about the selected element. Type Isolate selected element to demonstrate the local command. Restore with Show all. Use Draft an issue, enter a meaningful title, review it, and save. Reopen the saved issue to restore its viewpoint. Filter the sheet and choose Export .xlsx. General chat answers are mocked, so do not present them as live Astra reasoning. Sources: frontend/src/lib/review.ts; frontend/src/components/ChatPanel.tsx; frontend/src/lib/model.ts.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Status, 25 seconds: The review tool layer exposes ten tools. It registers when the browser provides modelContext and otherwise falls back to local tools. Measurement returns approximate world-axis bounding boxes in metres, not exact quantities for estimating. Review issues persist in browser local storage. Next work includes live model integration, standard-backed reasoning, and approved mapping persistence. Sources: frontend/src/lib/webmcp.ts; frontend/src/lib/review.ts; frontend/README.md.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15 seconds: Our focus is helping modelers and estimators inspect the same objects and review the same evidence. Invite questions about the live model, tool actions, and standards mapping workflow. Source: user project brief.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aefbe6901240f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43e9dfa48004f7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a4fb537df641d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3f452573eeb42a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20d70e8b9b54f1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ad998d8e72e4d8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57c75ddb0b2406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69068532220468c"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849e23d3d347d5" /><Relationship Type="http://schemas.openxmlformats.org/officeDocument/2006/relationships/slideLayout" Target="/ppt/slideLayouts/slideLayout1.xml" Id="Re6671e72f5c649e2" /><Relationship Type="http://schemas.openxmlformats.org/officeDocument/2006/relationships/slideLayout" Target="/ppt/slideLayouts/slideLayout2.xml" Id="R50eb4a92978a490d" /><Relationship Type="http://schemas.openxmlformats.org/officeDocument/2006/relationships/slideLayout" Target="/ppt/slideLayouts/slideLayout3.xml" Id="R0be57f7b170640c6" /><Relationship Type="http://schemas.openxmlformats.org/officeDocument/2006/relationships/slideLayout" Target="/ppt/slideLayouts/slideLayout4.xml" Id="R2a01d95055f74eb4" /><Relationship Type="http://schemas.openxmlformats.org/officeDocument/2006/relationships/slideLayout" Target="/ppt/slideLayouts/slideLayout5.xml" Id="R5c0af3d5be1c4897" /><Relationship Type="http://schemas.openxmlformats.org/officeDocument/2006/relationships/slideLayout" Target="/ppt/slideLayouts/slideLayout6.xml" Id="R94a28b19cb4f49b9" /><Relationship Type="http://schemas.openxmlformats.org/officeDocument/2006/relationships/slideLayout" Target="/ppt/slideLayouts/slideLayout7.xml" Id="R18d58f91020f4daf" /><Relationship Type="http://schemas.openxmlformats.org/officeDocument/2006/relationships/slideLayout" Target="/ppt/slideLayouts/slideLayout8.xml" Id="R6598a35875594c4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e6671e72f5c649e2"/>
    <p:sldLayoutId xmlns:r="http://schemas.openxmlformats.org/officeDocument/2006/relationships" id="2147483650" r:id="R50eb4a92978a490d"/>
    <p:sldLayoutId xmlns:r="http://schemas.openxmlformats.org/officeDocument/2006/relationships" id="2147483651" r:id="R0be57f7b170640c6"/>
    <p:sldLayoutId xmlns:r="http://schemas.openxmlformats.org/officeDocument/2006/relationships" id="2147483652" r:id="R2a01d95055f74eb4"/>
    <p:sldLayoutId xmlns:r="http://schemas.openxmlformats.org/officeDocument/2006/relationships" id="2147483653" r:id="R5c0af3d5be1c4897"/>
    <p:sldLayoutId xmlns:r="http://schemas.openxmlformats.org/officeDocument/2006/relationships" id="2147483654" r:id="R94a28b19cb4f49b9"/>
    <p:sldLayoutId xmlns:r="http://schemas.openxmlformats.org/officeDocument/2006/relationships" id="2147483655" r:id="R18d58f91020f4daf"/>
    <p:sldLayoutId xmlns:r="http://schemas.openxmlformats.org/officeDocument/2006/relationships" id="2147483656" r:id="R6598a35875594c4f"/>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6662daf69d437b" /><Relationship Type="http://schemas.openxmlformats.org/officeDocument/2006/relationships/image" Target="/ppt/media/image.png" Id="R188f14ad79ec4ce4" /><Relationship Type="http://schemas.openxmlformats.org/officeDocument/2006/relationships/notesSlide" Target="/ppt/notesSlides/notesSlide1.xml" Id="Rca037e13cc5c46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b791cf18ab64f6d" /><Relationship Type="http://schemas.openxmlformats.org/officeDocument/2006/relationships/notesSlide" Target="/ppt/notesSlides/notesSlide2.xml" Id="R2cc7a49b38ff4d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504ea9b76404223" /><Relationship Type="http://schemas.openxmlformats.org/officeDocument/2006/relationships/image" Target="/ppt/media/image.jpeg" Id="R6e2e3719375f423f" /><Relationship Type="http://schemas.openxmlformats.org/officeDocument/2006/relationships/notesSlide" Target="/ppt/notesSlides/notesSlide3.xml" Id="Re32854df35ff4d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90d7e405f304e17" /><Relationship Type="http://schemas.openxmlformats.org/officeDocument/2006/relationships/notesSlide" Target="/ppt/notesSlides/notesSlide4.xml" Id="Rfa3fef1e6c4549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d6f1e4880c046f3" /><Relationship Type="http://schemas.openxmlformats.org/officeDocument/2006/relationships/notesSlide" Target="/ppt/notesSlides/notesSlide5.xml" Id="Re2c3d3c80dd64a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df0994276fd4d40" /><Relationship Type="http://schemas.openxmlformats.org/officeDocument/2006/relationships/notesSlide" Target="/ppt/notesSlides/notesSlide6.xml" Id="R1c20a1fd4d8e40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6ce42ead7e04dca" /><Relationship Type="http://schemas.openxmlformats.org/officeDocument/2006/relationships/notesSlide" Target="/ppt/notesSlides/notesSlide7.xml" Id="R5a56fdacc6764b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a1b0cc90093405a" /><Relationship Type="http://schemas.openxmlformats.org/officeDocument/2006/relationships/notesSlide" Target="/ppt/notesSlides/notesSlide8.xml" Id="R0562f70933dd47e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pPr>
              <a:buNone/>
              <a:defRPr sz="5700">
                <a:solidFill>
                  <a:srgbClr val="FFFFFF"/>
                </a:solidFill>
                <a:latin typeface="Arial"/>
                <a:ea typeface="Arial"/>
                <a:cs typeface="Arial"/>
              </a:defRPr>
            </a:pPr>
            <a:r>
              <a:rPr sz="5700">
                <a:solidFill>
                  <a:srgbClr val="FFFFFF"/>
                </a:solidFill>
                <a:latin typeface="Arial"/>
                <a:ea typeface="Arial"/>
                <a:cs typeface="Arial"/>
              </a:rPr>
              <a:t>Astra-IFC-</a:t>
            </a:r>
          </a:p>
          <a:p xmlns:a="http://schemas.openxmlformats.org/drawingml/2006/main">
            <a:pPr>
              <a:buNone/>
              <a:defRPr sz="5700">
                <a:solidFill>
                  <a:srgbClr val="FFFFFF"/>
                </a:solidFill>
                <a:latin typeface="Arial"/>
                <a:ea typeface="Arial"/>
                <a:cs typeface="Arial"/>
              </a:defRPr>
            </a:pPr>
            <a:r>
              <a:rPr sz="5700">
                <a:solidFill>
                  <a:srgbClr val="FFFFFF"/>
                </a:solidFill>
                <a:latin typeface="Arial"/>
                <a:ea typeface="Arial"/>
                <a:cs typeface="Arial"/>
              </a:rPr>
              <a:t>Complience</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66" y="4619625"/>
            <a:ext cx="6910483" cy="762000"/>
          </a:xfrm>
        </p:spPr>
        <p:txBody>
          <a:bodyPr xmlns:a="http://schemas.openxmlformats.org/drawingml/2006/main" anchor="b">
            <a:noAutofit/>
          </a:bodyPr>
          <a:lstStyle xmlns:a="http://schemas.openxmlformats.org/drawingml/2006/main"/>
          <a:p xmlns:a="http://schemas.openxmlformats.org/drawingml/2006/main">
            <a:pPr>
              <a:buNone/>
              <a:defRPr sz="1950">
                <a:solidFill>
                  <a:srgbClr val="FFFFFF"/>
                </a:solidFill>
                <a:latin typeface="Arial"/>
                <a:ea typeface="Arial"/>
                <a:cs typeface="Arial"/>
              </a:defRPr>
            </a:pPr>
            <a:r>
              <a:rPr sz="1950">
                <a:solidFill>
                  <a:srgbClr val="FFFFFF"/>
                </a:solidFill>
                <a:latin typeface="Arial"/>
                <a:ea typeface="Arial"/>
                <a:cs typeface="Arial"/>
              </a:rPr>
              <a:t>AI-assisted model review</a:t>
            </a:r>
          </a:p>
          <a:p xmlns:a="http://schemas.openxmlformats.org/drawingml/2006/main">
            <a:pPr>
              <a:buNone/>
              <a:defRPr sz="1950">
                <a:solidFill>
                  <a:srgbClr val="FFFFFF"/>
                </a:solidFill>
                <a:latin typeface="Arial"/>
                <a:ea typeface="Arial"/>
                <a:cs typeface="Arial"/>
              </a:defRPr>
            </a:pPr>
            <a:r>
              <a:rPr sz="1950">
                <a:solidFill>
                  <a:srgbClr val="FFFFFF"/>
                </a:solidFill>
                <a:latin typeface="Arial"/>
                <a:ea typeface="Arial"/>
                <a:cs typeface="Arial"/>
              </a:rPr>
              <a:t>For modeling and cost estimation teams</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buNone/>
              <a:defRPr sz="1800">
                <a:solidFill>
                  <a:srgbClr val="FFFFFF"/>
                </a:solidFill>
                <a:latin typeface="Arial"/>
                <a:ea typeface="Arial"/>
                <a:cs typeface="Arial"/>
              </a:defRPr>
            </a:pPr>
            <a:r>
              <a:rPr sz="1800">
                <a:solidFill>
                  <a:srgbClr val="FFFFFF"/>
                </a:solidFill>
                <a:latin typeface="Arial"/>
                <a:ea typeface="Arial"/>
                <a:cs typeface="Arial"/>
              </a:rPr>
              <a:t>Hackathon project demo</a:t>
            </a:r>
          </a:p>
        </p:txBody>
      </p:sp>
      <p:pic>
        <p:nvPicPr>
          <p:cNvPr id="12" name="Picture 6"/>
          <p:cNvPicPr>
            <a:picLocks xmlns:a="http://schemas.openxmlformats.org/drawingml/2006/main" noChangeAspect="1"/>
          </p:cNvPicPr>
          <p:nvPr/>
        </p:nvPicPr>
        <p:blipFill>
          <a:blip xmlns:r="http://schemas.openxmlformats.org/officeDocument/2006/relationships" xmlns:a="http://schemas.openxmlformats.org/drawingml/2006/main" r:embed="R188f14ad79ec4ce4"/>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E6F4757-463F-4F53-ABF0-1AEEE1A13DCC}"/>
              </a:ext>
            </a:extLst>
          </p:cNvPr>
          <p:cNvSpPr>
            <a:spLocks xmlns:a="http://schemas.openxmlformats.org/drawingml/2006/main" noGrp="1"/>
          </p:cNvSpPr>
          <p:nvPr/>
        </p:nvSpPr>
        <p:spPr>
          <a:xfrm xmlns:a="http://schemas.openxmlformats.org/drawingml/2006/main">
            <a:off x="415766" y="5629275"/>
            <a:ext cx="709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a:solidFill>
                  <a:srgbClr val="FFFFFF"/>
                </a:solidFill>
                <a:latin typeface="Arial"/>
                <a:ea typeface="Arial"/>
                <a:cs typeface="Arial"/>
              </a:defRPr>
            </a:pPr>
            <a:r>
              <a:rPr sz="1800">
                <a:solidFill>
                  <a:srgbClr val="FFFFFF"/>
                </a:solidFill>
                <a:latin typeface="Arial"/>
                <a:ea typeface="Arial"/>
                <a:cs typeface="Arial"/>
              </a:rPr>
              <a:t>Chuong Ho  ·  Chuongpvn@gmail.com</a:t>
            </a:r>
          </a:p>
          <a:p xmlns:a="http://schemas.openxmlformats.org/drawingml/2006/main">
            <a:pPr>
              <a:defRPr sz="1800">
                <a:solidFill>
                  <a:srgbClr val="FFFFFF"/>
                </a:solidFill>
                <a:latin typeface="Arial"/>
                <a:ea typeface="Arial"/>
                <a:cs typeface="Arial"/>
              </a:defRPr>
            </a:pPr>
            <a:r>
              <a:rPr sz="1800">
                <a:solidFill>
                  <a:srgbClr val="FFFFFF"/>
                </a:solidFill>
                <a:latin typeface="Arial"/>
                <a:ea typeface="Arial"/>
                <a:cs typeface="Arial"/>
              </a:rPr>
              <a:t>Wonseok  ·  wonseoklee.dev@gmail.com</a:t>
            </a: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600">
                <a:solidFill>
                  <a:srgbClr val="FFFFFF"/>
                </a:solidFill>
                <a:latin typeface="Arial"/>
                <a:ea typeface="Arial"/>
                <a:cs typeface="Arial"/>
              </a:defRPr>
            </a:pPr>
            <a:r>
              <a:rPr sz="3600">
                <a:solidFill>
                  <a:srgbClr val="FFFFFF"/>
                </a:solidFill>
                <a:latin typeface="Arial"/>
                <a:ea typeface="Arial"/>
                <a:cs typeface="Arial"/>
              </a:rPr>
              <a:t>Model data review before estimation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175">
                <a:solidFill>
                  <a:srgbClr val="FFFFFF"/>
                </a:solidFill>
                <a:latin typeface="Arial"/>
                <a:ea typeface="Arial"/>
                <a:cs typeface="Arial"/>
              </a:defRPr>
            </a:pPr>
            <a:r>
              <a:rPr sz="2175">
                <a:solidFill>
                  <a:srgbClr val="FFFFFF"/>
                </a:solidFill>
                <a:latin typeface="Arial"/>
                <a:ea typeface="Arial"/>
                <a:cs typeface="Arial"/>
              </a:rPr>
              <a:t>Modeling teams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175">
                <a:solidFill>
                  <a:srgbClr val="FFFFFF"/>
                </a:solidFill>
                <a:latin typeface="Arial"/>
                <a:ea typeface="Arial"/>
                <a:cs typeface="Arial"/>
              </a:defRPr>
            </a:pPr>
            <a:r>
              <a:rPr sz="2175">
                <a:solidFill>
                  <a:srgbClr val="FFFFFF"/>
                </a:solidFill>
                <a:latin typeface="Arial"/>
                <a:ea typeface="Arial"/>
                <a:cs typeface="Arial"/>
              </a:rPr>
              <a:t>Check an object’s identity and properties in its 3D context.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175">
                <a:solidFill>
                  <a:srgbClr val="FFFFFF"/>
                </a:solidFill>
                <a:latin typeface="Arial"/>
                <a:ea typeface="Arial"/>
                <a:cs typeface="Arial"/>
              </a:defRPr>
            </a:pPr>
            <a:r>
              <a:rPr sz="2175">
                <a:solidFill>
                  <a:srgbClr val="FFFFFF"/>
                </a:solidFill>
                <a:latin typeface="Arial"/>
                <a:ea typeface="Arial"/>
                <a:cs typeface="Arial"/>
              </a:rPr>
              <a:t>Resolve missing or inconsistent information before handing the model to estimators.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175">
                <a:solidFill>
                  <a:srgbClr val="FFFFFF"/>
                </a:solidFill>
                <a:latin typeface="Arial"/>
                <a:ea typeface="Arial"/>
                <a:cs typeface="Arial"/>
              </a:defRPr>
            </a:pPr>
            <a:r>
              <a:rPr sz="2175">
                <a:solidFill>
                  <a:srgbClr val="FFFFFF"/>
                </a:solidFill>
                <a:latin typeface="Arial"/>
                <a:ea typeface="Arial"/>
                <a:cs typeface="Arial"/>
              </a:rPr>
              <a:t>Cost estimation teams</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175">
                <a:solidFill>
                  <a:srgbClr val="FFFFFF"/>
                </a:solidFill>
                <a:latin typeface="Arial"/>
                <a:ea typeface="Arial"/>
                <a:cs typeface="Arial"/>
              </a:defRPr>
            </a:pPr>
            <a:r>
              <a:rPr sz="2175">
                <a:solidFill>
                  <a:srgbClr val="FFFFFF"/>
                </a:solidFill>
                <a:latin typeface="Arial"/>
                <a:ea typeface="Arial"/>
                <a:cs typeface="Arial"/>
              </a:rPr>
              <a:t>Review which elements belong in the estimate.</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175">
                <a:solidFill>
                  <a:srgbClr val="FFFFFF"/>
                </a:solidFill>
                <a:latin typeface="Arial"/>
                <a:ea typeface="Arial"/>
                <a:cs typeface="Arial"/>
              </a:defRPr>
            </a:pPr>
            <a:r>
              <a:rPr sz="2175">
                <a:solidFill>
                  <a:srgbClr val="FFFFFF"/>
                </a:solidFill>
                <a:latin typeface="Arial"/>
                <a:ea typeface="Arial"/>
                <a:cs typeface="Arial"/>
              </a:rPr>
              <a:t>Inspect classifications and export the filtered element list for further work.</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a:xfrm xmlns:a="http://schemas.openxmlformats.org/drawingml/2006/main">
            <a:off x="11277600" y="6276975"/>
            <a:ext cx="523875" cy="24765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1200">
                <a:solidFill>
                  <a:srgbClr val="FFFFFF"/>
                </a:solidFill>
                <a:latin typeface="Arial"/>
                <a:ea typeface="Arial"/>
                <a:cs typeface="Arial"/>
              </a:defRPr>
            </a:pPr>
            <a:fld id="{202359C0-8A7A-196E-DD58-8E6569619F09}" type="slidenum">
              <a:rPr sz="1200">
                <a:solidFill>
                  <a:srgbClr val="FFFFFF"/>
                </a:solidFill>
                <a:latin typeface="Arial"/>
                <a:ea typeface="Arial"/>
                <a:cs typeface="Arial"/>
              </a:rPr>
              <a:t>3</a:t>
            </a:fld>
            <a:endParaRP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390525" y="342900"/>
            <a:ext cx="5524500" cy="104775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300">
                <a:solidFill>
                  <a:srgbClr val="FFFFFF"/>
                </a:solidFill>
                <a:latin typeface="Arial"/>
                <a:ea typeface="Arial"/>
                <a:cs typeface="Arial"/>
              </a:defRPr>
            </a:pPr>
            <a:r>
              <a:rPr sz="3300">
                <a:solidFill>
                  <a:srgbClr val="FFFFFF"/>
                </a:solidFill>
                <a:latin typeface="Arial"/>
                <a:ea typeface="Arial"/>
                <a:cs typeface="Arial"/>
              </a:rPr>
              <a:t>The current workspace</a:t>
            </a:r>
          </a:p>
        </p:txBody>
      </p:sp>
      <p:pic>
        <p:nvPicPr>
          <p:cNvPr id="538" name="Picture 3"/>
          <p:cNvPicPr>
            <a:picLocks xmlns:a="http://schemas.openxmlformats.org/drawingml/2006/main" noChangeAspect="1"/>
          </p:cNvPicPr>
          <p:nvPr/>
        </p:nvPicPr>
        <p:blipFill>
          <a:blip xmlns:r="http://schemas.openxmlformats.org/officeDocument/2006/relationships" xmlns:a="http://schemas.openxmlformats.org/drawingml/2006/main" r:embed="R6e2e3719375f423f"/>
          <a:stretch xmlns:a="http://schemas.openxmlformats.org/drawingml/2006/main"/>
        </p:blipFill>
        <p:spPr>
          <a:xfrm xmlns:a="http://schemas.openxmlformats.org/drawingml/2006/main">
            <a:off x="6269040" y="749216"/>
            <a:ext cx="5539740" cy="4896456"/>
          </a:xfrm>
          <a:prstGeom xmlns:a="http://schemas.openxmlformats.org/drawingml/2006/main" prst="roundRect">
            <a:avLst>
              <a:gd name="adj" fmla="val 1361"/>
            </a:avLst>
          </a:prstGeom>
        </p:spPr>
      </p:pic>
      <p:sp>
        <p:nvSpPr>
          <p:cNvPr id="8" name="Google Shape;534;p58">
            <a:extLst xmlns:a="http://schemas.openxmlformats.org/drawingml/2006/main">
              <a:ext uri="{FF2B5EF4-FFF2-40B4-BE49-F238E27FC236}">
                <a16:creationId xmlns:a16="http://schemas.microsoft.com/office/drawing/2014/main" id="{33514EAC-B165-B2D5-733A-EDDA1BA94C46}"/>
              </a:ext>
            </a:extLst>
          </p:cNvPr>
          <p:cNvSpPr>
            <a:spLocks xmlns:a="http://schemas.openxmlformats.org/drawingml/2006/main" noGrp="1"/>
          </p:cNvSpPr>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100">
                <a:solidFill>
                  <a:srgbClr val="FFFFFF"/>
                </a:solidFill>
                <a:latin typeface="Arial"/>
                <a:ea typeface="Arial"/>
                <a:cs typeface="Arial"/>
              </a:defRPr>
            </a:pPr>
            <a:r>
              <a:rPr sz="2100">
                <a:solidFill>
                  <a:srgbClr val="FFFFFF"/>
                </a:solidFill>
                <a:latin typeface="Arial"/>
                <a:ea typeface="Arial"/>
                <a:cs typeface="Arial"/>
              </a:rPr>
              <a:t>A connected view of the model</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100">
                <a:solidFill>
                  <a:srgbClr val="FFFFFF"/>
                </a:solidFill>
                <a:latin typeface="Arial"/>
                <a:ea typeface="Arial"/>
                <a:cs typeface="Arial"/>
              </a:defRPr>
            </a:pPr>
            <a:r>
              <a:rPr sz="2100">
                <a:solidFill>
                  <a:srgbClr val="FFFFFF"/>
                </a:solidFill>
                <a:latin typeface="Arial"/>
                <a:ea typeface="Arial"/>
                <a:cs typeface="Arial"/>
              </a:rPr>
              <a:t>Select an element in the tree, 3D scene, or data sheet.</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100">
                <a:solidFill>
                  <a:srgbClr val="FFFFFF"/>
                </a:solidFill>
                <a:latin typeface="Arial"/>
                <a:ea typeface="Arial"/>
                <a:cs typeface="Arial"/>
              </a:defRPr>
            </a:pPr>
            <a:r>
              <a:rPr sz="2100">
                <a:solidFill>
                  <a:srgbClr val="FFFFFF"/>
                </a:solidFill>
                <a:latin typeface="Arial"/>
                <a:ea typeface="Arial"/>
                <a:cs typeface="Arial"/>
              </a:rPr>
              <a:t>Inspect its properties, zoom in, or isolate it for review.</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100">
                <a:solidFill>
                  <a:srgbClr val="FFFFFF"/>
                </a:solidFill>
                <a:latin typeface="Arial"/>
                <a:ea typeface="Arial"/>
                <a:cs typeface="Arial"/>
              </a:defRPr>
            </a:pPr>
            <a:r>
              <a:rPr sz="2100">
                <a:solidFill>
                  <a:srgbClr val="FFFFFF"/>
                </a:solidFill>
                <a:latin typeface="Arial"/>
                <a:ea typeface="Arial"/>
                <a:cs typeface="Arial"/>
              </a:rPr>
              <a:t>The bundled sample loads 483 elements.</a:t>
            </a:r>
          </a:p>
        </p:txBody>
      </p:sp>
    </p:spTree>
    <p:extLst>
      <p:ext uri="{BB962C8B-B14F-4D97-AF65-F5344CB8AC3E}">
        <p14:creationId xmlns:p14="http://schemas.microsoft.com/office/powerpoint/2010/main" val="324567077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0525" y="6048375"/>
            <a:ext cx="10287000" cy="381000"/>
          </a:xfrm>
        </p:spPr>
        <p:txBody>
          <a:bodyPr xmlns:a="http://schemas.openxmlformats.org/drawingml/2006/main">
            <a:noAutofit/>
          </a:bodyPr>
          <a:lstStyle xmlns:a="http://schemas.openxmlformats.org/drawingml/2006/main"/>
          <a:p xmlns:a="http://schemas.openxmlformats.org/drawingml/2006/main">
            <a:pPr>
              <a:buNone/>
              <a:defRPr sz="1425">
                <a:solidFill>
                  <a:srgbClr val="FFFFFF"/>
                </a:solidFill>
                <a:latin typeface="Arial"/>
                <a:ea typeface="Arial"/>
                <a:cs typeface="Arial"/>
              </a:defRPr>
            </a:pPr>
            <a:r>
              <a:rPr sz="1425">
                <a:solidFill>
                  <a:srgbClr val="FFFFFF"/>
                </a:solidFill>
                <a:latin typeface="Arial"/>
                <a:ea typeface="Arial"/>
                <a:cs typeface="Arial"/>
              </a:rPr>
              <a:t>Target workflow. AI mapping and write-back are not implemented in this repo.</a:t>
            </a: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buNone/>
              <a:defRPr sz="1200">
                <a:solidFill>
                  <a:srgbClr val="FFFFFF"/>
                </a:solidFill>
                <a:latin typeface="Arial"/>
                <a:ea typeface="Arial"/>
                <a:cs typeface="Arial"/>
              </a:defRPr>
            </a:pPr>
            <a:fld id="{EFD6AB9A-5F9E-5F59-51AB-3C8734130965}" type="slidenum">
              <a:rPr sz="1200">
                <a:solidFill>
                  <a:srgbClr val="FFFFFF"/>
                </a:solidFill>
                <a:latin typeface="Arial"/>
                <a:ea typeface="Arial"/>
                <a:cs typeface="Arial"/>
              </a:rPr>
              <a:t>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buNone/>
              <a:defRPr sz="3600">
                <a:solidFill>
                  <a:srgbClr val="FFFFFF"/>
                </a:solidFill>
                <a:latin typeface="Arial"/>
                <a:ea typeface="Arial"/>
                <a:cs typeface="Arial"/>
              </a:defRPr>
            </a:pPr>
            <a:r>
              <a:rPr sz="3600">
                <a:solidFill>
                  <a:srgbClr val="FFFFFF"/>
                </a:solidFill>
                <a:latin typeface="Arial"/>
                <a:ea typeface="Arial"/>
                <a:cs typeface="Arial"/>
              </a:rPr>
              <a:t>AI-assisted mapping and compliance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1. Read the standard</a:t>
            </a:r>
          </a:p>
          <a:p xmlns:a="http://schemas.openxmlformats.org/drawingml/2006/main">
            <a:pPr marL="0" marR="0" lvl="0" indent="0" algn="l" defTabSz="914400">
              <a:lnSpc>
                <a:spcPct val="100000"/>
              </a:lnSpc>
              <a:spcBef>
                <a:spcPts val="1300"/>
              </a:spcBef>
              <a:spcAft>
                <a:spcPts val="1300"/>
              </a:spcAft>
              <a:buClrTx/>
              <a:buSzTx/>
              <a:buFontTx/>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Use the supplied ASTM UniFormat workbook as the reference for mapping.</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2. Propose a mapping</a:t>
            </a:r>
          </a:p>
          <a:p xmlns:a="http://schemas.openxmlformats.org/drawingml/2006/main">
            <a:pPr marL="0" marR="0" lvl="0" indent="0" algn="l" defTabSz="914400">
              <a:lnSpc>
                <a:spcPct val="100000"/>
              </a:lnSpc>
              <a:spcBef>
                <a:spcPts val="1300"/>
              </a:spcBef>
              <a:spcAft>
                <a:spcPts val="1300"/>
              </a:spcAft>
              <a:buClrTx/>
              <a:buSzTx/>
              <a:buFontTx/>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AI suggests a classification using the object’s properties and context.</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025">
                <a:solidFill>
                  <a:srgbClr val="FFFFFF"/>
                </a:solidFill>
                <a:latin typeface="Arial"/>
                <a:ea typeface="Arial"/>
                <a:cs typeface="Arial"/>
              </a:defRPr>
            </a:pPr>
            <a:r>
              <a:rPr sz="2025">
                <a:solidFill>
                  <a:srgbClr val="FFFFFF"/>
                </a:solidFill>
                <a:latin typeface="Arial"/>
                <a:ea typeface="Arial"/>
                <a:cs typeface="Arial"/>
              </a:rPr>
              <a:t>3. Review the evidence</a:t>
            </a:r>
          </a:p>
          <a:p xmlns:a="http://schemas.openxmlformats.org/drawingml/2006/main">
            <a:pPr marL="0" indent="0">
              <a:lnSpc>
                <a:spcPct val="100000"/>
              </a:lnSpc>
              <a:spcBef>
                <a:spcPts val="1300"/>
              </a:spcBef>
              <a:spcAft>
                <a:spcPts val="1300"/>
              </a:spcAft>
              <a:buFontTx/>
              <a:buNone/>
              <a:defRPr sz="2025">
                <a:solidFill>
                  <a:srgbClr val="FFFFFF"/>
                </a:solidFill>
                <a:latin typeface="Arial"/>
                <a:ea typeface="Arial"/>
                <a:cs typeface="Arial"/>
              </a:defRPr>
            </a:pPr>
            <a:r>
              <a:rPr sz="2025">
                <a:solidFill>
                  <a:srgbClr val="FFFFFF"/>
                </a:solidFill>
                <a:latin typeface="Arial"/>
                <a:ea typeface="Arial"/>
                <a:cs typeface="Arial"/>
              </a:rPr>
              <a:t>Ask why the mapping fits and identify missing data before accepting it.</a:t>
            </a:r>
            <a:endParaRPr sz="1800">
              <a:latin typeface="Helvetica Neue"/>
              <a:ea typeface="Helvetica Neue"/>
              <a:cs typeface="Helvetica Neue"/>
            </a:endParaRP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025">
                <a:solidFill>
                  <a:srgbClr val="FFFFFF"/>
                </a:solidFill>
                <a:latin typeface="Arial"/>
                <a:ea typeface="Arial"/>
                <a:cs typeface="Arial"/>
              </a:defRPr>
            </a:pPr>
            <a:r>
              <a:rPr sz="2025">
                <a:solidFill>
                  <a:srgbClr val="FFFFFF"/>
                </a:solidFill>
                <a:latin typeface="Arial"/>
                <a:ea typeface="Arial"/>
                <a:cs typeface="Arial"/>
              </a:rPr>
              <a:t>4. Confirm and update</a:t>
            </a:r>
          </a:p>
          <a:p xmlns:a="http://schemas.openxmlformats.org/drawingml/2006/main">
            <a:pPr marL="0" indent="0">
              <a:lnSpc>
                <a:spcPct val="100000"/>
              </a:lnSpc>
              <a:spcBef>
                <a:spcPts val="1300"/>
              </a:spcBef>
              <a:spcAft>
                <a:spcPts val="1300"/>
              </a:spcAft>
              <a:buFontTx/>
              <a:buNone/>
              <a:defRPr sz="2025">
                <a:solidFill>
                  <a:srgbClr val="FFFFFF"/>
                </a:solidFill>
                <a:latin typeface="Arial"/>
                <a:ea typeface="Arial"/>
                <a:cs typeface="Arial"/>
              </a:defRPr>
            </a:pPr>
            <a:r>
              <a:rPr sz="2025">
                <a:solidFill>
                  <a:srgbClr val="FFFFFF"/>
                </a:solidFill>
                <a:latin typeface="Arial"/>
                <a:ea typeface="Arial"/>
                <a:cs typeface="Arial"/>
              </a:rPr>
              <a:t>A modeler approves the mapping before updating the model data.</a:t>
            </a:r>
            <a:endParaRPr sz="1800">
              <a:latin typeface="Helvetica Neue"/>
              <a:ea typeface="Helvetica Neue"/>
              <a:cs typeface="Helvetica Neue"/>
            </a:endParaRPr>
          </a:p>
        </p:txBody>
      </p:sp>
    </p:spTree>
    <p:extLst>
      <p:ext uri="{BB962C8B-B14F-4D97-AF65-F5344CB8AC3E}">
        <p14:creationId xmlns:p14="http://schemas.microsoft.com/office/powerpoint/2010/main" val="3601454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a:xfrm xmlns:a="http://schemas.openxmlformats.org/drawingml/2006/main">
            <a:off x="390525" y="6191250"/>
            <a:ext cx="10477500" cy="381000"/>
          </a:xfrm>
        </p:spPr>
        <p:txBody>
          <a:bodyPr xmlns:a="http://schemas.openxmlformats.org/drawingml/2006/main">
            <a:noAutofit/>
          </a:bodyPr>
          <a:lstStyle xmlns:a="http://schemas.openxmlformats.org/drawingml/2006/main"/>
          <a:p xmlns:a="http://schemas.openxmlformats.org/drawingml/2006/main">
            <a:pPr>
              <a:buNone/>
              <a:defRPr sz="1425">
                <a:solidFill>
                  <a:srgbClr val="FFFFFF"/>
                </a:solidFill>
                <a:latin typeface="Arial"/>
                <a:ea typeface="Arial"/>
                <a:cs typeface="Arial"/>
              </a:defRPr>
            </a:pPr>
            <a:r>
              <a:rPr sz="1425">
                <a:solidFill>
                  <a:srgbClr val="FFFFFF"/>
                </a:solidFill>
                <a:latin typeface="Arial"/>
                <a:ea typeface="Arial"/>
                <a:cs typeface="Arial"/>
              </a:rPr>
              <a:t>Live model and Agents API integration are not verified in this repository.</a:t>
            </a:r>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1200">
                <a:solidFill>
                  <a:srgbClr val="FFFFFF"/>
                </a:solidFill>
                <a:latin typeface="Arial"/>
                <a:ea typeface="Arial"/>
                <a:cs typeface="Arial"/>
              </a:defRPr>
            </a:pPr>
            <a:fld id="{EE5B3003-2C54-13C6-9832-7637201064DE}" type="slidenum">
              <a:rPr sz="1200">
                <a:solidFill>
                  <a:srgbClr val="FFFFFF"/>
                </a:solidFill>
                <a:latin typeface="Arial"/>
                <a:ea typeface="Arial"/>
                <a:cs typeface="Arial"/>
              </a:rPr>
              <a:t>5</a:t>
            </a:fld>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600">
                <a:solidFill>
                  <a:srgbClr val="FFFFFF"/>
                </a:solidFill>
                <a:latin typeface="Arial"/>
                <a:ea typeface="Arial"/>
                <a:cs typeface="Arial"/>
              </a:defRPr>
            </a:pPr>
            <a:r>
              <a:rPr sz="3600">
                <a:solidFill>
                  <a:srgbClr val="FFFFFF"/>
                </a:solidFill>
                <a:latin typeface="Arial"/>
                <a:ea typeface="Arial"/>
                <a:cs typeface="Arial"/>
              </a:rPr>
              <a:t>Astra: intended hackathon use</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defRPr sz="2025">
                <a:solidFill>
                  <a:srgbClr val="FFFFFF"/>
                </a:solidFill>
                <a:latin typeface="Arial"/>
                <a:ea typeface="Arial"/>
                <a:cs typeface="Arial"/>
              </a:defRPr>
            </a:pPr>
            <a:r>
              <a:rPr sz="2025">
                <a:solidFill>
                  <a:srgbClr val="FFFFFF"/>
                </a:solidFill>
                <a:latin typeface="Arial"/>
                <a:ea typeface="Arial"/>
                <a:cs typeface="Arial"/>
              </a:rPr>
              <a:t>GPT-Live-1</a:t>
            </a:r>
            <a:endParaRPr sz="1800">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
            </a:r>
            <a:endParaRPr sz="18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2025">
                <a:solidFill>
                  <a:srgbClr val="FFFFFF"/>
                </a:solidFill>
                <a:latin typeface="Arial"/>
                <a:ea typeface="Arial"/>
                <a:cs typeface="Arial"/>
              </a:defRPr>
            </a:pPr>
            <a:r>
              <a:rPr sz="2025">
                <a:solidFill>
                  <a:srgbClr val="FFFFFF"/>
                </a:solidFill>
                <a:latin typeface="Arial"/>
                <a:ea typeface="Arial"/>
                <a:cs typeface="Arial"/>
              </a:rPr>
              <a:t>Discuss the current model through natural conversation while keeping the selected object in context.</a:t>
            </a:r>
            <a:endParaRPr sz="1800">
              <a:latin typeface="Helvetica Neue"/>
              <a:ea typeface="Helvetica Neue"/>
              <a:cs typeface="Helvetica Neue"/>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Agents API</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latin typeface="Helvetica Neue"/>
                <a:ea typeface="Helvetica Neue"/>
                <a:cs typeface="Helvetica Neue"/>
              </a:rPr>
              <a:t/>
            </a:r>
          </a:p>
          <a:p xmlns:a="http://schemas.openxmlformats.org/drawingml/2006/main">
            <a:pPr marL="0" marR="0" lvl="0" indent="0" algn="l" defTabSz="914400">
              <a:lnSpc>
                <a:spcPct val="114000"/>
              </a:lnSpc>
              <a:spcBef>
                <a:spcPts val="0"/>
              </a:spcBef>
              <a:spcAft>
                <a:spcPts val="800"/>
              </a:spcAft>
              <a:buClrTx/>
              <a:buSzTx/>
              <a:buFont typeface="Arial"/>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Use model tools to inspect properties, change the view, and prepare an issue for human review.</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Visual Understanding</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latin typeface="Helvetica Neue"/>
                <a:ea typeface="Helvetica Neue"/>
                <a:cs typeface="Helvetica Neue"/>
              </a:rPr>
              <a:t/>
            </a:r>
          </a:p>
          <a:p xmlns:a="http://schemas.openxmlformats.org/drawingml/2006/main">
            <a:pPr marL="0" indent="0">
              <a:buNone/>
              <a:defRPr sz="2025">
                <a:solidFill>
                  <a:srgbClr val="FFFFFF"/>
                </a:solidFill>
                <a:latin typeface="Arial"/>
                <a:ea typeface="Arial"/>
                <a:cs typeface="Arial"/>
              </a:defRPr>
            </a:pPr>
            <a:r>
              <a:rPr sz="2025">
                <a:solidFill>
                  <a:srgbClr val="FFFFFF"/>
                </a:solidFill>
                <a:latin typeface="Arial"/>
                <a:ea typeface="Arial"/>
                <a:cs typeface="Arial"/>
              </a:rPr>
              <a:t>Connect questions about the visible 3D scene with IFC element properties and review evidence.</a:t>
            </a:r>
            <a:endParaRPr/>
          </a:p>
        </p:txBody>
      </p:sp>
    </p:spTree>
    <p:extLst>
      <p:ext uri="{BB962C8B-B14F-4D97-AF65-F5344CB8AC3E}">
        <p14:creationId xmlns:p14="http://schemas.microsoft.com/office/powerpoint/2010/main" val="139345699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8C630A04-5A25-9E0C-9436-126091DB86B3}" type="slidenum">
              <a:t>6</a:t>
            </a:fld>
            <a:endParaRPr/>
          </a:p>
        </p:txBody>
      </p:sp>
      <p:sp>
        <p:nvSpPr>
          <p:cNvPr id="3" name="Title 2">
            <a:extLst xmlns:a="http://schemas.openxmlformats.org/drawingml/2006/main">
              <a:ext uri="{FF2B5EF4-FFF2-40B4-BE49-F238E27FC236}">
                <a16:creationId xmlns:a16="http://schemas.microsoft.com/office/drawing/2014/main" id="{FC59BB80-DF6A-0532-F91A-4A78B8E5820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Live demo sequence</a:t>
            </a:r>
          </a:p>
        </p:txBody>
      </p:sp>
      <p:graphicFrame>
        <p:nvGraphicFramePr>
          <p:cNvPr id="10" name="Table 3"/>
          <p:cNvGraphicFramePr/>
          <p:nvPr/>
        </p:nvGraphicFramePr>
        <p:xfrm>
          <a:off xmlns:a="http://schemas.openxmlformats.org/drawingml/2006/main" x="393700" y="2080009"/>
          <a:ext xmlns:a="http://schemas.openxmlformats.org/drawingml/2006/main" cx="11404600" cy="3914388"/>
        </p:xfrm>
        <a:graphic xmlns:a="http://schemas.openxmlformats.org/drawingml/2006/main">
          <a:graphicData uri="http://schemas.openxmlformats.org/drawingml/2006/table">
            <a:tbl>
              <a:tblPr firstRow="1" bandRow="1">
                <a:tableStyleId>{5C22544A-7EE6-4342-B048-85BDC9FD1C3A}</a:tableStyleId>
              </a:tblPr>
              <a:tblGrid>
                <a:gridCol w="878509"/>
                <a:gridCol w="10526091"/>
              </a:tblGrid>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01</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Open the sample IFC model</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02</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Select an object and inspect properties</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03</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Ask about the selected element</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04</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Isolate it and inspect the 3D view</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05</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Draft and save a review issue</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06</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Filter the sheet and export Excel</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291587740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FBA02CCA-F21B-9365-60C4-CCFEB9244CCA}"/>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3B21B056-C0DC-9927-7975-E8A8720D325A}"/>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1200">
                <a:solidFill>
                  <a:srgbClr val="FFFFFF"/>
                </a:solidFill>
                <a:latin typeface="Arial"/>
                <a:ea typeface="Arial"/>
                <a:cs typeface="Arial"/>
              </a:defRPr>
            </a:pPr>
            <a:fld id="{D3D7D1C8-AE23-AA48-DF65-C742588DBE47}" type="slidenum">
              <a:rPr sz="1200">
                <a:solidFill>
                  <a:srgbClr val="FFFFFF"/>
                </a:solidFill>
                <a:latin typeface="Arial"/>
                <a:ea typeface="Arial"/>
                <a:cs typeface="Arial"/>
              </a:rPr>
              <a:t>7</a:t>
            </a:fld>
            <a:endParaRPr/>
          </a:p>
        </p:txBody>
      </p:sp>
      <p:sp>
        <p:nvSpPr>
          <p:cNvPr id="533" name="Google Shape;533;p58">
            <a:extLst xmlns:a="http://schemas.openxmlformats.org/drawingml/2006/main">
              <a:ext uri="{FF2B5EF4-FFF2-40B4-BE49-F238E27FC236}">
                <a16:creationId xmlns:a16="http://schemas.microsoft.com/office/drawing/2014/main" id="{62D86C57-5A36-A9CA-FBAE-7FD6A93121B0}"/>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600">
                <a:solidFill>
                  <a:srgbClr val="FFFFFF"/>
                </a:solidFill>
                <a:latin typeface="Arial"/>
                <a:ea typeface="Arial"/>
                <a:cs typeface="Arial"/>
              </a:defRPr>
            </a:pPr>
            <a:r>
              <a:rPr sz="3600">
                <a:solidFill>
                  <a:srgbClr val="FFFFFF"/>
                </a:solidFill>
                <a:latin typeface="Arial"/>
                <a:ea typeface="Arial"/>
                <a:cs typeface="Arial"/>
              </a:rPr>
              <a:t>Prototype status and next steps</a:t>
            </a:r>
          </a:p>
        </p:txBody>
      </p:sp>
      <p:sp>
        <p:nvSpPr>
          <p:cNvPr id="5" name="Google Shape;558;p61">
            <a:extLst xmlns:a="http://schemas.openxmlformats.org/drawingml/2006/main">
              <a:ext uri="{FF2B5EF4-FFF2-40B4-BE49-F238E27FC236}">
                <a16:creationId xmlns:a16="http://schemas.microsoft.com/office/drawing/2014/main" id="{CF52371F-8816-97E4-7F6A-234DB3FEF95A}"/>
              </a:ext>
            </a:extLst>
          </p:cNvPr>
          <p:cNvSpPr>
            <a:spLocks xmlns:a="http://schemas.openxmlformats.org/drawingml/2006/main" noGrp="1"/>
          </p:cNvSpPr>
          <p:nvPr/>
        </p:nvSpPr>
        <p:spPr>
          <a:xfrm xmlns:a="http://schemas.openxmlformats.org/drawingml/2006/main">
            <a:off x="3937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Working today</a:t>
            </a:r>
          </a:p>
          <a:p xmlns:a="http://schemas.openxmlformats.org/drawingml/2006/main">
            <a:pPr marL="0" indent="0">
              <a:lnSpc>
                <a:spcPct val="114000"/>
              </a:lnSpc>
              <a:spcBef>
                <a:spcPts val="0"/>
              </a:spcBef>
              <a:spcAft>
                <a:spcPts val="800"/>
              </a:spcAft>
              <a:buFont typeface="Arial"/>
              <a:buNone/>
            </a:pPr>
            <a:r>
              <a:rPr sz="20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IFC import, linked selection, scene controls, Excel export, and local review issues.</a:t>
            </a:r>
          </a:p>
        </p:txBody>
      </p:sp>
      <p:sp>
        <p:nvSpPr>
          <p:cNvPr id="6" name="Google Shape;559;p61">
            <a:extLst xmlns:a="http://schemas.openxmlformats.org/drawingml/2006/main">
              <a:ext uri="{FF2B5EF4-FFF2-40B4-BE49-F238E27FC236}">
                <a16:creationId xmlns:a16="http://schemas.microsoft.com/office/drawing/2014/main" id="{B35EA25F-F28D-25C7-A5DF-16A7EADF8DBD}"/>
              </a:ext>
            </a:extLst>
          </p:cNvPr>
          <p:cNvSpPr>
            <a:spLocks xmlns:a="http://schemas.openxmlformats.org/drawingml/2006/main" noGrp="1"/>
          </p:cNvSpPr>
          <p:nvPr/>
        </p:nvSpPr>
        <p:spPr>
          <a:xfrm xmlns:a="http://schemas.openxmlformats.org/drawingml/2006/main">
            <a:off x="43180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Tool foundation</a:t>
            </a:r>
            <a:endParaRPr sz="20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2000">
                <a:latin typeface="Helvetica Neue"/>
                <a:ea typeface="Helvetica Neue"/>
                <a:cs typeface="Helvetica Neue"/>
              </a:rPr>
              <a:t/>
            </a:r>
            <a:endParaRPr sz="20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10 WebMCP tools expose model data, scene state, measurements, and issue actions.</a:t>
            </a:r>
            <a:endParaRPr sz="2000">
              <a:latin typeface="Helvetica Neue"/>
              <a:ea typeface="Helvetica Neue"/>
              <a:cs typeface="Helvetica Neue"/>
            </a:endParaRPr>
          </a:p>
        </p:txBody>
      </p:sp>
      <p:sp>
        <p:nvSpPr>
          <p:cNvPr id="7" name="Google Shape;560;p61">
            <a:extLst xmlns:a="http://schemas.openxmlformats.org/drawingml/2006/main">
              <a:ext uri="{FF2B5EF4-FFF2-40B4-BE49-F238E27FC236}">
                <a16:creationId xmlns:a16="http://schemas.microsoft.com/office/drawing/2014/main" id="{6E61CDC3-05E3-B689-0BCE-9014DDCB5EE8}"/>
              </a:ext>
            </a:extLst>
          </p:cNvPr>
          <p:cNvSpPr>
            <a:spLocks xmlns:a="http://schemas.openxmlformats.org/drawingml/2006/main" noGrp="1"/>
          </p:cNvSpPr>
          <p:nvPr/>
        </p:nvSpPr>
        <p:spPr>
          <a:xfrm xmlns:a="http://schemas.openxmlformats.org/drawingml/2006/main">
            <a:off x="8232273"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Next integration</a:t>
            </a:r>
            <a:endParaRPr sz="20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2000">
                <a:latin typeface="Helvetica Neue"/>
                <a:ea typeface="Helvetica Neue"/>
                <a:cs typeface="Helvetica Neue"/>
              </a:rPr>
              <a:t/>
            </a:r>
            <a:endParaRPr sz="20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Connect live Astra, add standards reasoning, and persist approved mappings.</a:t>
            </a:r>
            <a:endParaRPr sz="2000">
              <a:latin typeface="Helvetica Neue"/>
              <a:ea typeface="Helvetica Neue"/>
              <a:cs typeface="Helvetica Neue"/>
            </a:endParaRPr>
          </a:p>
        </p:txBody>
      </p:sp>
      <p:sp>
        <p:nvSpPr>
          <p:cNvPr id="8" name="Google Shape;561;p61">
            <a:extLst xmlns:a="http://schemas.openxmlformats.org/drawingml/2006/main">
              <a:ext uri="{FF2B5EF4-FFF2-40B4-BE49-F238E27FC236}">
                <a16:creationId xmlns:a16="http://schemas.microsoft.com/office/drawing/2014/main" id="{2E9332F7-1AC8-A3A0-635E-D70D0C3E6A72}"/>
              </a:ext>
            </a:extLst>
          </p:cNvPr>
          <p:cNvSpPr>
            <a:spLocks xmlns:a="http://schemas.openxmlformats.org/drawingml/2006/main" noGrp="1"/>
          </p:cNvSpPr>
          <p:nvPr/>
        </p:nvSpPr>
        <p:spPr>
          <a:xfrm xmlns:a="http://schemas.openxmlformats.org/drawingml/2006/main">
            <a:off x="4279904" y="3382303"/>
            <a:ext cx="315580" cy="353873"/>
          </a:xfrm>
          <a:custGeom xmlns:a="http://schemas.openxmlformats.org/drawingml/2006/main">
            <a:rect l="l" t="t" r="r" b="b"/>
            <a:pathLst>
              <a:path w="20236" h="20115">
                <a:moveTo>
                  <a:pt x="11303" y="2594"/>
                </a:moveTo>
                <a:lnTo>
                  <a:pt x="2175" y="11983"/>
                </a:lnTo>
                <a:lnTo>
                  <a:pt x="9033" y="11983"/>
                </a:lnTo>
                <a:cubicBezTo>
                  <a:pt x="9364" y="11983"/>
                  <a:pt x="9678" y="12118"/>
                  <a:pt x="9883" y="12348"/>
                </a:cubicBezTo>
                <a:cubicBezTo>
                  <a:pt x="10089" y="12579"/>
                  <a:pt x="10165" y="12880"/>
                  <a:pt x="10089" y="13166"/>
                </a:cubicBezTo>
                <a:lnTo>
                  <a:pt x="8933" y="17522"/>
                </a:lnTo>
                <a:lnTo>
                  <a:pt x="18061" y="8133"/>
                </a:lnTo>
                <a:lnTo>
                  <a:pt x="11203" y="8133"/>
                </a:lnTo>
                <a:cubicBezTo>
                  <a:pt x="10872" y="8133"/>
                  <a:pt x="10558" y="7999"/>
                  <a:pt x="10353" y="7768"/>
                </a:cubicBezTo>
                <a:cubicBezTo>
                  <a:pt x="10147" y="7537"/>
                  <a:pt x="10071" y="7236"/>
                  <a:pt x="10147" y="6950"/>
                </a:cubicBezTo>
                <a:lnTo>
                  <a:pt x="11303" y="2594"/>
                </a:lnTo>
                <a:close/>
                <a:moveTo>
                  <a:pt x="10382" y="593"/>
                </a:moveTo>
                <a:cubicBezTo>
                  <a:pt x="11679" y="-742"/>
                  <a:pt x="14125" y="363"/>
                  <a:pt x="13670" y="2078"/>
                </a:cubicBezTo>
                <a:lnTo>
                  <a:pt x="12574" y="6208"/>
                </a:lnTo>
                <a:lnTo>
                  <a:pt x="18061" y="6208"/>
                </a:lnTo>
                <a:cubicBezTo>
                  <a:pt x="19918" y="6208"/>
                  <a:pt x="20918" y="8142"/>
                  <a:pt x="19705" y="9390"/>
                </a:cubicBezTo>
                <a:lnTo>
                  <a:pt x="9854" y="19523"/>
                </a:lnTo>
                <a:cubicBezTo>
                  <a:pt x="8557" y="20858"/>
                  <a:pt x="6111" y="19753"/>
                  <a:pt x="6566" y="18038"/>
                </a:cubicBezTo>
                <a:lnTo>
                  <a:pt x="7662" y="13908"/>
                </a:lnTo>
                <a:lnTo>
                  <a:pt x="2175" y="13908"/>
                </a:lnTo>
                <a:cubicBezTo>
                  <a:pt x="318" y="13908"/>
                  <a:pt x="-682" y="11974"/>
                  <a:pt x="531" y="10726"/>
                </a:cubicBezTo>
                <a:lnTo>
                  <a:pt x="10382" y="593"/>
                </a:ln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
        <p:nvSpPr>
          <p:cNvPr id="9" name="Google Shape;562;p61">
            <a:extLst xmlns:a="http://schemas.openxmlformats.org/drawingml/2006/main">
              <a:ext uri="{FF2B5EF4-FFF2-40B4-BE49-F238E27FC236}">
                <a16:creationId xmlns:a16="http://schemas.microsoft.com/office/drawing/2014/main" id="{1F6EAF7D-166C-52A8-35F4-18CE1043DC36}"/>
              </a:ext>
            </a:extLst>
          </p:cNvPr>
          <p:cNvSpPr>
            <a:spLocks xmlns:a="http://schemas.openxmlformats.org/drawingml/2006/main" noGrp="1"/>
          </p:cNvSpPr>
          <p:nvPr/>
        </p:nvSpPr>
        <p:spPr>
          <a:xfrm xmlns:a="http://schemas.openxmlformats.org/drawingml/2006/main">
            <a:off x="401398" y="3378212"/>
            <a:ext cx="327078" cy="362074"/>
          </a:xfrm>
          <a:custGeom xmlns:a="http://schemas.openxmlformats.org/drawingml/2006/main">
            <a:rect l="l" t="t" r="r" b="b"/>
            <a:pathLst>
              <a:path w="21600" h="21333">
                <a:moveTo>
                  <a:pt x="11359" y="2130"/>
                </a:moveTo>
                <a:cubicBezTo>
                  <a:pt x="11014" y="1951"/>
                  <a:pt x="10588" y="1951"/>
                  <a:pt x="10241" y="2130"/>
                </a:cubicBezTo>
                <a:lnTo>
                  <a:pt x="3250" y="5732"/>
                </a:lnTo>
                <a:lnTo>
                  <a:pt x="10817" y="9530"/>
                </a:lnTo>
                <a:lnTo>
                  <a:pt x="18593" y="5856"/>
                </a:lnTo>
                <a:lnTo>
                  <a:pt x="11359" y="2130"/>
                </a:lnTo>
                <a:close/>
                <a:moveTo>
                  <a:pt x="19364" y="7749"/>
                </a:moveTo>
                <a:lnTo>
                  <a:pt x="11918" y="11267"/>
                </a:lnTo>
                <a:lnTo>
                  <a:pt x="11918" y="18916"/>
                </a:lnTo>
                <a:lnTo>
                  <a:pt x="18805" y="15367"/>
                </a:lnTo>
                <a:cubicBezTo>
                  <a:pt x="19152" y="15189"/>
                  <a:pt x="19364" y="14860"/>
                  <a:pt x="19364" y="14503"/>
                </a:cubicBezTo>
                <a:lnTo>
                  <a:pt x="19364" y="7749"/>
                </a:lnTo>
                <a:close/>
                <a:moveTo>
                  <a:pt x="9682" y="18916"/>
                </a:moveTo>
                <a:lnTo>
                  <a:pt x="9682" y="11250"/>
                </a:lnTo>
                <a:lnTo>
                  <a:pt x="2236" y="7513"/>
                </a:lnTo>
                <a:lnTo>
                  <a:pt x="2236" y="14503"/>
                </a:lnTo>
                <a:cubicBezTo>
                  <a:pt x="2236" y="14860"/>
                  <a:pt x="2448" y="15189"/>
                  <a:pt x="2795" y="15367"/>
                </a:cubicBezTo>
                <a:lnTo>
                  <a:pt x="9682" y="18916"/>
                </a:lnTo>
                <a:close/>
                <a:moveTo>
                  <a:pt x="9123" y="401"/>
                </a:moveTo>
                <a:cubicBezTo>
                  <a:pt x="10160" y="-133"/>
                  <a:pt x="11440" y="-133"/>
                  <a:pt x="12477" y="401"/>
                </a:cubicBezTo>
                <a:lnTo>
                  <a:pt x="19923" y="4238"/>
                </a:lnTo>
                <a:cubicBezTo>
                  <a:pt x="20962" y="4773"/>
                  <a:pt x="21600" y="5761"/>
                  <a:pt x="21600" y="6830"/>
                </a:cubicBezTo>
                <a:lnTo>
                  <a:pt x="21600" y="14503"/>
                </a:lnTo>
                <a:cubicBezTo>
                  <a:pt x="21600" y="15572"/>
                  <a:pt x="20962" y="16561"/>
                  <a:pt x="19923" y="17096"/>
                </a:cubicBezTo>
                <a:lnTo>
                  <a:pt x="12477" y="20932"/>
                </a:lnTo>
                <a:cubicBezTo>
                  <a:pt x="11440" y="21467"/>
                  <a:pt x="10160" y="21467"/>
                  <a:pt x="9123" y="20932"/>
                </a:cubicBezTo>
                <a:lnTo>
                  <a:pt x="1677" y="17096"/>
                </a:lnTo>
                <a:cubicBezTo>
                  <a:pt x="640" y="16561"/>
                  <a:pt x="0" y="15572"/>
                  <a:pt x="0" y="14503"/>
                </a:cubicBezTo>
                <a:lnTo>
                  <a:pt x="0" y="6830"/>
                </a:lnTo>
                <a:cubicBezTo>
                  <a:pt x="0" y="5761"/>
                  <a:pt x="640" y="4773"/>
                  <a:pt x="1677" y="4238"/>
                </a:cubicBezTo>
                <a:lnTo>
                  <a:pt x="9123" y="401"/>
                </a:ln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
        <p:nvSpPr>
          <p:cNvPr id="10" name="Google Shape;563;p61">
            <a:extLst xmlns:a="http://schemas.openxmlformats.org/drawingml/2006/main">
              <a:ext uri="{FF2B5EF4-FFF2-40B4-BE49-F238E27FC236}">
                <a16:creationId xmlns:a16="http://schemas.microsoft.com/office/drawing/2014/main" id="{56E3A8EC-7B67-B778-5CC6-BC0282925006}"/>
              </a:ext>
            </a:extLst>
          </p:cNvPr>
          <p:cNvSpPr>
            <a:spLocks xmlns:a="http://schemas.openxmlformats.org/drawingml/2006/main" noGrp="1"/>
          </p:cNvSpPr>
          <p:nvPr/>
        </p:nvSpPr>
        <p:spPr>
          <a:xfrm xmlns:a="http://schemas.openxmlformats.org/drawingml/2006/main">
            <a:off x="8231597" y="3406849"/>
            <a:ext cx="338580" cy="270918"/>
          </a:xfrm>
          <a:custGeom xmlns:a="http://schemas.openxmlformats.org/drawingml/2006/main">
            <a:rect l="l" t="t" r="r" b="b"/>
            <a:pathLst>
              <a:path w="21600" h="21600">
                <a:moveTo>
                  <a:pt x="6220" y="0"/>
                </a:moveTo>
                <a:lnTo>
                  <a:pt x="15380" y="0"/>
                </a:lnTo>
                <a:cubicBezTo>
                  <a:pt x="16250" y="0"/>
                  <a:pt x="16968" y="0"/>
                  <a:pt x="17552" y="59"/>
                </a:cubicBezTo>
                <a:cubicBezTo>
                  <a:pt x="18159" y="122"/>
                  <a:pt x="18717" y="255"/>
                  <a:pt x="19241" y="589"/>
                </a:cubicBezTo>
                <a:cubicBezTo>
                  <a:pt x="20055" y="1106"/>
                  <a:pt x="20715" y="1932"/>
                  <a:pt x="21129" y="2948"/>
                </a:cubicBezTo>
                <a:cubicBezTo>
                  <a:pt x="21396" y="3603"/>
                  <a:pt x="21503" y="4301"/>
                  <a:pt x="21552" y="5060"/>
                </a:cubicBezTo>
                <a:cubicBezTo>
                  <a:pt x="21600" y="5790"/>
                  <a:pt x="21600" y="6688"/>
                  <a:pt x="21600" y="7775"/>
                </a:cubicBezTo>
                <a:lnTo>
                  <a:pt x="21600" y="13825"/>
                </a:lnTo>
                <a:cubicBezTo>
                  <a:pt x="21600" y="14912"/>
                  <a:pt x="21600" y="15810"/>
                  <a:pt x="21552" y="16540"/>
                </a:cubicBezTo>
                <a:cubicBezTo>
                  <a:pt x="21503" y="17299"/>
                  <a:pt x="21396" y="17997"/>
                  <a:pt x="21129" y="18652"/>
                </a:cubicBezTo>
                <a:cubicBezTo>
                  <a:pt x="20715" y="19668"/>
                  <a:pt x="20055" y="20494"/>
                  <a:pt x="19241" y="21011"/>
                </a:cubicBezTo>
                <a:cubicBezTo>
                  <a:pt x="18717" y="21345"/>
                  <a:pt x="18159" y="21478"/>
                  <a:pt x="17552" y="21541"/>
                </a:cubicBezTo>
                <a:cubicBezTo>
                  <a:pt x="16968" y="21600"/>
                  <a:pt x="16250" y="21600"/>
                  <a:pt x="15380" y="21600"/>
                </a:cubicBezTo>
                <a:lnTo>
                  <a:pt x="6220" y="21600"/>
                </a:lnTo>
                <a:cubicBezTo>
                  <a:pt x="5350" y="21600"/>
                  <a:pt x="4632" y="21600"/>
                  <a:pt x="4048" y="21541"/>
                </a:cubicBezTo>
                <a:cubicBezTo>
                  <a:pt x="3441" y="21478"/>
                  <a:pt x="2883" y="21345"/>
                  <a:pt x="2359" y="21011"/>
                </a:cubicBezTo>
                <a:cubicBezTo>
                  <a:pt x="1545" y="20494"/>
                  <a:pt x="885" y="19668"/>
                  <a:pt x="471" y="18652"/>
                </a:cubicBezTo>
                <a:cubicBezTo>
                  <a:pt x="204" y="17997"/>
                  <a:pt x="97" y="17299"/>
                  <a:pt x="48" y="16540"/>
                </a:cubicBezTo>
                <a:cubicBezTo>
                  <a:pt x="0" y="15810"/>
                  <a:pt x="0" y="14912"/>
                  <a:pt x="0" y="13825"/>
                </a:cubicBezTo>
                <a:lnTo>
                  <a:pt x="0" y="7775"/>
                </a:lnTo>
                <a:cubicBezTo>
                  <a:pt x="0" y="6688"/>
                  <a:pt x="0" y="5790"/>
                  <a:pt x="48" y="5060"/>
                </a:cubicBezTo>
                <a:cubicBezTo>
                  <a:pt x="97" y="4301"/>
                  <a:pt x="204" y="3603"/>
                  <a:pt x="471" y="2948"/>
                </a:cubicBezTo>
                <a:cubicBezTo>
                  <a:pt x="885" y="1932"/>
                  <a:pt x="1545" y="1106"/>
                  <a:pt x="2359" y="589"/>
                </a:cubicBezTo>
                <a:cubicBezTo>
                  <a:pt x="2883" y="255"/>
                  <a:pt x="3441" y="122"/>
                  <a:pt x="4048" y="59"/>
                </a:cubicBezTo>
                <a:cubicBezTo>
                  <a:pt x="4632" y="0"/>
                  <a:pt x="5350" y="0"/>
                  <a:pt x="6220" y="0"/>
                </a:cubicBezTo>
                <a:close/>
                <a:moveTo>
                  <a:pt x="2160" y="9450"/>
                </a:moveTo>
                <a:lnTo>
                  <a:pt x="2160" y="13770"/>
                </a:lnTo>
                <a:cubicBezTo>
                  <a:pt x="2160" y="14927"/>
                  <a:pt x="2161" y="15713"/>
                  <a:pt x="2201" y="16320"/>
                </a:cubicBezTo>
                <a:cubicBezTo>
                  <a:pt x="2239" y="16911"/>
                  <a:pt x="2309" y="17215"/>
                  <a:pt x="2395" y="17426"/>
                </a:cubicBezTo>
                <a:cubicBezTo>
                  <a:pt x="2603" y="17933"/>
                  <a:pt x="2933" y="18347"/>
                  <a:pt x="3339" y="18606"/>
                </a:cubicBezTo>
                <a:cubicBezTo>
                  <a:pt x="3508" y="18714"/>
                  <a:pt x="3751" y="18801"/>
                  <a:pt x="4224" y="18849"/>
                </a:cubicBezTo>
                <a:cubicBezTo>
                  <a:pt x="4710" y="18899"/>
                  <a:pt x="5338" y="18900"/>
                  <a:pt x="6264" y="18900"/>
                </a:cubicBezTo>
                <a:lnTo>
                  <a:pt x="15336" y="18900"/>
                </a:lnTo>
                <a:cubicBezTo>
                  <a:pt x="16262" y="18900"/>
                  <a:pt x="16890" y="18899"/>
                  <a:pt x="17376" y="18849"/>
                </a:cubicBezTo>
                <a:cubicBezTo>
                  <a:pt x="17849" y="18801"/>
                  <a:pt x="18092" y="18714"/>
                  <a:pt x="18261" y="18606"/>
                </a:cubicBezTo>
                <a:cubicBezTo>
                  <a:pt x="18667" y="18347"/>
                  <a:pt x="18997" y="17933"/>
                  <a:pt x="19205" y="17426"/>
                </a:cubicBezTo>
                <a:cubicBezTo>
                  <a:pt x="19291" y="17215"/>
                  <a:pt x="19361" y="16911"/>
                  <a:pt x="19399" y="16320"/>
                </a:cubicBezTo>
                <a:cubicBezTo>
                  <a:pt x="19439" y="15713"/>
                  <a:pt x="19440" y="14927"/>
                  <a:pt x="19440" y="13770"/>
                </a:cubicBezTo>
                <a:lnTo>
                  <a:pt x="19440" y="9450"/>
                </a:lnTo>
                <a:lnTo>
                  <a:pt x="2160" y="9450"/>
                </a:lnTo>
                <a:close/>
                <a:moveTo>
                  <a:pt x="19438" y="6750"/>
                </a:moveTo>
                <a:cubicBezTo>
                  <a:pt x="19435" y="6148"/>
                  <a:pt x="19425" y="5677"/>
                  <a:pt x="19399" y="5280"/>
                </a:cubicBezTo>
                <a:cubicBezTo>
                  <a:pt x="19361" y="4689"/>
                  <a:pt x="19291" y="4385"/>
                  <a:pt x="19205" y="4174"/>
                </a:cubicBezTo>
                <a:cubicBezTo>
                  <a:pt x="18997" y="3667"/>
                  <a:pt x="18667" y="3254"/>
                  <a:pt x="18261" y="2994"/>
                </a:cubicBezTo>
                <a:cubicBezTo>
                  <a:pt x="18092" y="2886"/>
                  <a:pt x="17849" y="2799"/>
                  <a:pt x="17376" y="2751"/>
                </a:cubicBezTo>
                <a:cubicBezTo>
                  <a:pt x="16890" y="2701"/>
                  <a:pt x="16262" y="2700"/>
                  <a:pt x="15336" y="2700"/>
                </a:cubicBezTo>
                <a:lnTo>
                  <a:pt x="6264" y="2700"/>
                </a:lnTo>
                <a:cubicBezTo>
                  <a:pt x="5338" y="2700"/>
                  <a:pt x="4710" y="2701"/>
                  <a:pt x="4224" y="2751"/>
                </a:cubicBezTo>
                <a:cubicBezTo>
                  <a:pt x="3751" y="2799"/>
                  <a:pt x="3508" y="2886"/>
                  <a:pt x="3339" y="2994"/>
                </a:cubicBezTo>
                <a:cubicBezTo>
                  <a:pt x="2933" y="3254"/>
                  <a:pt x="2603" y="3667"/>
                  <a:pt x="2395" y="4174"/>
                </a:cubicBezTo>
                <a:cubicBezTo>
                  <a:pt x="2309" y="4385"/>
                  <a:pt x="2239" y="4689"/>
                  <a:pt x="2201" y="5280"/>
                </a:cubicBezTo>
                <a:cubicBezTo>
                  <a:pt x="2175" y="5677"/>
                  <a:pt x="2165" y="6148"/>
                  <a:pt x="2162" y="6750"/>
                </a:cubicBezTo>
                <a:lnTo>
                  <a:pt x="19438" y="6750"/>
                </a:lnTo>
                <a:close/>
                <a:moveTo>
                  <a:pt x="12960" y="14850"/>
                </a:moveTo>
                <a:cubicBezTo>
                  <a:pt x="12960" y="14105"/>
                  <a:pt x="13444" y="13500"/>
                  <a:pt x="14040" y="13500"/>
                </a:cubicBezTo>
                <a:lnTo>
                  <a:pt x="16200" y="13500"/>
                </a:lnTo>
                <a:cubicBezTo>
                  <a:pt x="16796" y="13500"/>
                  <a:pt x="17280" y="14105"/>
                  <a:pt x="17280" y="14850"/>
                </a:cubicBezTo>
                <a:cubicBezTo>
                  <a:pt x="17280" y="15595"/>
                  <a:pt x="16796" y="16200"/>
                  <a:pt x="16200" y="16200"/>
                </a:cubicBezTo>
                <a:lnTo>
                  <a:pt x="14040" y="16200"/>
                </a:lnTo>
                <a:cubicBezTo>
                  <a:pt x="13444" y="16200"/>
                  <a:pt x="12960" y="15595"/>
                  <a:pt x="12960" y="14850"/>
                </a:cubicBez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Tree>
    <p:extLst>
      <p:ext uri="{BB962C8B-B14F-4D97-AF65-F5344CB8AC3E}">
        <p14:creationId xmlns:p14="http://schemas.microsoft.com/office/powerpoint/2010/main" val="105343969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979AC8B6-148F-970D-D8DE-AD2E0AB19BC8}"/>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pPr>
              <a:buNone/>
              <a:defRPr sz="5400">
                <a:solidFill>
                  <a:srgbClr val="FFFFFF"/>
                </a:solidFill>
                <a:latin typeface="Arial"/>
                <a:ea typeface="Arial"/>
                <a:cs typeface="Arial"/>
              </a:defRPr>
            </a:pPr>
            <a:r>
              <a:rPr sz="5400">
                <a:solidFill>
                  <a:srgbClr val="FFFFFF"/>
                </a:solidFill>
                <a:latin typeface="Arial"/>
                <a:ea typeface="Arial"/>
                <a:cs typeface="Arial"/>
              </a:rPr>
              <a:t>Model review with</a:t>
            </a:r>
          </a:p>
          <a:p xmlns:a="http://schemas.openxmlformats.org/drawingml/2006/main">
            <a:pPr>
              <a:buNone/>
              <a:defRPr sz="5400">
                <a:solidFill>
                  <a:srgbClr val="FFFFFF"/>
                </a:solidFill>
                <a:latin typeface="Arial"/>
                <a:ea typeface="Arial"/>
                <a:cs typeface="Arial"/>
              </a:defRPr>
            </a:pPr>
            <a:r>
              <a:rPr sz="5400">
                <a:solidFill>
                  <a:srgbClr val="FFFFFF"/>
                </a:solidFill>
                <a:latin typeface="Arial"/>
                <a:ea typeface="Arial"/>
                <a:cs typeface="Arial"/>
              </a:rPr>
              <a:t>visible evidence</a:t>
            </a:r>
          </a:p>
        </p:txBody>
      </p:sp>
      <p:sp>
        <p:nvSpPr>
          <p:cNvPr id="5" name="Subtitle 4">
            <a:extLst xmlns:a="http://schemas.openxmlformats.org/drawingml/2006/main">
              <a:ext uri="{FF2B5EF4-FFF2-40B4-BE49-F238E27FC236}">
                <a16:creationId xmlns:a16="http://schemas.microsoft.com/office/drawing/2014/main" id="{A8E1F2E1-786A-48AE-5E52-007228284270}"/>
              </a:ext>
            </a:extLst>
          </p:cNvPr>
          <p:cNvSpPr>
            <a:spLocks xmlns:a="http://schemas.openxmlformats.org/drawingml/2006/main" noGrp="1"/>
          </p:cNvSpPr>
          <p:nvPr>
            <p:ph type="subTitle" idx="1"/>
          </p:nvPr>
        </p:nvSpPr>
        <p:spPr>
          <a:xfrm xmlns:a="http://schemas.openxmlformats.org/drawingml/2006/main">
            <a:off x="390525" y="4972050"/>
            <a:ext cx="8096250" cy="1095375"/>
          </a:xfrm>
        </p:spPr>
        <p:txBody>
          <a:bodyPr xmlns:a="http://schemas.openxmlformats.org/drawingml/2006/main">
            <a:noAutofit/>
          </a:bodyPr>
          <a:lstStyle xmlns:a="http://schemas.openxmlformats.org/drawingml/2006/main"/>
          <a:p xmlns:a="http://schemas.openxmlformats.org/drawingml/2006/main">
            <a:pPr>
              <a:buNone/>
              <a:defRPr sz="1950">
                <a:solidFill>
                  <a:srgbClr val="FFFFFF"/>
                </a:solidFill>
                <a:latin typeface="Arial"/>
                <a:ea typeface="Arial"/>
                <a:cs typeface="Arial"/>
              </a:defRPr>
            </a:pPr>
            <a:r>
              <a:rPr sz="1950">
                <a:solidFill>
                  <a:srgbClr val="FFFFFF"/>
                </a:solidFill>
                <a:latin typeface="Arial"/>
                <a:ea typeface="Arial"/>
                <a:cs typeface="Arial"/>
              </a:rPr>
              <a:t>Astra-IFC-Complience</a:t>
            </a:r>
          </a:p>
          <a:p xmlns:a="http://schemas.openxmlformats.org/drawingml/2006/main">
            <a:pPr>
              <a:buNone/>
              <a:defRPr sz="1950">
                <a:solidFill>
                  <a:srgbClr val="FFFFFF"/>
                </a:solidFill>
                <a:latin typeface="Arial"/>
                <a:ea typeface="Arial"/>
                <a:cs typeface="Arial"/>
              </a:defRPr>
            </a:pPr>
            <a:r>
              <a:rPr sz="1950">
                <a:solidFill>
                  <a:srgbClr val="FFFFFF"/>
                </a:solidFill>
                <a:latin typeface="Arial"/>
                <a:ea typeface="Arial"/>
                <a:cs typeface="Arial"/>
              </a:rPr>
              <a:t>Questions and live demo</a:t>
            </a:r>
          </a:p>
        </p:txBody>
      </p:sp>
      <p:sp>
        <p:nvSpPr>
          <p:cNvPr id="6" name="Subtitle 4">
            <a:extLst xmlns:a="http://schemas.openxmlformats.org/drawingml/2006/main">
              <a:ext uri="{FF2B5EF4-FFF2-40B4-BE49-F238E27FC236}">
                <a16:creationId xmlns:a16="http://schemas.microsoft.com/office/drawing/2014/main" id="{A94AB779-D110-4562-575A-800C929A77DB}"/>
              </a:ext>
            </a:extLst>
          </p:cNvPr>
          <p:cNvSpPr>
            <a:spLocks xmlns:a="http://schemas.openxmlformats.org/drawingml/2006/main" noGrp="1"/>
          </p:cNvSpPr>
          <p:nvPr/>
        </p:nvSpPr>
        <p:spPr>
          <a:xfrm xmlns:a="http://schemas.openxmlformats.org/drawingml/2006/main">
            <a:off x="393700" y="392241"/>
            <a:ext cx="16129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buNone/>
              <a:defRPr sz="1800">
                <a:solidFill>
                  <a:srgbClr val="FFFFFF"/>
                </a:solidFill>
                <a:latin typeface="Arial"/>
                <a:ea typeface="Arial"/>
                <a:cs typeface="Arial"/>
              </a:defRPr>
            </a:pPr>
            <a:r>
              <a:rPr sz="1800">
                <a:solidFill>
                  <a:srgbClr val="FFFFFF"/>
                </a:solidFill>
                <a:latin typeface="Arial"/>
                <a:ea typeface="Arial"/>
                <a:cs typeface="Arial"/>
              </a:rPr>
              <a:t>Thank you</a:t>
            </a:r>
          </a:p>
        </p:txBody>
      </p:sp>
    </p:spTree>
    <p:extLst>
      <p:ext uri="{BB962C8B-B14F-4D97-AF65-F5344CB8AC3E}">
        <p14:creationId xmlns:p14="http://schemas.microsoft.com/office/powerpoint/2010/main" val="3653678558"/>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2026-09-13T05:20:55.1170000Z</dcterms:created>
  <dcterms:modified xsi:type="dcterms:W3CDTF">2026-09-13T05:20:55.1170000Z</dcterms:modified>
</coreProperties>
</file>