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077f7b019a4b5c" /><Relationship Type="http://schemas.openxmlformats.org/officeDocument/2006/relationships/extended-properties" Target="/docProps/app.xml" Id="R0471e95b54644d77" /><Relationship Type="http://schemas.openxmlformats.org/officeDocument/2006/relationships/officeDocument" Target="/ppt/presentation.xml" Id="R4d4a98cd65f04a41" /></Relationships>
</file>

<file path=ppt/presentation.xml><?xml version="1.0" encoding="utf-8"?>
<p:presentation xmlns:p="http://schemas.openxmlformats.org/presentationml/2006/main">
  <p:sldMasterIdLst>
    <p:sldMasterId xmlns:r="http://schemas.openxmlformats.org/officeDocument/2006/relationships" id="2147483648" r:id="R03cf16a652954384"/>
  </p:sldMasterIdLst>
  <p:notesMasterIdLst>
    <p:notesMasterId xmlns:r="http://schemas.openxmlformats.org/officeDocument/2006/relationships" r:id="R4fc7f566a30f49f6"/>
  </p:notesMasterIdLst>
  <p:sldIdLst>
    <p:sldId xmlns:r="http://schemas.openxmlformats.org/officeDocument/2006/relationships" id="256" r:id="R5c3427ec769d4bfe"/>
    <p:sldId xmlns:r="http://schemas.openxmlformats.org/officeDocument/2006/relationships" id="257" r:id="Rcbcf3fa5502349fa"/>
    <p:sldId xmlns:r="http://schemas.openxmlformats.org/officeDocument/2006/relationships" id="258" r:id="R8655532b75d74964"/>
    <p:sldId xmlns:r="http://schemas.openxmlformats.org/officeDocument/2006/relationships" id="259" r:id="R5dfd35a193384764"/>
    <p:sldId xmlns:r="http://schemas.openxmlformats.org/officeDocument/2006/relationships" id="260" r:id="R72f8c6308afb4b97"/>
    <p:sldId xmlns:r="http://schemas.openxmlformats.org/officeDocument/2006/relationships" id="261" r:id="Rce8f29b5f18b4efc"/>
    <p:sldId xmlns:r="http://schemas.openxmlformats.org/officeDocument/2006/relationships" id="262" r:id="R8e2a034f52a54129"/>
    <p:sldId xmlns:r="http://schemas.openxmlformats.org/officeDocument/2006/relationships" id="263" r:id="Rd5648975a41f4101"/>
    <p:sldId xmlns:r="http://schemas.openxmlformats.org/officeDocument/2006/relationships" id="264" r:id="Rb3de0a4d60ff46d9"/>
    <p:sldId xmlns:r="http://schemas.openxmlformats.org/officeDocument/2006/relationships" id="265" r:id="R13c7071656da45e9"/>
    <p:sldId xmlns:r="http://schemas.openxmlformats.org/officeDocument/2006/relationships" id="266" r:id="Rbc601457ac0d48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65ea92f1893424a" /><Relationship Type="http://schemas.openxmlformats.org/officeDocument/2006/relationships/slideMaster" Target="/ppt/slideMasters/slideMaster1.xml" Id="R03cf16a652954384" /><Relationship Type="http://schemas.openxmlformats.org/officeDocument/2006/relationships/notesMaster" Target="/ppt/notesMasters/notesMaster1.xml" Id="R4fc7f566a30f49f6" /><Relationship Type="http://schemas.openxmlformats.org/officeDocument/2006/relationships/presProps" Target="/ppt/presProps.xml" Id="Re9deebb4635e4dac" /><Relationship Type="http://schemas.openxmlformats.org/officeDocument/2006/relationships/viewProps" Target="/ppt/viewProps.xml" Id="R45815bb2c4114f47" /><Relationship Type="http://schemas.openxmlformats.org/officeDocument/2006/relationships/tableStyles" Target="/ppt/tableStyles.xml" Id="R5077a607233b4bd3" /><Relationship Type="http://schemas.openxmlformats.org/officeDocument/2006/relationships/slide" Target="/ppt/slides/slide1.xml" Id="R5c3427ec769d4bfe" /><Relationship Type="http://schemas.openxmlformats.org/officeDocument/2006/relationships/slide" Target="/ppt/slides/slide2.xml" Id="Rcbcf3fa5502349fa" /><Relationship Type="http://schemas.openxmlformats.org/officeDocument/2006/relationships/slide" Target="/ppt/slides/slide3.xml" Id="R8655532b75d74964" /><Relationship Type="http://schemas.openxmlformats.org/officeDocument/2006/relationships/slide" Target="/ppt/slides/slide4.xml" Id="R5dfd35a193384764" /><Relationship Type="http://schemas.openxmlformats.org/officeDocument/2006/relationships/slide" Target="/ppt/slides/slide5.xml" Id="R72f8c6308afb4b97" /><Relationship Type="http://schemas.openxmlformats.org/officeDocument/2006/relationships/slide" Target="/ppt/slides/slide6.xml" Id="Rce8f29b5f18b4efc" /><Relationship Type="http://schemas.openxmlformats.org/officeDocument/2006/relationships/slide" Target="/ppt/slides/slide7.xml" Id="R8e2a034f52a54129" /><Relationship Type="http://schemas.openxmlformats.org/officeDocument/2006/relationships/slide" Target="/ppt/slides/slide8.xml" Id="Rd5648975a41f4101" /><Relationship Type="http://schemas.openxmlformats.org/officeDocument/2006/relationships/slide" Target="/ppt/slides/slide9.xml" Id="Rb3de0a4d60ff46d9" /><Relationship Type="http://schemas.openxmlformats.org/officeDocument/2006/relationships/slide" Target="/ppt/slides/slide10.xml" Id="R13c7071656da45e9" /><Relationship Type="http://schemas.openxmlformats.org/officeDocument/2006/relationships/slide" Target="/ppt/slides/slide11.xml" Id="Rbc601457ac0d48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bc1807adbd4b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e7c7eb8a8745ec" /><Relationship Type="http://schemas.openxmlformats.org/officeDocument/2006/relationships/notesMaster" Target="/ppt/notesMasters/notesMaster1.xml" Id="R8dcaeb0fccb240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659c54c8a24dfb" /><Relationship Type="http://schemas.openxmlformats.org/officeDocument/2006/relationships/notesMaster" Target="/ppt/notesMasters/notesMaster1.xml" Id="Rbc460ff40fe349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80a985582e4e05" /><Relationship Type="http://schemas.openxmlformats.org/officeDocument/2006/relationships/notesMaster" Target="/ppt/notesMasters/notesMaster1.xml" Id="R612ae2e3f86f45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91891fd64c4ad0" /><Relationship Type="http://schemas.openxmlformats.org/officeDocument/2006/relationships/notesMaster" Target="/ppt/notesMasters/notesMaster1.xml" Id="R70df76b24b7d4a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20b36df6ed4934" /><Relationship Type="http://schemas.openxmlformats.org/officeDocument/2006/relationships/notesMaster" Target="/ppt/notesMasters/notesMaster1.xml" Id="R3eaa71002b9541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9502ccad3c4988" /><Relationship Type="http://schemas.openxmlformats.org/officeDocument/2006/relationships/notesMaster" Target="/ppt/notesMasters/notesMaster1.xml" Id="Rb84ae2224d564e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075ffc544f415c" /><Relationship Type="http://schemas.openxmlformats.org/officeDocument/2006/relationships/notesMaster" Target="/ppt/notesMasters/notesMaster1.xml" Id="R1da0c1441f3440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2f419158764393" /><Relationship Type="http://schemas.openxmlformats.org/officeDocument/2006/relationships/notesMaster" Target="/ppt/notesMasters/notesMaster1.xml" Id="R713cdb77d0c540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6a8fdffb5444e5" /><Relationship Type="http://schemas.openxmlformats.org/officeDocument/2006/relationships/notesMaster" Target="/ppt/notesMasters/notesMaster1.xml" Id="Re1a36d6aec0e4a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1c9cb665514f0e" /><Relationship Type="http://schemas.openxmlformats.org/officeDocument/2006/relationships/notesMaster" Target="/ppt/notesMasters/notesMaster1.xml" Id="Rc091ee0c1b1941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579413d9dd48b8" /><Relationship Type="http://schemas.openxmlformats.org/officeDocument/2006/relationships/notesMaster" Target="/ppt/notesMasters/notesMaster1.xml" Id="R75899c5093fb48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Pain points, 35 seconds. A visually convincing building model can still contain missing or mismatched classifications. Reviewers need to reconcile object identity, location, and the standard reference. Explain these as target user problems, not measured error rates. Estimators depend on consistent element categories for downstream work. Sources: user project brief; ASTM-UniFormat.xlsx Instructions A2 and ASTM 2015 A7:H7.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cases, 35 seconds. Walk through three users: architects identify and correct object data, reviewers record traceable findings, and estimators reuse filtered element lists. Current prototype supports visual inspection, local review issues and export. AI classification checks and write-back are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Solution, 35 seconds. The Excel file is a classification database. It contains Instructions, ASTM 1997 and ASTM 2015 sheets. Use one reference edition consistently. Automated classification comparisons and write-back are development targets. Geometry, context and properties help distinguish similar categories, such as interior and exterior doors. The workbook does not itself provide dimensional, fire-safety or accessibility requirements. Source: assets/ASTM-UniFormat.xlsx.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example, 45 seconds. The selected object is an exterior window. In this illustrative scenario its model label is B2010, Exterior Walls. The workbook lists B2020, Exterior Windows, on ASTM 2015 row 195. Forma is intended to present the mismatch and propose a classification for designer review. This image is supplied by the user and represents a concept, not a detected issue in the sample IFC. Source: ASTM-UniFormat.xlsx ASTM 2015 A186:B186 and A195:B195; user-supplied visual. Classification consistency does not establish building-code safety compliance.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b6540742064e7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e2b27d861243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01b2ed74ea41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45a8fce7064ff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1e7f9463c8464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df602e7aef04e9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73bc4b334164f9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f26092c35ad400f"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5c868f4a87403b" /><Relationship Type="http://schemas.openxmlformats.org/officeDocument/2006/relationships/slideLayout" Target="/ppt/slideLayouts/slideLayout1.xml" Id="Rb7553238cf634b14" /><Relationship Type="http://schemas.openxmlformats.org/officeDocument/2006/relationships/slideLayout" Target="/ppt/slideLayouts/slideLayout2.xml" Id="R94601bc25f9b4fcd" /><Relationship Type="http://schemas.openxmlformats.org/officeDocument/2006/relationships/slideLayout" Target="/ppt/slideLayouts/slideLayout3.xml" Id="Ra64b7cea4a334fee" /><Relationship Type="http://schemas.openxmlformats.org/officeDocument/2006/relationships/slideLayout" Target="/ppt/slideLayouts/slideLayout4.xml" Id="R2a44f4ea3961415a" /><Relationship Type="http://schemas.openxmlformats.org/officeDocument/2006/relationships/slideLayout" Target="/ppt/slideLayouts/slideLayout5.xml" Id="R9168c87d7c494189" /><Relationship Type="http://schemas.openxmlformats.org/officeDocument/2006/relationships/slideLayout" Target="/ppt/slideLayouts/slideLayout6.xml" Id="Rec63496d4a7f49d2" /><Relationship Type="http://schemas.openxmlformats.org/officeDocument/2006/relationships/slideLayout" Target="/ppt/slideLayouts/slideLayout7.xml" Id="Rda81394340a94628" /><Relationship Type="http://schemas.openxmlformats.org/officeDocument/2006/relationships/slideLayout" Target="/ppt/slideLayouts/slideLayout8.xml" Id="R08b1a1533851435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b7553238cf634b14"/>
    <p:sldLayoutId xmlns:r="http://schemas.openxmlformats.org/officeDocument/2006/relationships" id="2147483650" r:id="R94601bc25f9b4fcd"/>
    <p:sldLayoutId xmlns:r="http://schemas.openxmlformats.org/officeDocument/2006/relationships" id="2147483651" r:id="Ra64b7cea4a334fee"/>
    <p:sldLayoutId xmlns:r="http://schemas.openxmlformats.org/officeDocument/2006/relationships" id="2147483652" r:id="R2a44f4ea3961415a"/>
    <p:sldLayoutId xmlns:r="http://schemas.openxmlformats.org/officeDocument/2006/relationships" id="2147483653" r:id="R9168c87d7c494189"/>
    <p:sldLayoutId xmlns:r="http://schemas.openxmlformats.org/officeDocument/2006/relationships" id="2147483654" r:id="Rec63496d4a7f49d2"/>
    <p:sldLayoutId xmlns:r="http://schemas.openxmlformats.org/officeDocument/2006/relationships" id="2147483655" r:id="Rda81394340a94628"/>
    <p:sldLayoutId xmlns:r="http://schemas.openxmlformats.org/officeDocument/2006/relationships" id="2147483656" r:id="R08b1a15338514357"/>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422ddc3ac140d7" /><Relationship Type="http://schemas.openxmlformats.org/officeDocument/2006/relationships/image" Target="/ppt/media/image.png" Id="Re287428af943407c" /><Relationship Type="http://schemas.openxmlformats.org/officeDocument/2006/relationships/notesSlide" Target="/ppt/notesSlides/notesSlide1.xml" Id="R3115de2a934c45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ec7ad35bb354ff6" /><Relationship Type="http://schemas.openxmlformats.org/officeDocument/2006/relationships/notesSlide" Target="/ppt/notesSlides/notesSlide2.xml" Id="R08f3fb03712540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ca3c75f63b4652" /><Relationship Type="http://schemas.openxmlformats.org/officeDocument/2006/relationships/notesSlide" Target="/ppt/notesSlides/notesSlide3.xml" Id="Ra6a1dda318b34a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663c7b30bc74ecf" /><Relationship Type="http://schemas.openxmlformats.org/officeDocument/2006/relationships/image" Target="/ppt/media/image.jpeg" Id="Rf1e6060d971e49a7" /><Relationship Type="http://schemas.openxmlformats.org/officeDocument/2006/relationships/notesSlide" Target="/ppt/notesSlides/notesSlide4.xml" Id="R14377646b24c41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fb20cae33d74fc8" /><Relationship Type="http://schemas.openxmlformats.org/officeDocument/2006/relationships/notesSlide" Target="/ppt/notesSlides/notesSlide5.xml" Id="R4324bcce88f143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3221223f354a62" /><Relationship Type="http://schemas.openxmlformats.org/officeDocument/2006/relationships/image" Target="/ppt/media/image2.png" Id="R357e66e08bb64992" /><Relationship Type="http://schemas.openxmlformats.org/officeDocument/2006/relationships/notesSlide" Target="/ppt/notesSlides/notesSlide6.xml" Id="R8cd241c56ff343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fd515f78d52492d" /><Relationship Type="http://schemas.openxmlformats.org/officeDocument/2006/relationships/notesSlide" Target="/ppt/notesSlides/notesSlide7.xml" Id="R0b0f04fe33614f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1daa976a4bd4f42" /><Relationship Type="http://schemas.openxmlformats.org/officeDocument/2006/relationships/notesSlide" Target="/ppt/notesSlides/notesSlide8.xml" Id="R5923d39f75fe4e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660d2c1124542c7" /><Relationship Type="http://schemas.openxmlformats.org/officeDocument/2006/relationships/notesSlide" Target="/ppt/notesSlides/notesSlide9.xml" Id="Rcbf449c82bbb4d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072806140d4196" /><Relationship Type="http://schemas.openxmlformats.org/officeDocument/2006/relationships/notesSlide" Target="/ppt/notesSlides/notesSlide10.xml" Id="Rd75aa1c16f9746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f71830e242b438e" /><Relationship Type="http://schemas.openxmlformats.org/officeDocument/2006/relationships/notesSlide" Target="/ppt/notesSlides/notesSlide11.xml" Id="Rd2f200c68fa0438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283563" y="1373916"/>
            <a:ext cx="7174888" cy="2491490"/>
          </a:xfrm>
        </p:spPr>
        <p:txBody>
          <a:bodyPr xmlns:a="http://schemas.openxmlformats.org/drawingml/2006/main" anchor="ctr">
            <a:noAutofit/>
          </a:bodyPr>
          <a:lstStyle xmlns:a="http://schemas.openxmlformats.org/drawingml/2006/main"/>
          <a:p xmlns:a="http://schemas.openxmlformats.org/drawingml/2006/main">
            <a:pPr>
              <a:buNone/>
              <a:defRPr sz="6900">
                <a:solidFill>
                  <a:srgbClr val="FFFFFF"/>
                </a:solidFill>
                <a:latin typeface="Arial"/>
                <a:ea typeface="Arial"/>
                <a:cs typeface="Arial"/>
              </a:defRPr>
            </a:pPr>
            <a:r>
              <a:rPr sz="6900">
                <a:solidFill>
                  <a:srgbClr val="FFFFFF"/>
                </a:solidFill>
                <a:latin typeface="Arial"/>
                <a:ea typeface="Arial"/>
                <a:cs typeface="Arial"/>
              </a:rPr>
              <a:t>Forma</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283563" y="4366340"/>
            <a:ext cx="6910483" cy="762000"/>
          </a:xfrm>
        </p:spPr>
        <p:txBody>
          <a:bodyPr xmlns:a="http://schemas.openxmlformats.org/drawingml/2006/main" anchor="b">
            <a:noAutofit/>
          </a:bodyPr>
          <a:lstStyle xmlns:a="http://schemas.openxmlformats.org/drawingml/2006/main"/>
          <a:p xmlns:a="http://schemas.openxmlformats.org/drawingml/2006/main">
            <a:pPr>
              <a:buNone/>
              <a:defRPr sz="1875">
                <a:solidFill>
                  <a:srgbClr val="FFFFFF"/>
                </a:solidFill>
                <a:latin typeface="Arial"/>
                <a:ea typeface="Arial"/>
                <a:cs typeface="Arial"/>
              </a:defRPr>
            </a:pPr>
            <a:r>
              <a:rPr sz="1875">
                <a:solidFill>
                  <a:srgbClr val="FFFFFF"/>
                </a:solidFill>
                <a:latin typeface="Arial"/>
                <a:ea typeface="Arial"/>
                <a:cs typeface="Arial"/>
              </a:rPr>
              <a:t>Visual compliance review for building model data</a:t>
            </a:r>
          </a:p>
          <a:p xmlns:a="http://schemas.openxmlformats.org/drawingml/2006/main">
            <a:pPr>
              <a:buNone/>
              <a:defRPr sz="1875">
                <a:solidFill>
                  <a:srgbClr val="FFFFFF"/>
                </a:solidFill>
                <a:latin typeface="Arial"/>
                <a:ea typeface="Arial"/>
                <a:cs typeface="Arial"/>
              </a:defRPr>
            </a:pPr>
            <a:r>
              <a:rPr sz="1875">
                <a:solidFill>
                  <a:srgbClr val="FFFFFF"/>
                </a:solidFill>
                <a:latin typeface="Arial"/>
                <a:ea typeface="Arial"/>
                <a:cs typeface="Arial"/>
              </a:rPr>
              <a:t>Use cases, pain points, and the solution</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buNone/>
              <a:defRPr sz="1800">
                <a:solidFill>
                  <a:srgbClr val="FFFFFF"/>
                </a:solidFill>
                <a:latin typeface="Arial"/>
                <a:ea typeface="Arial"/>
                <a:cs typeface="Arial"/>
              </a:defRPr>
            </a:pPr>
            <a:r>
              <a:rPr sz="1800">
                <a:solidFill>
                  <a:srgbClr val="FFFFFF"/>
                </a:solidFill>
                <a:latin typeface="Arial"/>
                <a:ea typeface="Arial"/>
                <a:cs typeface="Arial"/>
              </a:rPr>
              <a:t>Hackathon project demo</a:t>
            </a:r>
          </a:p>
        </p:txBody>
      </p:sp>
      <p:pic>
        <p:nvPicPr>
          <p:cNvPr id="13" name="Picture 6"/>
          <p:cNvPicPr>
            <a:picLocks xmlns:a="http://schemas.openxmlformats.org/drawingml/2006/main" noChangeAspect="1"/>
          </p:cNvPicPr>
          <p:nvPr/>
        </p:nvPicPr>
        <p:blipFill>
          <a:blip xmlns:r="http://schemas.openxmlformats.org/officeDocument/2006/relationships" xmlns:a="http://schemas.openxmlformats.org/drawingml/2006/main" r:embed="Re287428af943407c"/>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
        <p:nvSpPr>
          <p:cNvPr id="8" name="Rectangle 7">
            <a:extLst xmlns:a="http://schemas.openxmlformats.org/drawingml/2006/main">
              <a:ext uri="{FF2B5EF4-FFF2-40B4-BE49-F238E27FC236}">
                <a16:creationId xmlns:a16="http://schemas.microsoft.com/office/drawing/2014/main" id="{EE6F4757-463F-4F53-ABF0-1AEEE1A13DCC}"/>
              </a:ext>
            </a:extLst>
          </p:cNvPr>
          <p:cNvSpPr>
            <a:spLocks xmlns:a="http://schemas.openxmlformats.org/drawingml/2006/main" noGrp="1"/>
          </p:cNvSpPr>
          <p:nvPr/>
        </p:nvSpPr>
        <p:spPr>
          <a:xfrm xmlns:a="http://schemas.openxmlformats.org/drawingml/2006/main">
            <a:off x="190741" y="5465634"/>
            <a:ext cx="709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a:solidFill>
                  <a:srgbClr val="FFFFFF"/>
                </a:solidFill>
                <a:latin typeface="Arial"/>
                <a:ea typeface="Arial"/>
                <a:cs typeface="Arial"/>
              </a:defRPr>
            </a:pPr>
            <a:r>
              <a:rPr sz="1800">
                <a:solidFill>
                  <a:srgbClr val="FFFFFF"/>
                </a:solidFill>
                <a:latin typeface="Arial"/>
                <a:ea typeface="Arial"/>
                <a:cs typeface="Arial"/>
              </a:rPr>
              <a:t>Chuong Ho  ·  chuongpqvn@gmail.com</a:t>
            </a:r>
            <a:endParaRPr sz="1800">
              <a:solidFill>
                <a:srgbClr val="FFFFFF"/>
              </a:solidFill>
              <a:latin typeface="Arial"/>
              <a:ea typeface="Arial"/>
              <a:cs typeface="Arial"/>
            </a:endParaRPr>
          </a:p>
          <a:p xmlns:a="http://schemas.openxmlformats.org/drawingml/2006/main">
            <a:pPr>
              <a:buNone/>
              <a:defRPr sz="1800">
                <a:solidFill>
                  <a:srgbClr val="FFFFFF"/>
                </a:solidFill>
                <a:latin typeface="Arial"/>
                <a:ea typeface="Arial"/>
                <a:cs typeface="Arial"/>
              </a:defRPr>
            </a:pPr>
            <a:r>
              <a:rPr sz="1800">
                <a:solidFill>
                  <a:srgbClr val="FFFFFF"/>
                </a:solidFill>
                <a:latin typeface="Arial"/>
                <a:ea typeface="Arial"/>
                <a:cs typeface="Arial"/>
              </a:rPr>
              <a:t>Wonseok  ·  wonseoklee.dev@gmail.com</a:t>
            </a:r>
            <a:endParaRPr sz="1800">
              <a:solidFill>
                <a:srgbClr val="FFFFFF"/>
              </a:solidFill>
              <a:latin typeface="Arial"/>
              <a:ea typeface="Arial"/>
              <a:cs typeface="Arial"/>
            </a:endParaRP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450">
                <a:solidFill>
                  <a:srgbClr val="FFFFFF"/>
                </a:solidFill>
                <a:latin typeface="Arial"/>
                <a:ea typeface="Arial"/>
                <a:cs typeface="Arial"/>
              </a:defRPr>
            </a:pPr>
            <a:r>
              <a:rPr sz="3450">
                <a:solidFill>
                  <a:srgbClr val="FFFFFF"/>
                </a:solidFill>
                <a:latin typeface="Arial"/>
                <a:ea typeface="Arial"/>
                <a:cs typeface="Arial"/>
              </a:rPr>
              <a:t>The problem: model data is hard to verify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325">
                <a:solidFill>
                  <a:srgbClr val="FFFFFF"/>
                </a:solidFill>
                <a:latin typeface="Arial"/>
                <a:ea typeface="Arial"/>
                <a:cs typeface="Arial"/>
              </a:defRPr>
            </a:pPr>
            <a:r>
              <a:rPr sz="2325">
                <a:solidFill>
                  <a:srgbClr val="FFFFFF"/>
                </a:solidFill>
                <a:latin typeface="Arial"/>
                <a:ea typeface="Arial"/>
                <a:cs typeface="Arial"/>
              </a:rPr>
              <a:t>A building can look right</a:t>
            </a:r>
          </a:p>
          <a:p xmlns:a="http://schemas.openxmlformats.org/drawingml/2006/main">
            <a:pPr marL="0" indent="0">
              <a:lnSpc>
                <a:spcPct val="114000"/>
              </a:lnSpc>
              <a:spcBef>
                <a:spcPts val="0"/>
              </a:spcBef>
              <a:spcAft>
                <a:spcPts val="800"/>
              </a:spcAft>
              <a:buFont typeface="Arial"/>
              <a:buNone/>
              <a:defRPr sz="2325">
                <a:solidFill>
                  <a:srgbClr val="FFFFFF"/>
                </a:solidFill>
                <a:latin typeface="Arial"/>
                <a:ea typeface="Arial"/>
                <a:cs typeface="Arial"/>
              </a:defRPr>
            </a:pPr>
            <a:r>
              <a:rPr sz="2325">
                <a:solidFill>
                  <a:srgbClr val="FFFFFF"/>
                </a:solidFill>
                <a:latin typeface="Arial"/>
                <a:ea typeface="Arial"/>
                <a:cs typeface="Arial"/>
              </a:rPr>
              <a:t>while its data is wrong</a:t>
            </a:r>
            <a:endParaRPr sz="2175">
              <a:solidFill>
                <a:srgbClr val="FFFFFF"/>
              </a:solidFill>
              <a:latin typeface="Arial"/>
              <a:ea typeface="Arial"/>
              <a:cs typeface="Arial"/>
            </a:endParaRPr>
          </a:p>
          <a:p xmlns:a="http://schemas.openxmlformats.org/drawingml/2006/main">
            <a:pPr marL="0" indent="0">
              <a:lnSpc>
                <a:spcPct val="114000"/>
              </a:lnSpc>
              <a:spcBef>
                <a:spcPts val="0"/>
              </a:spcBef>
              <a:spcAft>
                <a:spcPts val="800"/>
              </a:spcAft>
              <a:buFont typeface="Arial"/>
              <a:buNone/>
              <a:defRPr sz="2175">
                <a:solidFill>
                  <a:srgbClr val="FFFFFF"/>
                </a:solidFill>
                <a:latin typeface="Arial"/>
                <a:ea typeface="Arial"/>
                <a:cs typeface="Arial"/>
              </a:defRPr>
            </a:pPr>
            <a:r>
              <a:rPr sz="2175">
                <a:solidFill>
                  <a:srgbClr val="FFFFFF"/>
                </a:solidFill>
                <a:latin typeface="Arial"/>
                <a:ea typeface="Arial"/>
                <a:cs typeface="Arial"/>
              </a:rPr>
              <a:t/>
            </a:r>
          </a:p>
          <a:p xmlns:a="http://schemas.openxmlformats.org/drawingml/2006/main">
            <a:pPr marL="0" indent="0">
              <a:lnSpc>
                <a:spcPct val="114000"/>
              </a:lnSpc>
              <a:spcBef>
                <a:spcPts val="0"/>
              </a:spcBef>
              <a:spcAft>
                <a:spcPts val="800"/>
              </a:spcAft>
              <a:buFont typeface="Arial"/>
              <a:buNone/>
              <a:defRPr sz="2325">
                <a:solidFill>
                  <a:srgbClr val="FFFFFF"/>
                </a:solidFill>
                <a:latin typeface="Arial"/>
                <a:ea typeface="Arial"/>
                <a:cs typeface="Arial"/>
              </a:defRPr>
            </a:pPr>
            <a:r>
              <a:rPr sz="2325">
                <a:solidFill>
                  <a:srgbClr val="FFFFFF"/>
                </a:solidFill>
                <a:latin typeface="Arial"/>
                <a:ea typeface="Arial"/>
                <a:cs typeface="Arial"/>
              </a:rPr>
              <a:t>Missing or incorrect classifications make it harder to understand what each element represents.</a:t>
            </a:r>
            <a:endParaRPr sz="2175">
              <a:solidFill>
                <a:srgbClr val="FFFFFF"/>
              </a:solidFill>
              <a:latin typeface="Arial"/>
              <a:ea typeface="Arial"/>
              <a:cs typeface="Arial"/>
            </a:endParaRP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325">
                <a:solidFill>
                  <a:srgbClr val="FFFFFF"/>
                </a:solidFill>
                <a:latin typeface="Arial"/>
                <a:ea typeface="Arial"/>
                <a:cs typeface="Arial"/>
              </a:defRPr>
            </a:pPr>
            <a:r>
              <a:rPr sz="2325">
                <a:solidFill>
                  <a:srgbClr val="FFFFFF"/>
                </a:solidFill>
                <a:latin typeface="Arial"/>
                <a:ea typeface="Arial"/>
                <a:cs typeface="Arial"/>
              </a:rPr>
              <a:t>Review happens across</a:t>
            </a:r>
          </a:p>
          <a:p xmlns:a="http://schemas.openxmlformats.org/drawingml/2006/main">
            <a:pPr marL="0" indent="0">
              <a:lnSpc>
                <a:spcPct val="114000"/>
              </a:lnSpc>
              <a:spcBef>
                <a:spcPts val="0"/>
              </a:spcBef>
              <a:spcAft>
                <a:spcPts val="800"/>
              </a:spcAft>
              <a:buNone/>
              <a:defRPr sz="2325">
                <a:solidFill>
                  <a:srgbClr val="FFFFFF"/>
                </a:solidFill>
                <a:latin typeface="Arial"/>
                <a:ea typeface="Arial"/>
                <a:cs typeface="Arial"/>
              </a:defRPr>
            </a:pPr>
            <a:r>
              <a:rPr sz="2325">
                <a:solidFill>
                  <a:srgbClr val="FFFFFF"/>
                </a:solidFill>
                <a:latin typeface="Arial"/>
                <a:ea typeface="Arial"/>
                <a:cs typeface="Arial"/>
              </a:rPr>
              <a:t>separate tools</a:t>
            </a:r>
            <a:endParaRPr sz="2175">
              <a:solidFill>
                <a:srgbClr val="FFFFFF"/>
              </a:solidFill>
              <a:latin typeface="Arial"/>
              <a:ea typeface="Arial"/>
              <a:cs typeface="Arial"/>
            </a:endParaRPr>
          </a:p>
          <a:p xmlns:a="http://schemas.openxmlformats.org/drawingml/2006/main">
            <a:pPr marL="0" indent="0">
              <a:lnSpc>
                <a:spcPct val="114000"/>
              </a:lnSpc>
              <a:spcBef>
                <a:spcPts val="0"/>
              </a:spcBef>
              <a:spcAft>
                <a:spcPts val="800"/>
              </a:spcAft>
              <a:buNone/>
              <a:defRPr sz="2175">
                <a:solidFill>
                  <a:srgbClr val="FFFFFF"/>
                </a:solidFill>
                <a:latin typeface="Arial"/>
                <a:ea typeface="Arial"/>
                <a:cs typeface="Arial"/>
              </a:defRPr>
            </a:pPr>
            <a:r>
              <a:rPr sz="2175">
                <a:solidFill>
                  <a:srgbClr val="FFFFFF"/>
                </a:solidFill>
                <a:latin typeface="Arial"/>
                <a:ea typeface="Arial"/>
                <a:cs typeface="Arial"/>
              </a:rPr>
              <a:t/>
            </a:r>
          </a:p>
          <a:p xmlns:a="http://schemas.openxmlformats.org/drawingml/2006/main">
            <a:pPr marL="0" indent="0">
              <a:lnSpc>
                <a:spcPct val="114000"/>
              </a:lnSpc>
              <a:spcBef>
                <a:spcPts val="0"/>
              </a:spcBef>
              <a:spcAft>
                <a:spcPts val="800"/>
              </a:spcAft>
              <a:buNone/>
              <a:defRPr sz="2325">
                <a:solidFill>
                  <a:srgbClr val="FFFFFF"/>
                </a:solidFill>
                <a:latin typeface="Arial"/>
                <a:ea typeface="Arial"/>
                <a:cs typeface="Arial"/>
              </a:defRPr>
            </a:pPr>
            <a:r>
              <a:rPr sz="2325">
                <a:solidFill>
                  <a:srgbClr val="FFFFFF"/>
                </a:solidFill>
                <a:latin typeface="Arial"/>
                <a:ea typeface="Arial"/>
                <a:cs typeface="Arial"/>
              </a:rPr>
              <a:t>Modelers compare geometry, properties, and standards by hand. Estimators need the same information for a reliable handoff.</a:t>
            </a:r>
            <a:endParaRPr sz="2175">
              <a:solidFill>
                <a:srgbClr val="FFFFFF"/>
              </a:solidFill>
              <a:latin typeface="Arial"/>
              <a:ea typeface="Arial"/>
              <a:cs typeface="Arial"/>
            </a:endParaRP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6E0EEC-95A3-4516-8836-D4C99977E213}"/>
              </a:ext>
            </a:extLst>
          </p:cNvPr>
          <p:cNvSpPr>
            <a:spLocks xmlns:a="http://schemas.openxmlformats.org/drawingml/2006/main" noGrp="1"/>
          </p:cNvSpPr>
          <p:nvPr/>
        </p:nvSpPr>
        <p:spPr>
          <a:xfrm xmlns:a="http://schemas.openxmlformats.org/drawingml/2006/main">
            <a:off x="390525" y="342900"/>
            <a:ext cx="11410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a:solidFill>
                  <a:srgbClr val="FFFFFF"/>
                </a:solidFill>
                <a:latin typeface="Arial"/>
                <a:ea typeface="Arial"/>
                <a:cs typeface="Arial"/>
              </a:defRPr>
            </a:pPr>
            <a:r>
              <a:rPr sz="3600">
                <a:solidFill>
                  <a:srgbClr val="FFFFFF"/>
                </a:solidFill>
                <a:latin typeface="Arial"/>
                <a:ea typeface="Arial"/>
                <a:cs typeface="Arial"/>
              </a:rPr>
              <a:t>Who Forma helps</a:t>
            </a:r>
          </a:p>
        </p:txBody>
      </p:sp>
      <p:sp>
        <p:nvSpPr>
          <p:cNvPr id="2" name="">
            <a:extLst xmlns:a="http://schemas.openxmlformats.org/drawingml/2006/main">
              <a:ext uri="{FF2B5EF4-FFF2-40B4-BE49-F238E27FC236}">
                <a16:creationId xmlns:a16="http://schemas.microsoft.com/office/drawing/2014/main" id="{11C75BDB-EA10-4711-A7A6-74F0264512E3}"/>
              </a:ext>
            </a:extLst>
          </p:cNvPr>
          <p:cNvSpPr>
            <a:spLocks xmlns:a="http://schemas.openxmlformats.org/drawingml/2006/main" noGrp="1"/>
          </p:cNvSpPr>
          <p:nvPr/>
        </p:nvSpPr>
        <p:spPr>
          <a:xfrm xmlns:a="http://schemas.openxmlformats.org/drawingml/2006/main">
            <a:off x="390525" y="1905000"/>
            <a:ext cx="3571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FFFFFF"/>
                </a:solidFill>
                <a:latin typeface="Arial"/>
                <a:ea typeface="Arial"/>
                <a:cs typeface="Arial"/>
              </a:defRPr>
            </a:pPr>
            <a:r>
              <a:rPr sz="2250">
                <a:solidFill>
                  <a:srgbClr val="FFFFFF"/>
                </a:solidFill>
                <a:latin typeface="Arial"/>
                <a:ea typeface="Arial"/>
                <a:cs typeface="Arial"/>
              </a:rPr>
              <a:t>Architects and modelers</a:t>
            </a:r>
          </a:p>
        </p:txBody>
      </p:sp>
      <p:sp>
        <p:nvSpPr>
          <p:cNvPr id="3" name="">
            <a:extLst xmlns:a="http://schemas.openxmlformats.org/drawingml/2006/main">
              <a:ext uri="{FF2B5EF4-FFF2-40B4-BE49-F238E27FC236}">
                <a16:creationId xmlns:a16="http://schemas.microsoft.com/office/drawing/2014/main" id="{54608FC4-1AB8-4FF7-82A9-3B1FEB89AB7F}"/>
              </a:ext>
            </a:extLst>
          </p:cNvPr>
          <p:cNvSpPr>
            <a:spLocks xmlns:a="http://schemas.openxmlformats.org/drawingml/2006/main" noGrp="1"/>
          </p:cNvSpPr>
          <p:nvPr/>
        </p:nvSpPr>
        <p:spPr>
          <a:xfrm xmlns:a="http://schemas.openxmlformats.org/drawingml/2006/main">
            <a:off x="390525" y="2857500"/>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FFFFFF"/>
                </a:solidFill>
                <a:latin typeface="Arial"/>
                <a:ea typeface="Arial"/>
                <a:cs typeface="Arial"/>
              </a:defRPr>
            </a:pPr>
            <a:r>
              <a:rPr sz="2250">
                <a:solidFill>
                  <a:srgbClr val="FFFFFF"/>
                </a:solidFill>
                <a:latin typeface="Arial"/>
                <a:ea typeface="Arial"/>
                <a:cs typeface="Arial"/>
              </a:rPr>
              <a:t>Check an object’s classification</a:t>
            </a:r>
          </a:p>
        </p:txBody>
      </p:sp>
      <p:sp>
        <p:nvSpPr>
          <p:cNvPr id="4" name="">
            <a:extLst xmlns:a="http://schemas.openxmlformats.org/drawingml/2006/main">
              <a:ext uri="{FF2B5EF4-FFF2-40B4-BE49-F238E27FC236}">
                <a16:creationId xmlns:a16="http://schemas.microsoft.com/office/drawing/2014/main" id="{F996EA36-2F1C-400B-9D67-16F503E8621E}"/>
              </a:ext>
            </a:extLst>
          </p:cNvPr>
          <p:cNvSpPr>
            <a:spLocks xmlns:a="http://schemas.openxmlformats.org/drawingml/2006/main" noGrp="1"/>
          </p:cNvSpPr>
          <p:nvPr/>
        </p:nvSpPr>
        <p:spPr>
          <a:xfrm xmlns:a="http://schemas.openxmlformats.org/drawingml/2006/main">
            <a:off x="390525" y="4000500"/>
            <a:ext cx="3571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a:solidFill>
                  <a:srgbClr val="FFFFFF"/>
                </a:solidFill>
                <a:latin typeface="Arial"/>
                <a:ea typeface="Arial"/>
                <a:cs typeface="Arial"/>
              </a:defRPr>
            </a:pPr>
            <a:r>
              <a:rPr sz="2025">
                <a:solidFill>
                  <a:srgbClr val="FFFFFF"/>
                </a:solidFill>
                <a:latin typeface="Arial"/>
                <a:ea typeface="Arial"/>
                <a:cs typeface="Arial"/>
              </a:rPr>
              <a:t>Inspect a window in 3D, compare its label with the reference, and review a suggested correction.</a:t>
            </a:r>
          </a:p>
        </p:txBody>
      </p:sp>
      <p:sp>
        <p:nvSpPr>
          <p:cNvPr id="5" name="">
            <a:extLst xmlns:a="http://schemas.openxmlformats.org/drawingml/2006/main">
              <a:ext uri="{FF2B5EF4-FFF2-40B4-BE49-F238E27FC236}">
                <a16:creationId xmlns:a16="http://schemas.microsoft.com/office/drawing/2014/main" id="{D9273850-9E36-4058-A23C-B8321A119F1F}"/>
              </a:ext>
            </a:extLst>
          </p:cNvPr>
          <p:cNvSpPr>
            <a:spLocks xmlns:a="http://schemas.openxmlformats.org/drawingml/2006/main" noGrp="1"/>
          </p:cNvSpPr>
          <p:nvPr/>
        </p:nvSpPr>
        <p:spPr>
          <a:xfrm xmlns:a="http://schemas.openxmlformats.org/drawingml/2006/main">
            <a:off x="4305300" y="1905000"/>
            <a:ext cx="3571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FFFFFF"/>
                </a:solidFill>
                <a:latin typeface="Arial"/>
                <a:ea typeface="Arial"/>
                <a:cs typeface="Arial"/>
              </a:defRPr>
            </a:pPr>
            <a:r>
              <a:rPr sz="2250">
                <a:solidFill>
                  <a:srgbClr val="FFFFFF"/>
                </a:solidFill>
                <a:latin typeface="Arial"/>
                <a:ea typeface="Arial"/>
                <a:cs typeface="Arial"/>
              </a:rPr>
              <a:t>Design reviewers</a:t>
            </a:r>
          </a:p>
        </p:txBody>
      </p:sp>
      <p:sp>
        <p:nvSpPr>
          <p:cNvPr id="6" name="">
            <a:extLst xmlns:a="http://schemas.openxmlformats.org/drawingml/2006/main">
              <a:ext uri="{FF2B5EF4-FFF2-40B4-BE49-F238E27FC236}">
                <a16:creationId xmlns:a16="http://schemas.microsoft.com/office/drawing/2014/main" id="{E6205D82-892C-432D-9E6A-6B3AA28B6CC1}"/>
              </a:ext>
            </a:extLst>
          </p:cNvPr>
          <p:cNvSpPr>
            <a:spLocks xmlns:a="http://schemas.openxmlformats.org/drawingml/2006/main" noGrp="1"/>
          </p:cNvSpPr>
          <p:nvPr/>
        </p:nvSpPr>
        <p:spPr>
          <a:xfrm xmlns:a="http://schemas.openxmlformats.org/drawingml/2006/main">
            <a:off x="4305300" y="2857500"/>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FFFFFF"/>
                </a:solidFill>
                <a:latin typeface="Arial"/>
                <a:ea typeface="Arial"/>
                <a:cs typeface="Arial"/>
              </a:defRPr>
            </a:pPr>
            <a:r>
              <a:rPr sz="2250">
                <a:solidFill>
                  <a:srgbClr val="FFFFFF"/>
                </a:solidFill>
                <a:latin typeface="Arial"/>
                <a:ea typeface="Arial"/>
                <a:cs typeface="Arial"/>
              </a:rPr>
              <a:t>Find missing or mismatched data</a:t>
            </a:r>
          </a:p>
        </p:txBody>
      </p:sp>
      <p:sp>
        <p:nvSpPr>
          <p:cNvPr id="7" name="">
            <a:extLst xmlns:a="http://schemas.openxmlformats.org/drawingml/2006/main">
              <a:ext uri="{FF2B5EF4-FFF2-40B4-BE49-F238E27FC236}">
                <a16:creationId xmlns:a16="http://schemas.microsoft.com/office/drawing/2014/main" id="{FDFACA03-B2E0-4DE9-BA82-E0335A85683F}"/>
              </a:ext>
            </a:extLst>
          </p:cNvPr>
          <p:cNvSpPr>
            <a:spLocks xmlns:a="http://schemas.openxmlformats.org/drawingml/2006/main" noGrp="1"/>
          </p:cNvSpPr>
          <p:nvPr/>
        </p:nvSpPr>
        <p:spPr>
          <a:xfrm xmlns:a="http://schemas.openxmlformats.org/drawingml/2006/main">
            <a:off x="4305300" y="4000500"/>
            <a:ext cx="3571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a:solidFill>
                  <a:srgbClr val="FFFFFF"/>
                </a:solidFill>
                <a:latin typeface="Arial"/>
                <a:ea typeface="Arial"/>
                <a:cs typeface="Arial"/>
              </a:defRPr>
            </a:pPr>
            <a:r>
              <a:rPr sz="2025">
                <a:solidFill>
                  <a:srgbClr val="FFFFFF"/>
                </a:solidFill>
                <a:latin typeface="Arial"/>
                <a:ea typeface="Arial"/>
                <a:cs typeface="Arial"/>
              </a:rPr>
              <a:t>Locate the affected element and keep the finding with a saved viewpoint.</a:t>
            </a:r>
          </a:p>
        </p:txBody>
      </p:sp>
      <p:sp>
        <p:nvSpPr>
          <p:cNvPr id="8" name="">
            <a:extLst xmlns:a="http://schemas.openxmlformats.org/drawingml/2006/main">
              <a:ext uri="{FF2B5EF4-FFF2-40B4-BE49-F238E27FC236}">
                <a16:creationId xmlns:a16="http://schemas.microsoft.com/office/drawing/2014/main" id="{0F4C45BE-0C94-4E74-9023-12EACF5C70E1}"/>
              </a:ext>
            </a:extLst>
          </p:cNvPr>
          <p:cNvSpPr>
            <a:spLocks xmlns:a="http://schemas.openxmlformats.org/drawingml/2006/main" noGrp="1"/>
          </p:cNvSpPr>
          <p:nvPr/>
        </p:nvSpPr>
        <p:spPr>
          <a:xfrm xmlns:a="http://schemas.openxmlformats.org/drawingml/2006/main">
            <a:off x="8220075" y="1905000"/>
            <a:ext cx="3571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FFFFFF"/>
                </a:solidFill>
                <a:latin typeface="Arial"/>
                <a:ea typeface="Arial"/>
                <a:cs typeface="Arial"/>
              </a:defRPr>
            </a:pPr>
            <a:r>
              <a:rPr sz="2250">
                <a:solidFill>
                  <a:srgbClr val="FFFFFF"/>
                </a:solidFill>
                <a:latin typeface="Arial"/>
                <a:ea typeface="Arial"/>
                <a:cs typeface="Arial"/>
              </a:rPr>
              <a:t>Cost estimation teams</a:t>
            </a:r>
          </a:p>
        </p:txBody>
      </p:sp>
      <p:sp>
        <p:nvSpPr>
          <p:cNvPr id="9" name="">
            <a:extLst xmlns:a="http://schemas.openxmlformats.org/drawingml/2006/main">
              <a:ext uri="{FF2B5EF4-FFF2-40B4-BE49-F238E27FC236}">
                <a16:creationId xmlns:a16="http://schemas.microsoft.com/office/drawing/2014/main" id="{F5B731A7-6A27-49FB-9605-F48E39D9F6B1}"/>
              </a:ext>
            </a:extLst>
          </p:cNvPr>
          <p:cNvSpPr>
            <a:spLocks xmlns:a="http://schemas.openxmlformats.org/drawingml/2006/main" noGrp="1"/>
          </p:cNvSpPr>
          <p:nvPr/>
        </p:nvSpPr>
        <p:spPr>
          <a:xfrm xmlns:a="http://schemas.openxmlformats.org/drawingml/2006/main">
            <a:off x="8220075" y="2857500"/>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FFFFFF"/>
                </a:solidFill>
                <a:latin typeface="Arial"/>
                <a:ea typeface="Arial"/>
                <a:cs typeface="Arial"/>
              </a:defRPr>
            </a:pPr>
            <a:r>
              <a:rPr sz="2250">
                <a:solidFill>
                  <a:srgbClr val="FFFFFF"/>
                </a:solidFill>
                <a:latin typeface="Arial"/>
                <a:ea typeface="Arial"/>
                <a:cs typeface="Arial"/>
              </a:rPr>
              <a:t>Prepare a consistent element list</a:t>
            </a:r>
          </a:p>
        </p:txBody>
      </p:sp>
      <p:sp>
        <p:nvSpPr>
          <p:cNvPr id="10" name="">
            <a:extLst xmlns:a="http://schemas.openxmlformats.org/drawingml/2006/main">
              <a:ext uri="{FF2B5EF4-FFF2-40B4-BE49-F238E27FC236}">
                <a16:creationId xmlns:a16="http://schemas.microsoft.com/office/drawing/2014/main" id="{62796FE0-2F2D-4153-B544-ADB2C3C8B8B9}"/>
              </a:ext>
            </a:extLst>
          </p:cNvPr>
          <p:cNvSpPr>
            <a:spLocks xmlns:a="http://schemas.openxmlformats.org/drawingml/2006/main" noGrp="1"/>
          </p:cNvSpPr>
          <p:nvPr/>
        </p:nvSpPr>
        <p:spPr>
          <a:xfrm xmlns:a="http://schemas.openxmlformats.org/drawingml/2006/main">
            <a:off x="8220075" y="4000500"/>
            <a:ext cx="3571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a:solidFill>
                  <a:srgbClr val="FFFFFF"/>
                </a:solidFill>
                <a:latin typeface="Arial"/>
                <a:ea typeface="Arial"/>
                <a:cs typeface="Arial"/>
              </a:defRPr>
            </a:pPr>
            <a:r>
              <a:rPr sz="2025">
                <a:solidFill>
                  <a:srgbClr val="FFFFFF"/>
                </a:solidFill>
                <a:latin typeface="Arial"/>
                <a:ea typeface="Arial"/>
                <a:cs typeface="Arial"/>
              </a:rPr>
              <a:t>Review the model data, filter the relevant elements, and export the list to Excel.</a:t>
            </a:r>
          </a:p>
        </p:txBody>
      </p:sp>
      <p:sp>
        <p:nvSpPr>
          <p:cNvPr id="11" name="">
            <a:extLst xmlns:a="http://schemas.openxmlformats.org/drawingml/2006/main">
              <a:ext uri="{FF2B5EF4-FFF2-40B4-BE49-F238E27FC236}">
                <a16:creationId xmlns:a16="http://schemas.microsoft.com/office/drawing/2014/main" id="{01BA3522-67CF-4DBF-8AF9-E6EA86A439F6}"/>
              </a:ext>
            </a:extLst>
          </p:cNvPr>
          <p:cNvSpPr>
            <a:spLocks xmlns:a="http://schemas.openxmlformats.org/drawingml/2006/main" noGrp="1"/>
          </p:cNvSpPr>
          <p:nvPr/>
        </p:nvSpPr>
        <p:spPr>
          <a:xfrm xmlns:a="http://schemas.openxmlformats.org/drawingml/2006/main">
            <a:off x="390525" y="61912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FFFFFF"/>
                </a:solidFill>
                <a:latin typeface="Arial"/>
                <a:ea typeface="Arial"/>
                <a:cs typeface="Arial"/>
              </a:defRPr>
            </a:pPr>
            <a:r>
              <a:rPr sz="1425">
                <a:solidFill>
                  <a:srgbClr val="FFFFFF"/>
                </a:solidFill>
                <a:latin typeface="Arial"/>
                <a:ea typeface="Arial"/>
                <a:cs typeface="Arial"/>
              </a:rPr>
              <a:t>Classification suggestions and approved model updates are the development target.</a:t>
            </a:r>
          </a:p>
        </p:txBody>
      </p:sp>
      <p:sp>
        <p:nvSpPr>
          <p:cNvPr id="12" name="">
            <a:extLst xmlns:a="http://schemas.openxmlformats.org/drawingml/2006/main">
              <a:ext uri="{FF2B5EF4-FFF2-40B4-BE49-F238E27FC236}">
                <a16:creationId xmlns:a16="http://schemas.microsoft.com/office/drawing/2014/main" id="{940B6D2F-AFD7-4F37-98C9-BCFB3B2537F3}"/>
              </a:ext>
            </a:extLst>
          </p:cNvPr>
          <p:cNvSpPr>
            <a:spLocks xmlns:a="http://schemas.openxmlformats.org/drawingml/2006/main" noGrp="1"/>
          </p:cNvSpPr>
          <p:nvPr/>
        </p:nvSpPr>
        <p:spPr>
          <a:xfrm xmlns:a="http://schemas.openxmlformats.org/drawingml/2006/main">
            <a:off x="11430000" y="64770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FFFFFF"/>
                </a:solidFill>
                <a:latin typeface="Arial"/>
                <a:ea typeface="Arial"/>
                <a:cs typeface="Arial"/>
              </a:defRPr>
            </a:pPr>
            <a:r>
              <a:rPr sz="1200">
                <a:solidFill>
                  <a:srgbClr val="FFFFFF"/>
                </a:solidFill>
                <a:latin typeface="Arial"/>
                <a:ea typeface="Arial"/>
                <a:cs typeface="Arial"/>
              </a:rPr>
              <a:t>3</a:t>
            </a:r>
          </a:p>
        </p:txBody>
      </p:sp>
    </p:spTree>
    <p:extLst>
      <p:ext uri="{BB962C8B-B14F-4D97-AF65-F5344CB8AC3E}">
        <p14:creationId xmlns:p14="http://schemas.microsoft.com/office/powerpoint/2010/main" val="202391936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7600" y="6276975"/>
            <a:ext cx="523875"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1200">
                <a:solidFill>
                  <a:srgbClr val="FFFFFF"/>
                </a:solidFill>
                <a:latin typeface="Arial"/>
                <a:ea typeface="Arial"/>
                <a:cs typeface="Arial"/>
              </a:defRPr>
            </a:pPr>
            <a:fld id="{EFD6AB9A-5F9E-5F59-51AB-3C8734130965}" type="slidenum">
              <a:rPr sz="1200">
                <a:solidFill>
                  <a:srgbClr val="FFFFFF"/>
                </a:solidFill>
                <a:latin typeface="Arial"/>
                <a:ea typeface="Arial"/>
                <a:cs typeface="Arial"/>
              </a:rPr>
              <a:t>4</a:t>
            </a:fld>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390525" y="342900"/>
            <a:ext cx="5524500" cy="10477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300">
                <a:solidFill>
                  <a:srgbClr val="FFFFFF"/>
                </a:solidFill>
                <a:latin typeface="Arial"/>
                <a:ea typeface="Arial"/>
                <a:cs typeface="Arial"/>
              </a:defRPr>
            </a:pPr>
            <a:r>
              <a:rPr sz="3300">
                <a:solidFill>
                  <a:srgbClr val="FFFFFF"/>
                </a:solidFill>
                <a:latin typeface="Arial"/>
                <a:ea typeface="Arial"/>
                <a:cs typeface="Arial"/>
              </a:rPr>
              <a:t>The current workspace</a:t>
            </a:r>
          </a:p>
        </p:txBody>
      </p:sp>
      <p:pic>
        <p:nvPicPr>
          <p:cNvPr id="538" name="Picture 3"/>
          <p:cNvPicPr>
            <a:picLocks xmlns:a="http://schemas.openxmlformats.org/drawingml/2006/main" noChangeAspect="1"/>
          </p:cNvPicPr>
          <p:nvPr/>
        </p:nvPicPr>
        <p:blipFill>
          <a:blip xmlns:r="http://schemas.openxmlformats.org/officeDocument/2006/relationships" xmlns:a="http://schemas.openxmlformats.org/drawingml/2006/main" r:embed="Rf1e6060d971e49a7"/>
          <a:stretch xmlns:a="http://schemas.openxmlformats.org/drawingml/2006/main"/>
        </p:blipFill>
        <p:spPr>
          <a:xfrm xmlns:a="http://schemas.openxmlformats.org/drawingml/2006/main">
            <a:off x="6269040" y="749216"/>
            <a:ext cx="5539740" cy="4896456"/>
          </a:xfrm>
          <a:prstGeom xmlns:a="http://schemas.openxmlformats.org/drawingml/2006/main" prst="roundRect">
            <a:avLst>
              <a:gd name="adj" fmla="val 1361"/>
            </a:avLst>
          </a:prstGeom>
        </p:spPr>
      </p:pic>
      <p:sp>
        <p:nvSpPr>
          <p:cNvPr id="8" name="Google Shape;534;p58">
            <a:extLst xmlns:a="http://schemas.openxmlformats.org/drawingml/2006/main">
              <a:ext uri="{FF2B5EF4-FFF2-40B4-BE49-F238E27FC236}">
                <a16:creationId xmlns:a16="http://schemas.microsoft.com/office/drawing/2014/main" id="{33514EAC-B165-B2D5-733A-EDDA1BA94C46}"/>
              </a:ext>
            </a:extLst>
          </p:cNvPr>
          <p:cNvSpPr>
            <a:spLocks xmlns:a="http://schemas.openxmlformats.org/drawingml/2006/main" noGrp="1"/>
          </p:cNvSpPr>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A connected view of the model</a:t>
            </a:r>
          </a:p>
          <a:p xmlns:a="http://schemas.openxmlformats.org/drawingml/2006/main">
            <a:pPr marL="0" indent="0">
              <a:lnSpc>
                <a:spcPct val="114000"/>
              </a:lnSpc>
              <a:spcBef>
                <a:spcPts val="0"/>
              </a:spcBef>
              <a:spcAft>
                <a:spcPts val="800"/>
              </a:spcAft>
              <a:buFont typeface="Arial"/>
              <a:buNone/>
            </a:pPr>
            <a:endParaRPr sz="2100">
              <a:solidFill>
                <a:srgbClr val="FFFFFF"/>
              </a:solidFill>
              <a:latin typeface="Arial"/>
              <a:ea typeface="Arial"/>
              <a:cs typeface="Arial"/>
            </a:endParaRPr>
          </a:p>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Select an element in the tree, 3D scene, or data sheet.</a:t>
            </a:r>
          </a:p>
          <a:p xmlns:a="http://schemas.openxmlformats.org/drawingml/2006/main">
            <a:pPr marL="0" indent="0">
              <a:lnSpc>
                <a:spcPct val="114000"/>
              </a:lnSpc>
              <a:spcBef>
                <a:spcPts val="0"/>
              </a:spcBef>
              <a:spcAft>
                <a:spcPts val="800"/>
              </a:spcAft>
              <a:buFont typeface="Arial"/>
              <a:buNone/>
            </a:pPr>
            <a:endParaRPr sz="2100">
              <a:solidFill>
                <a:srgbClr val="FFFFFF"/>
              </a:solidFill>
              <a:latin typeface="Arial"/>
              <a:ea typeface="Arial"/>
              <a:cs typeface="Arial"/>
            </a:endParaRPr>
          </a:p>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Inspect its properties, zoom in, or isolate it for review.</a:t>
            </a:r>
          </a:p>
          <a:p xmlns:a="http://schemas.openxmlformats.org/drawingml/2006/main">
            <a:pPr marL="0" indent="0">
              <a:lnSpc>
                <a:spcPct val="114000"/>
              </a:lnSpc>
              <a:spcBef>
                <a:spcPts val="0"/>
              </a:spcBef>
              <a:spcAft>
                <a:spcPts val="800"/>
              </a:spcAft>
              <a:buFont typeface="Arial"/>
              <a:buNone/>
            </a:pPr>
            <a:endParaRPr sz="2100">
              <a:solidFill>
                <a:srgbClr val="FFFFFF"/>
              </a:solidFill>
              <a:latin typeface="Arial"/>
              <a:ea typeface="Arial"/>
              <a:cs typeface="Arial"/>
            </a:endParaRPr>
          </a:p>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The bundled sample loads 483 elements.</a:t>
            </a:r>
          </a:p>
        </p:txBody>
      </p:sp>
    </p:spTree>
    <p:extLst>
      <p:ext uri="{BB962C8B-B14F-4D97-AF65-F5344CB8AC3E}">
        <p14:creationId xmlns:p14="http://schemas.microsoft.com/office/powerpoint/2010/main" val="32456707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0525" y="6048375"/>
            <a:ext cx="10287000" cy="381000"/>
          </a:xfrm>
        </p:spPr>
        <p:txBody>
          <a:bodyPr xmlns:a="http://schemas.openxmlformats.org/drawingml/2006/main">
            <a:noAutofit/>
          </a:bodyPr>
          <a:lstStyle xmlns:a="http://schemas.openxmlformats.org/drawingml/2006/main"/>
          <a:p xmlns:a="http://schemas.openxmlformats.org/drawingml/2006/main">
            <a:pPr>
              <a:buNone/>
              <a:defRPr sz="1425">
                <a:solidFill>
                  <a:srgbClr val="FFFFFF"/>
                </a:solidFill>
                <a:latin typeface="Arial"/>
                <a:ea typeface="Arial"/>
                <a:cs typeface="Arial"/>
              </a:defRPr>
            </a:pPr>
            <a:r>
              <a:rPr sz="1425">
                <a:solidFill>
                  <a:srgbClr val="FFFFFF"/>
                </a:solidFill>
                <a:latin typeface="Arial"/>
                <a:ea typeface="Arial"/>
                <a:cs typeface="Arial"/>
              </a:rPr>
              <a:t>Target workflow. AI mapping and write-back are not implemented in this repo.</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buNone/>
              <a:defRPr sz="1200">
                <a:solidFill>
                  <a:srgbClr val="FFFFFF"/>
                </a:solidFill>
                <a:latin typeface="Arial"/>
                <a:ea typeface="Arial"/>
                <a:cs typeface="Arial"/>
              </a:defRPr>
            </a:pPr>
            <a:fld id="{EE5B3003-2C54-13C6-9832-7637201064DE}" type="slidenum">
              <a:rPr sz="1200">
                <a:solidFill>
                  <a:srgbClr val="FFFFFF"/>
                </a:solidFill>
                <a:latin typeface="Arial"/>
                <a:ea typeface="Arial"/>
                <a:cs typeface="Arial"/>
              </a:rPr>
              <a:t>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buNone/>
              <a:defRPr sz="3450">
                <a:solidFill>
                  <a:srgbClr val="FFFFFF"/>
                </a:solidFill>
                <a:latin typeface="Arial"/>
                <a:ea typeface="Arial"/>
                <a:cs typeface="Arial"/>
              </a:defRPr>
            </a:pPr>
            <a:r>
              <a:rPr sz="3450">
                <a:solidFill>
                  <a:srgbClr val="FFFFFF"/>
                </a:solidFill>
                <a:latin typeface="Arial"/>
                <a:ea typeface="Arial"/>
                <a:cs typeface="Arial"/>
              </a:rPr>
              <a:t>The solution: check each object in context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1. Identify the building part</a:t>
            </a:r>
          </a:p>
          <a:p xmlns:a="http://schemas.openxmlformats.org/drawingml/2006/main">
            <a:pPr marL="0" marR="0" lvl="0" indent="0" algn="l" defTabSz="914400">
              <a:lnSpc>
                <a:spcPct val="100000"/>
              </a:lnSpc>
              <a:spcBef>
                <a:spcPts val="1300"/>
              </a:spcBef>
              <a:spcAft>
                <a:spcPts val="130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Select a wall, window, or door and inspect its model properties.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2. Compare its classification</a:t>
            </a:r>
          </a:p>
          <a:p xmlns:a="http://schemas.openxmlformats.org/drawingml/2006/main">
            <a:pPr marL="0" marR="0" lvl="0" indent="0" algn="l" defTabSz="914400">
              <a:lnSpc>
                <a:spcPct val="100000"/>
              </a:lnSpc>
              <a:spcBef>
                <a:spcPts val="1300"/>
              </a:spcBef>
              <a:spcAft>
                <a:spcPts val="130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Use the selected UniFormat edition to find the appropriate code and description.</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025">
                <a:solidFill>
                  <a:srgbClr val="FFFFFF"/>
                </a:solidFill>
                <a:latin typeface="Arial"/>
                <a:ea typeface="Arial"/>
                <a:cs typeface="Arial"/>
              </a:defRPr>
            </a:pPr>
            <a:r>
              <a:rPr sz="2025">
                <a:solidFill>
                  <a:srgbClr val="FFFFFF"/>
                </a:solidFill>
                <a:latin typeface="Arial"/>
                <a:ea typeface="Arial"/>
                <a:cs typeface="Arial"/>
              </a:rPr>
              <a:t>3. Explain the mismatch</a:t>
            </a:r>
          </a:p>
          <a:p xmlns:a="http://schemas.openxmlformats.org/drawingml/2006/main">
            <a:pPr marL="0" indent="0">
              <a:lnSpc>
                <a:spcPct val="100000"/>
              </a:lnSpc>
              <a:spcBef>
                <a:spcPts val="1300"/>
              </a:spcBef>
              <a:spcAft>
                <a:spcPts val="1300"/>
              </a:spcAft>
              <a:buFontTx/>
              <a:buNone/>
              <a:defRPr sz="2025">
                <a:solidFill>
                  <a:srgbClr val="FFFFFF"/>
                </a:solidFill>
                <a:latin typeface="Arial"/>
                <a:ea typeface="Arial"/>
                <a:cs typeface="Arial"/>
              </a:defRPr>
            </a:pPr>
            <a:r>
              <a:rPr sz="2025">
                <a:solidFill>
                  <a:srgbClr val="FFFFFF"/>
                </a:solidFill>
                <a:latin typeface="Arial"/>
                <a:ea typeface="Arial"/>
                <a:cs typeface="Arial"/>
              </a:rPr>
              <a:t>Show the current label beside the suggested classification and its reference.</a:t>
            </a:r>
            <a:endParaRPr sz="1800">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025">
                <a:solidFill>
                  <a:srgbClr val="FFFFFF"/>
                </a:solidFill>
                <a:latin typeface="Arial"/>
                <a:ea typeface="Arial"/>
                <a:cs typeface="Arial"/>
              </a:defRPr>
            </a:pPr>
            <a:r>
              <a:rPr sz="2025">
                <a:solidFill>
                  <a:srgbClr val="FFFFFF"/>
                </a:solidFill>
                <a:latin typeface="Arial"/>
                <a:ea typeface="Arial"/>
                <a:cs typeface="Arial"/>
              </a:rPr>
              <a:t>4. Review the correction</a:t>
            </a:r>
          </a:p>
          <a:p xmlns:a="http://schemas.openxmlformats.org/drawingml/2006/main">
            <a:pPr marL="0" indent="0">
              <a:lnSpc>
                <a:spcPct val="100000"/>
              </a:lnSpc>
              <a:spcBef>
                <a:spcPts val="1300"/>
              </a:spcBef>
              <a:spcAft>
                <a:spcPts val="1300"/>
              </a:spcAft>
              <a:buFontTx/>
              <a:buNone/>
              <a:defRPr sz="2025">
                <a:solidFill>
                  <a:srgbClr val="FFFFFF"/>
                </a:solidFill>
                <a:latin typeface="Arial"/>
                <a:ea typeface="Arial"/>
                <a:cs typeface="Arial"/>
              </a:defRPr>
            </a:pPr>
            <a:r>
              <a:rPr sz="2025">
                <a:solidFill>
                  <a:srgbClr val="FFFFFF"/>
                </a:solidFill>
                <a:latin typeface="Arial"/>
                <a:ea typeface="Arial"/>
                <a:cs typeface="Arial"/>
              </a:rPr>
              <a:t>The designer confirms the match before changing the model data.</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E4DD3B-1E9C-4BD8-B59A-9C7190C120F6}"/>
              </a:ext>
            </a:extLst>
          </p:cNvPr>
          <p:cNvSpPr>
            <a:spLocks xmlns:a="http://schemas.openxmlformats.org/drawingml/2006/main" noGrp="1"/>
          </p:cNvSpPr>
          <p:nvPr/>
        </p:nvSpPr>
        <p:spPr>
          <a:xfrm xmlns:a="http://schemas.openxmlformats.org/drawingml/2006/main">
            <a:off x="390525" y="285750"/>
            <a:ext cx="11410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a:solidFill>
                  <a:srgbClr val="FFFFFF"/>
                </a:solidFill>
                <a:latin typeface="Arial"/>
                <a:ea typeface="Arial"/>
                <a:cs typeface="Arial"/>
              </a:defRPr>
            </a:pPr>
            <a:r>
              <a:rPr sz="3450">
                <a:solidFill>
                  <a:srgbClr val="FFFFFF"/>
                </a:solidFill>
                <a:latin typeface="Arial"/>
                <a:ea typeface="Arial"/>
                <a:cs typeface="Arial"/>
              </a:rPr>
              <a:t>Use case: a window has the wrong label</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57e66e08bb64992"/>
          <a:stretch xmlns:a="http://schemas.openxmlformats.org/drawingml/2006/main"/>
        </p:blipFill>
        <p:spPr>
          <a:xfrm xmlns:a="http://schemas.openxmlformats.org/drawingml/2006/main">
            <a:off x="657350" y="1285875"/>
            <a:ext cx="10877299" cy="50101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46917E0-C2E9-484B-A64B-8E10BAC473F6}"/>
              </a:ext>
            </a:extLst>
          </p:cNvPr>
          <p:cNvSpPr>
            <a:spLocks xmlns:a="http://schemas.openxmlformats.org/drawingml/2006/main" noGrp="1"/>
          </p:cNvSpPr>
          <p:nvPr/>
        </p:nvSpPr>
        <p:spPr>
          <a:xfrm xmlns:a="http://schemas.openxmlformats.org/drawingml/2006/main">
            <a:off x="390525" y="6362700"/>
            <a:ext cx="1114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FFFFFF"/>
                </a:solidFill>
                <a:latin typeface="Arial"/>
                <a:ea typeface="Arial"/>
                <a:cs typeface="Arial"/>
              </a:defRPr>
            </a:pPr>
            <a:r>
              <a:rPr sz="1350">
                <a:solidFill>
                  <a:srgbClr val="FFFFFF"/>
                </a:solidFill>
                <a:latin typeface="Arial"/>
                <a:ea typeface="Arial"/>
                <a:cs typeface="Arial"/>
              </a:rPr>
              <a:t>Illustrative workflow in development. Classification compliance supports model-data review.</a:t>
            </a:r>
          </a:p>
        </p:txBody>
      </p:sp>
      <p:sp>
        <p:nvSpPr>
          <p:cNvPr id="4" name="">
            <a:extLst xmlns:a="http://schemas.openxmlformats.org/drawingml/2006/main">
              <a:ext uri="{FF2B5EF4-FFF2-40B4-BE49-F238E27FC236}">
                <a16:creationId xmlns:a16="http://schemas.microsoft.com/office/drawing/2014/main" id="{C2712BE3-1FF9-4A36-AE3D-CB01C7782D90}"/>
              </a:ext>
            </a:extLst>
          </p:cNvPr>
          <p:cNvSpPr>
            <a:spLocks xmlns:a="http://schemas.openxmlformats.org/drawingml/2006/main" noGrp="1"/>
          </p:cNvSpPr>
          <p:nvPr/>
        </p:nvSpPr>
        <p:spPr>
          <a:xfrm xmlns:a="http://schemas.openxmlformats.org/drawingml/2006/main">
            <a:off x="11430000" y="64770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FFFFFF"/>
                </a:solidFill>
                <a:latin typeface="Arial"/>
                <a:ea typeface="Arial"/>
                <a:cs typeface="Arial"/>
              </a:defRPr>
            </a:pPr>
            <a:r>
              <a:rPr sz="1200">
                <a:solidFill>
                  <a:srgbClr val="FFFFFF"/>
                </a:solidFill>
                <a:latin typeface="Arial"/>
                <a:ea typeface="Arial"/>
                <a:cs typeface="Arial"/>
              </a:rPr>
              <a:t>6</a:t>
            </a:r>
          </a:p>
        </p:txBody>
      </p:sp>
    </p:spTree>
    <p:extLst>
      <p:ext uri="{BB962C8B-B14F-4D97-AF65-F5344CB8AC3E}">
        <p14:creationId xmlns:p14="http://schemas.microsoft.com/office/powerpoint/2010/main" val="10159293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0525" y="6191250"/>
            <a:ext cx="10477500" cy="381000"/>
          </a:xfrm>
        </p:spPr>
        <p:txBody>
          <a:bodyPr xmlns:a="http://schemas.openxmlformats.org/drawingml/2006/main">
            <a:noAutofit/>
          </a:bodyPr>
          <a:lstStyle xmlns:a="http://schemas.openxmlformats.org/drawingml/2006/main"/>
          <a:p xmlns:a="http://schemas.openxmlformats.org/drawingml/2006/main">
            <a:pPr>
              <a:buNone/>
              <a:defRPr sz="1425">
                <a:solidFill>
                  <a:srgbClr val="FFFFFF"/>
                </a:solidFill>
                <a:latin typeface="Arial"/>
                <a:ea typeface="Arial"/>
                <a:cs typeface="Arial"/>
              </a:defRPr>
            </a:pPr>
            <a:r>
              <a:rPr sz="1425">
                <a:solidFill>
                  <a:srgbClr val="FFFFFF"/>
                </a:solidFill>
                <a:latin typeface="Arial"/>
                <a:ea typeface="Arial"/>
                <a:cs typeface="Arial"/>
              </a:rPr>
              <a:t>Live model and Agents API integration are not verified in this repository.</a:t>
            </a:r>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1200">
                <a:solidFill>
                  <a:srgbClr val="FFFFFF"/>
                </a:solidFill>
                <a:latin typeface="Arial"/>
                <a:ea typeface="Arial"/>
                <a:cs typeface="Arial"/>
              </a:defRPr>
            </a:pPr>
            <a:fld id="{D3D7D1C8-AE23-AA48-DF65-C742588DBE47}" type="slidenum">
              <a:rPr sz="1200">
                <a:solidFill>
                  <a:srgbClr val="FFFFFF"/>
                </a:solidFill>
                <a:latin typeface="Arial"/>
                <a:ea typeface="Arial"/>
                <a:cs typeface="Arial"/>
              </a:rPr>
              <a:t>7</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450">
                <a:solidFill>
                  <a:srgbClr val="FFFFFF"/>
                </a:solidFill>
                <a:latin typeface="Arial"/>
                <a:ea typeface="Arial"/>
                <a:cs typeface="Arial"/>
              </a:defRPr>
            </a:pPr>
            <a:r>
              <a:rPr sz="3450">
                <a:solidFill>
                  <a:srgbClr val="FFFFFF"/>
                </a:solidFill>
                <a:latin typeface="Arial"/>
                <a:ea typeface="Arial"/>
                <a:cs typeface="Arial"/>
              </a:rPr>
              <a:t>Astra capabilities planned for Forma</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a:solidFill>
                  <a:srgbClr val="FFFFFF"/>
                </a:solidFill>
                <a:latin typeface="Arial"/>
                <a:ea typeface="Arial"/>
                <a:cs typeface="Arial"/>
              </a:defRPr>
            </a:pPr>
            <a:r>
              <a:rPr sz="2025">
                <a:solidFill>
                  <a:srgbClr val="FFFFFF"/>
                </a:solidFill>
                <a:latin typeface="Arial"/>
                <a:ea typeface="Arial"/>
                <a:cs typeface="Arial"/>
              </a:rPr>
              <a:t>GPT-Live-1</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2025">
                <a:solidFill>
                  <a:srgbClr val="FFFFFF"/>
                </a:solidFill>
                <a:latin typeface="Arial"/>
                <a:ea typeface="Arial"/>
                <a:cs typeface="Arial"/>
              </a:defRPr>
            </a:pPr>
            <a:r>
              <a:rPr sz="2025">
                <a:solidFill>
                  <a:srgbClr val="FFFFFF"/>
                </a:solidFill>
                <a:latin typeface="Arial"/>
                <a:ea typeface="Arial"/>
                <a:cs typeface="Arial"/>
              </a:rPr>
              <a:t>Discuss the current model through natural conversation while keeping the selected object in context.</a:t>
            </a:r>
            <a:endParaRPr sz="1800">
              <a:latin typeface="Helvetica Neue"/>
              <a:ea typeface="Helvetica Neue"/>
              <a:cs typeface="Helvetica Neue"/>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Agents API</a:t>
            </a:r>
          </a:p>
          <a:p xmlns:a="http://schemas.openxmlformats.org/drawingml/2006/main">
            <a:pPr marL="0" marR="0" lvl="0" indent="0" algn="l" defTabSz="914400">
              <a:lnSpc>
                <a:spcPct val="114000"/>
              </a:lnSpc>
              <a:spcBef>
                <a:spcPts val="0"/>
              </a:spcBef>
              <a:spcAft>
                <a:spcPts val="800"/>
              </a:spcAft>
              <a:buClrTx/>
              <a:buSzTx/>
              <a:buFont typeface="Arial"/>
              <a:buNone/>
            </a:pPr>
            <a:endParaRPr sz="2025" b="0" i="0" u="none" cap="none" spc="0">
              <a:ln>
                <a:noFill/>
              </a:ln>
              <a:solidFill>
                <a:srgbClr val="FFFFFF"/>
              </a:solidFill>
              <a:latin typeface="Arial"/>
              <a:ea typeface="Arial"/>
              <a:cs typeface="Arial"/>
            </a:endParaRPr>
          </a:p>
          <a:p xmlns:a="http://schemas.openxmlformats.org/drawingml/2006/main">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Use model tools to inspect properties, change the view, and prepare an issue for human review.</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Visual Understanding</a:t>
            </a:r>
          </a:p>
          <a:p xmlns:a="http://schemas.openxmlformats.org/drawingml/2006/main">
            <a:pPr marL="0" marR="0" lvl="0" indent="0" algn="l" defTabSz="914400">
              <a:lnSpc>
                <a:spcPct val="114000"/>
              </a:lnSpc>
              <a:spcBef>
                <a:spcPts val="0"/>
              </a:spcBef>
              <a:spcAft>
                <a:spcPts val="800"/>
              </a:spcAft>
              <a:buClrTx/>
              <a:buSzTx/>
              <a:buFont typeface="Arial"/>
              <a:buNone/>
            </a:pPr>
            <a:endParaRPr sz="2025" b="0" i="0" u="none" cap="none" spc="0">
              <a:ln>
                <a:noFill/>
              </a:ln>
              <a:solidFill>
                <a:srgbClr val="FFFFFF"/>
              </a:solidFill>
              <a:latin typeface="Arial"/>
              <a:ea typeface="Arial"/>
              <a:cs typeface="Arial"/>
            </a:endParaRPr>
          </a:p>
          <a:p xmlns:a="http://schemas.openxmlformats.org/drawingml/2006/main">
            <a:pPr marL="0" indent="0">
              <a:buNone/>
              <a:defRPr sz="2025">
                <a:solidFill>
                  <a:srgbClr val="FFFFFF"/>
                </a:solidFill>
                <a:latin typeface="Arial"/>
                <a:ea typeface="Arial"/>
                <a:cs typeface="Arial"/>
              </a:defRPr>
            </a:pPr>
            <a:r>
              <a:rPr sz="2025">
                <a:solidFill>
                  <a:srgbClr val="FFFFFF"/>
                </a:solidFill>
                <a:latin typeface="Arial"/>
                <a:ea typeface="Arial"/>
                <a:cs typeface="Arial"/>
              </a:rPr>
              <a:t>Connect questions about the visible 3D scene with IFC element properties and review evidence.</a:t>
            </a:r>
            <a:endParaRPr/>
          </a:p>
        </p:txBody>
      </p:sp>
    </p:spTree>
    <p:extLst>
      <p:ext uri="{BB962C8B-B14F-4D97-AF65-F5344CB8AC3E}">
        <p14:creationId xmlns:p14="http://schemas.microsoft.com/office/powerpoint/2010/main" val="139345699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BA58DA2A-B818-18A9-29C1-B697728D5BCE}" type="slidenum">
              <a:t>8</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Live demo sequence</a:t>
            </a:r>
          </a:p>
        </p:txBody>
      </p:sp>
      <p:graphicFrame>
        <p:nvGraphicFramePr>
          <p:cNvPr id="10" name="Table 3"/>
          <p:cNvGraphicFramePr/>
          <p:nvPr/>
        </p:nvGraphicFramePr>
        <p:xfrm>
          <a:off xmlns:a="http://schemas.openxmlformats.org/drawingml/2006/main" x="393700" y="2080009"/>
          <a:ext xmlns:a="http://schemas.openxmlformats.org/drawingml/2006/main" cx="11404600" cy="3914388"/>
        </p:xfrm>
        <a:graphic xmlns:a="http://schemas.openxmlformats.org/drawingml/2006/main">
          <a:graphicData uri="http://schemas.openxmlformats.org/drawingml/2006/table">
            <a:tbl>
              <a:tblPr firstRow="1" bandRow="1">
                <a:tableStyleId>{5C22544A-7EE6-4342-B048-85BDC9FD1C3A}</a:tableStyleId>
              </a:tblPr>
              <a:tblGrid>
                <a:gridCol w="878509"/>
                <a:gridCol w="10526091"/>
              </a:tblGrid>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01</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Open the sample IFC model</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02</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Select an object and inspect properties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03</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Ask about the selected element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04</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Isolate it and inspect the 3D view</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05</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Draft and save a review issue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06</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Filter the sheet and export Excel</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91587740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FBA02CCA-F21B-9365-60C4-CCFEB9244CC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3B21B056-C0DC-9927-7975-E8A8720D325A}"/>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1200">
                <a:solidFill>
                  <a:srgbClr val="FFFFFF"/>
                </a:solidFill>
                <a:latin typeface="Arial"/>
                <a:ea typeface="Arial"/>
                <a:cs typeface="Arial"/>
              </a:defRPr>
            </a:pPr>
            <a:fld id="{388657AE-30A1-5A7A-6A7F-315D84436430}" type="slidenum">
              <a:rPr sz="1200">
                <a:solidFill>
                  <a:srgbClr val="FFFFFF"/>
                </a:solidFill>
                <a:latin typeface="Arial"/>
                <a:ea typeface="Arial"/>
                <a:cs typeface="Arial"/>
              </a:rPr>
              <a:t>9</a:t>
            </a:fld>
            <a:endParaRPr/>
          </a:p>
        </p:txBody>
      </p:sp>
      <p:sp>
        <p:nvSpPr>
          <p:cNvPr id="533" name="Google Shape;533;p58">
            <a:extLst xmlns:a="http://schemas.openxmlformats.org/drawingml/2006/main">
              <a:ext uri="{FF2B5EF4-FFF2-40B4-BE49-F238E27FC236}">
                <a16:creationId xmlns:a16="http://schemas.microsoft.com/office/drawing/2014/main" id="{62D86C57-5A36-A9CA-FBAE-7FD6A93121B0}"/>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3600">
                <a:solidFill>
                  <a:srgbClr val="FFFFFF"/>
                </a:solidFill>
                <a:latin typeface="Arial"/>
                <a:ea typeface="Arial"/>
                <a:cs typeface="Arial"/>
              </a:defRPr>
            </a:pPr>
            <a:r>
              <a:rPr sz="3600">
                <a:solidFill>
                  <a:srgbClr val="FFFFFF"/>
                </a:solidFill>
                <a:latin typeface="Arial"/>
                <a:ea typeface="Arial"/>
                <a:cs typeface="Arial"/>
              </a:rPr>
              <a:t>Prototype status and next steps</a:t>
            </a:r>
          </a:p>
        </p:txBody>
      </p:sp>
      <p:sp>
        <p:nvSpPr>
          <p:cNvPr id="5" name="Google Shape;558;p61">
            <a:extLst xmlns:a="http://schemas.openxmlformats.org/drawingml/2006/main">
              <a:ext uri="{FF2B5EF4-FFF2-40B4-BE49-F238E27FC236}">
                <a16:creationId xmlns:a16="http://schemas.microsoft.com/office/drawing/2014/main" id="{CF52371F-8816-97E4-7F6A-234DB3FEF95A}"/>
              </a:ext>
            </a:extLst>
          </p:cNvPr>
          <p:cNvSpPr>
            <a:spLocks xmlns:a="http://schemas.openxmlformats.org/drawingml/2006/main" noGrp="1"/>
          </p:cNvSpPr>
          <p:nvPr/>
        </p:nvSpPr>
        <p:spPr>
          <a:xfrm xmlns:a="http://schemas.openxmlformats.org/drawingml/2006/main">
            <a:off x="3937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Working today</a:t>
            </a:r>
          </a:p>
          <a:p xmlns:a="http://schemas.openxmlformats.org/drawingml/2006/main">
            <a:pPr marL="0" indent="0">
              <a:lnSpc>
                <a:spcPct val="114000"/>
              </a:lnSpc>
              <a:spcBef>
                <a:spcPts val="0"/>
              </a:spcBef>
              <a:spcAft>
                <a:spcPts val="800"/>
              </a:spcAft>
              <a:buFont typeface="Arial"/>
              <a:buNone/>
            </a:pPr>
            <a:endParaRPr sz="2025">
              <a:solidFill>
                <a:srgbClr val="FFFFFF"/>
              </a:solidFill>
              <a:latin typeface="Arial"/>
              <a:ea typeface="Arial"/>
              <a:cs typeface="Arial"/>
            </a:endParaRPr>
          </a:p>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IFC import, linked selection, scene controls, Excel export, and local review issues.</a:t>
            </a:r>
          </a:p>
        </p:txBody>
      </p:sp>
      <p:sp>
        <p:nvSpPr>
          <p:cNvPr id="6" name="Google Shape;559;p61">
            <a:extLst xmlns:a="http://schemas.openxmlformats.org/drawingml/2006/main">
              <a:ext uri="{FF2B5EF4-FFF2-40B4-BE49-F238E27FC236}">
                <a16:creationId xmlns:a16="http://schemas.microsoft.com/office/drawing/2014/main" id="{B35EA25F-F28D-25C7-A5DF-16A7EADF8DBD}"/>
              </a:ext>
            </a:extLst>
          </p:cNvPr>
          <p:cNvSpPr>
            <a:spLocks xmlns:a="http://schemas.openxmlformats.org/drawingml/2006/main" noGrp="1"/>
          </p:cNvSpPr>
          <p:nvPr/>
        </p:nvSpPr>
        <p:spPr>
          <a:xfrm xmlns:a="http://schemas.openxmlformats.org/drawingml/2006/main">
            <a:off x="43180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Tool foundation</a:t>
            </a: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10 WebMCP tools expose model data, scene state, measurements, and issue actions.</a:t>
            </a:r>
            <a:endParaRPr sz="2000">
              <a:latin typeface="Helvetica Neue"/>
              <a:ea typeface="Helvetica Neue"/>
              <a:cs typeface="Helvetica Neue"/>
            </a:endParaRPr>
          </a:p>
        </p:txBody>
      </p:sp>
      <p:sp>
        <p:nvSpPr>
          <p:cNvPr id="7" name="Google Shape;560;p61">
            <a:extLst xmlns:a="http://schemas.openxmlformats.org/drawingml/2006/main">
              <a:ext uri="{FF2B5EF4-FFF2-40B4-BE49-F238E27FC236}">
                <a16:creationId xmlns:a16="http://schemas.microsoft.com/office/drawing/2014/main" id="{6E61CDC3-05E3-B689-0BCE-9014DDCB5EE8}"/>
              </a:ext>
            </a:extLst>
          </p:cNvPr>
          <p:cNvSpPr>
            <a:spLocks xmlns:a="http://schemas.openxmlformats.org/drawingml/2006/main" noGrp="1"/>
          </p:cNvSpPr>
          <p:nvPr/>
        </p:nvSpPr>
        <p:spPr>
          <a:xfrm xmlns:a="http://schemas.openxmlformats.org/drawingml/2006/main">
            <a:off x="8232273"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Next integration</a:t>
            </a: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Connect live Astra, add standards reasoning, and persist approved mappings.</a:t>
            </a:r>
            <a:endParaRPr sz="2000">
              <a:latin typeface="Helvetica Neue"/>
              <a:ea typeface="Helvetica Neue"/>
              <a:cs typeface="Helvetica Neue"/>
            </a:endParaRPr>
          </a:p>
        </p:txBody>
      </p:sp>
      <p:sp>
        <p:nvSpPr>
          <p:cNvPr id="8" name="Google Shape;561;p61">
            <a:extLst xmlns:a="http://schemas.openxmlformats.org/drawingml/2006/main">
              <a:ext uri="{FF2B5EF4-FFF2-40B4-BE49-F238E27FC236}">
                <a16:creationId xmlns:a16="http://schemas.microsoft.com/office/drawing/2014/main" id="{2E9332F7-1AC8-A3A0-635E-D70D0C3E6A72}"/>
              </a:ext>
            </a:extLst>
          </p:cNvPr>
          <p:cNvSpPr>
            <a:spLocks xmlns:a="http://schemas.openxmlformats.org/drawingml/2006/main" noGrp="1"/>
          </p:cNvSpPr>
          <p:nvPr/>
        </p:nvSpPr>
        <p:spPr>
          <a:xfrm xmlns:a="http://schemas.openxmlformats.org/drawingml/2006/main">
            <a:off x="4279904" y="3382303"/>
            <a:ext cx="315580" cy="353873"/>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9" name="Google Shape;562;p61">
            <a:extLst xmlns:a="http://schemas.openxmlformats.org/drawingml/2006/main">
              <a:ext uri="{FF2B5EF4-FFF2-40B4-BE49-F238E27FC236}">
                <a16:creationId xmlns:a16="http://schemas.microsoft.com/office/drawing/2014/main" id="{1F6EAF7D-166C-52A8-35F4-18CE1043DC36}"/>
              </a:ext>
            </a:extLst>
          </p:cNvPr>
          <p:cNvSpPr>
            <a:spLocks xmlns:a="http://schemas.openxmlformats.org/drawingml/2006/main" noGrp="1"/>
          </p:cNvSpPr>
          <p:nvPr/>
        </p:nvSpPr>
        <p:spPr>
          <a:xfrm xmlns:a="http://schemas.openxmlformats.org/drawingml/2006/main">
            <a:off x="401398" y="3378212"/>
            <a:ext cx="327078" cy="362074"/>
          </a:xfrm>
          <a:custGeom xmlns:a="http://schemas.openxmlformats.org/drawingml/2006/main">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10" name="Google Shape;563;p61">
            <a:extLst xmlns:a="http://schemas.openxmlformats.org/drawingml/2006/main">
              <a:ext uri="{FF2B5EF4-FFF2-40B4-BE49-F238E27FC236}">
                <a16:creationId xmlns:a16="http://schemas.microsoft.com/office/drawing/2014/main" id="{56E3A8EC-7B67-B778-5CC6-BC0282925006}"/>
              </a:ext>
            </a:extLst>
          </p:cNvPr>
          <p:cNvSpPr>
            <a:spLocks xmlns:a="http://schemas.openxmlformats.org/drawingml/2006/main" noGrp="1"/>
          </p:cNvSpPr>
          <p:nvPr/>
        </p:nvSpPr>
        <p:spPr>
          <a:xfrm xmlns:a="http://schemas.openxmlformats.org/drawingml/2006/main">
            <a:off x="8231597" y="3406849"/>
            <a:ext cx="338580" cy="270918"/>
          </a:xfrm>
          <a:custGeom xmlns:a="http://schemas.openxmlformats.org/drawingml/2006/main">
            <a:rect l="l" t="t" r="r" b="b"/>
            <a:pathLst>
              <a:path w="21600" h="21600">
                <a:moveTo>
                  <a:pt x="6220" y="0"/>
                </a:moveTo>
                <a:lnTo>
                  <a:pt x="15380" y="0"/>
                </a:lnTo>
                <a:cubicBezTo>
                  <a:pt x="16250" y="0"/>
                  <a:pt x="16968" y="0"/>
                  <a:pt x="17552" y="59"/>
                </a:cubicBezTo>
                <a:cubicBezTo>
                  <a:pt x="18159" y="122"/>
                  <a:pt x="18717" y="255"/>
                  <a:pt x="19241" y="589"/>
                </a:cubicBezTo>
                <a:cubicBezTo>
                  <a:pt x="20055" y="1106"/>
                  <a:pt x="20715" y="1932"/>
                  <a:pt x="21129" y="2948"/>
                </a:cubicBezTo>
                <a:cubicBezTo>
                  <a:pt x="21396" y="3603"/>
                  <a:pt x="21503" y="4301"/>
                  <a:pt x="21552" y="5060"/>
                </a:cubicBezTo>
                <a:cubicBezTo>
                  <a:pt x="21600" y="5790"/>
                  <a:pt x="21600" y="6688"/>
                  <a:pt x="21600" y="7775"/>
                </a:cubicBezTo>
                <a:lnTo>
                  <a:pt x="21600" y="13825"/>
                </a:lnTo>
                <a:cubicBezTo>
                  <a:pt x="21600" y="14912"/>
                  <a:pt x="21600" y="15810"/>
                  <a:pt x="21552" y="16540"/>
                </a:cubicBezTo>
                <a:cubicBezTo>
                  <a:pt x="21503" y="17299"/>
                  <a:pt x="21396" y="17997"/>
                  <a:pt x="21129" y="18652"/>
                </a:cubicBezTo>
                <a:cubicBezTo>
                  <a:pt x="20715" y="19668"/>
                  <a:pt x="20055" y="20494"/>
                  <a:pt x="19241" y="21011"/>
                </a:cubicBezTo>
                <a:cubicBezTo>
                  <a:pt x="18717" y="21345"/>
                  <a:pt x="18159" y="21478"/>
                  <a:pt x="17552" y="21541"/>
                </a:cubicBezTo>
                <a:cubicBezTo>
                  <a:pt x="16968" y="21600"/>
                  <a:pt x="16250" y="21600"/>
                  <a:pt x="15380" y="21600"/>
                </a:cubicBezTo>
                <a:lnTo>
                  <a:pt x="6220" y="21600"/>
                </a:lnTo>
                <a:cubicBezTo>
                  <a:pt x="5350" y="21600"/>
                  <a:pt x="4632" y="21600"/>
                  <a:pt x="4048" y="21541"/>
                </a:cubicBezTo>
                <a:cubicBezTo>
                  <a:pt x="3441" y="21478"/>
                  <a:pt x="2883" y="21345"/>
                  <a:pt x="2359" y="21011"/>
                </a:cubicBezTo>
                <a:cubicBezTo>
                  <a:pt x="1545" y="20494"/>
                  <a:pt x="885" y="19668"/>
                  <a:pt x="471" y="18652"/>
                </a:cubicBezTo>
                <a:cubicBezTo>
                  <a:pt x="204" y="17997"/>
                  <a:pt x="97" y="17299"/>
                  <a:pt x="48" y="16540"/>
                </a:cubicBezTo>
                <a:cubicBezTo>
                  <a:pt x="0" y="15810"/>
                  <a:pt x="0" y="14912"/>
                  <a:pt x="0" y="13825"/>
                </a:cubicBezTo>
                <a:lnTo>
                  <a:pt x="0" y="7775"/>
                </a:lnTo>
                <a:cubicBezTo>
                  <a:pt x="0" y="6688"/>
                  <a:pt x="0" y="5790"/>
                  <a:pt x="48" y="5060"/>
                </a:cubicBezTo>
                <a:cubicBezTo>
                  <a:pt x="97" y="4301"/>
                  <a:pt x="204" y="3603"/>
                  <a:pt x="471" y="2948"/>
                </a:cubicBezTo>
                <a:cubicBezTo>
                  <a:pt x="885" y="1932"/>
                  <a:pt x="1545" y="1106"/>
                  <a:pt x="2359" y="589"/>
                </a:cubicBezTo>
                <a:cubicBezTo>
                  <a:pt x="2883" y="255"/>
                  <a:pt x="3441" y="122"/>
                  <a:pt x="4048" y="59"/>
                </a:cubicBezTo>
                <a:cubicBezTo>
                  <a:pt x="4632" y="0"/>
                  <a:pt x="5350" y="0"/>
                  <a:pt x="6220" y="0"/>
                </a:cubicBezTo>
                <a:close/>
                <a:moveTo>
                  <a:pt x="2160" y="9450"/>
                </a:moveTo>
                <a:lnTo>
                  <a:pt x="2160" y="13770"/>
                </a:lnTo>
                <a:cubicBezTo>
                  <a:pt x="2160" y="14927"/>
                  <a:pt x="2161" y="15713"/>
                  <a:pt x="2201" y="16320"/>
                </a:cubicBezTo>
                <a:cubicBezTo>
                  <a:pt x="2239" y="16911"/>
                  <a:pt x="2309" y="17215"/>
                  <a:pt x="2395" y="17426"/>
                </a:cubicBezTo>
                <a:cubicBezTo>
                  <a:pt x="2603" y="17933"/>
                  <a:pt x="2933" y="18347"/>
                  <a:pt x="3339" y="18606"/>
                </a:cubicBezTo>
                <a:cubicBezTo>
                  <a:pt x="3508" y="18714"/>
                  <a:pt x="3751" y="18801"/>
                  <a:pt x="4224" y="18849"/>
                </a:cubicBezTo>
                <a:cubicBezTo>
                  <a:pt x="4710" y="18899"/>
                  <a:pt x="5338" y="18900"/>
                  <a:pt x="6264" y="18900"/>
                </a:cubicBezTo>
                <a:lnTo>
                  <a:pt x="15336" y="18900"/>
                </a:lnTo>
                <a:cubicBezTo>
                  <a:pt x="16262" y="18900"/>
                  <a:pt x="16890" y="18899"/>
                  <a:pt x="17376" y="18849"/>
                </a:cubicBezTo>
                <a:cubicBezTo>
                  <a:pt x="17849" y="18801"/>
                  <a:pt x="18092" y="18714"/>
                  <a:pt x="18261" y="18606"/>
                </a:cubicBezTo>
                <a:cubicBezTo>
                  <a:pt x="18667" y="18347"/>
                  <a:pt x="18997" y="17933"/>
                  <a:pt x="19205" y="17426"/>
                </a:cubicBezTo>
                <a:cubicBezTo>
                  <a:pt x="19291" y="17215"/>
                  <a:pt x="19361" y="16911"/>
                  <a:pt x="19399" y="16320"/>
                </a:cubicBezTo>
                <a:cubicBezTo>
                  <a:pt x="19439" y="15713"/>
                  <a:pt x="19440" y="14927"/>
                  <a:pt x="19440" y="13770"/>
                </a:cubicBezTo>
                <a:lnTo>
                  <a:pt x="19440" y="9450"/>
                </a:lnTo>
                <a:lnTo>
                  <a:pt x="2160" y="9450"/>
                </a:lnTo>
                <a:close/>
                <a:moveTo>
                  <a:pt x="19438" y="6750"/>
                </a:moveTo>
                <a:cubicBezTo>
                  <a:pt x="19435" y="6148"/>
                  <a:pt x="19425" y="5677"/>
                  <a:pt x="19399" y="5280"/>
                </a:cubicBezTo>
                <a:cubicBezTo>
                  <a:pt x="19361" y="4689"/>
                  <a:pt x="19291" y="4385"/>
                  <a:pt x="19205" y="4174"/>
                </a:cubicBezTo>
                <a:cubicBezTo>
                  <a:pt x="18997" y="3667"/>
                  <a:pt x="18667" y="3254"/>
                  <a:pt x="18261" y="2994"/>
                </a:cubicBezTo>
                <a:cubicBezTo>
                  <a:pt x="18092" y="2886"/>
                  <a:pt x="17849" y="2799"/>
                  <a:pt x="17376" y="2751"/>
                </a:cubicBezTo>
                <a:cubicBezTo>
                  <a:pt x="16890" y="2701"/>
                  <a:pt x="16262" y="2700"/>
                  <a:pt x="15336" y="2700"/>
                </a:cubicBezTo>
                <a:lnTo>
                  <a:pt x="6264" y="2700"/>
                </a:lnTo>
                <a:cubicBezTo>
                  <a:pt x="5338" y="2700"/>
                  <a:pt x="4710" y="2701"/>
                  <a:pt x="4224" y="2751"/>
                </a:cubicBezTo>
                <a:cubicBezTo>
                  <a:pt x="3751" y="2799"/>
                  <a:pt x="3508" y="2886"/>
                  <a:pt x="3339" y="2994"/>
                </a:cubicBezTo>
                <a:cubicBezTo>
                  <a:pt x="2933" y="3254"/>
                  <a:pt x="2603" y="3667"/>
                  <a:pt x="2395" y="4174"/>
                </a:cubicBezTo>
                <a:cubicBezTo>
                  <a:pt x="2309" y="4385"/>
                  <a:pt x="2239" y="4689"/>
                  <a:pt x="2201" y="5280"/>
                </a:cubicBezTo>
                <a:cubicBezTo>
                  <a:pt x="2175" y="5677"/>
                  <a:pt x="2165" y="6148"/>
                  <a:pt x="2162" y="6750"/>
                </a:cubicBezTo>
                <a:lnTo>
                  <a:pt x="19438" y="6750"/>
                </a:lnTo>
                <a:close/>
                <a:moveTo>
                  <a:pt x="12960" y="14850"/>
                </a:moveTo>
                <a:cubicBezTo>
                  <a:pt x="12960" y="14105"/>
                  <a:pt x="13444" y="13500"/>
                  <a:pt x="14040" y="13500"/>
                </a:cubicBezTo>
                <a:lnTo>
                  <a:pt x="16200" y="13500"/>
                </a:lnTo>
                <a:cubicBezTo>
                  <a:pt x="16796" y="13500"/>
                  <a:pt x="17280" y="14105"/>
                  <a:pt x="17280" y="14850"/>
                </a:cubicBezTo>
                <a:cubicBezTo>
                  <a:pt x="17280" y="15595"/>
                  <a:pt x="16796" y="16200"/>
                  <a:pt x="16200" y="16200"/>
                </a:cubicBezTo>
                <a:lnTo>
                  <a:pt x="14040" y="16200"/>
                </a:lnTo>
                <a:cubicBezTo>
                  <a:pt x="13444" y="16200"/>
                  <a:pt x="12960" y="15595"/>
                  <a:pt x="12960" y="14850"/>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1053439695"/>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283D44-2EED-45AC-B02F-747A8A65F333}"/>
              </a:ext>
            </a:extLst>
          </p:cNvPr>
          <p:cNvSpPr>
            <a:spLocks xmlns:a="http://schemas.openxmlformats.org/drawingml/2006/main" noGrp="1"/>
          </p:cNvSpPr>
          <p:nvPr/>
        </p:nvSpPr>
        <p:spPr>
          <a:xfrm xmlns:a="http://schemas.openxmlformats.org/drawingml/2006/main">
            <a:off x="390525" y="342900"/>
            <a:ext cx="11410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a:solidFill>
                  <a:srgbClr val="FFFFFF"/>
                </a:solidFill>
                <a:latin typeface="Arial"/>
                <a:ea typeface="Arial"/>
                <a:cs typeface="Arial"/>
              </a:defRPr>
            </a:pPr>
            <a:r>
              <a:rPr sz="3450">
                <a:solidFill>
                  <a:srgbClr val="FFFFFF"/>
                </a:solidFill>
                <a:latin typeface="Arial"/>
                <a:ea typeface="Arial"/>
                <a:cs typeface="Arial"/>
              </a:rPr>
              <a:t>Manual review vs. Forma</a:t>
            </a:r>
          </a:p>
        </p:txBody>
      </p:sp>
      <p:sp>
        <p:nvSpPr>
          <p:cNvPr id="2" name="">
            <a:extLst xmlns:a="http://schemas.openxmlformats.org/drawingml/2006/main">
              <a:ext uri="{FF2B5EF4-FFF2-40B4-BE49-F238E27FC236}">
                <a16:creationId xmlns:a16="http://schemas.microsoft.com/office/drawing/2014/main" id="{6D848A9E-5F43-4C0F-B360-47BA627FF2AA}"/>
              </a:ext>
            </a:extLst>
          </p:cNvPr>
          <p:cNvSpPr>
            <a:spLocks xmlns:a="http://schemas.openxmlformats.org/drawingml/2006/main" noGrp="1"/>
          </p:cNvSpPr>
          <p:nvPr/>
        </p:nvSpPr>
        <p:spPr>
          <a:xfrm xmlns:a="http://schemas.openxmlformats.org/drawingml/2006/main">
            <a:off x="390525" y="11620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FFFFFF"/>
                </a:solidFill>
                <a:latin typeface="Arial"/>
                <a:ea typeface="Arial"/>
                <a:cs typeface="Arial"/>
              </a:defRPr>
            </a:pPr>
            <a:r>
              <a:rPr sz="1950">
                <a:solidFill>
                  <a:srgbClr val="FFFFFF"/>
                </a:solidFill>
                <a:latin typeface="Arial"/>
                <a:ea typeface="Arial"/>
                <a:cs typeface="Arial"/>
              </a:rPr>
              <a:t>Construction model review before cost estimation</a:t>
            </a:r>
          </a:p>
        </p:txBody>
      </p:sp>
      <p:graphicFrame>
        <p:nvGraphicFramePr>
          <p:cNvPr id="14" name=""/>
          <p:cNvGraphicFramePr/>
          <p:nvPr/>
        </p:nvGraphicFramePr>
        <p:xfrm>
          <a:off xmlns:a="http://schemas.openxmlformats.org/drawingml/2006/main" x="390525" y="1809750"/>
          <a:ext xmlns:a="http://schemas.openxmlformats.org/drawingml/2006/main" cx="11410950" cy="2857500"/>
        </p:xfrm>
        <a:graphic xmlns:a="http://schemas.openxmlformats.org/drawingml/2006/main">
          <a:graphicData uri="http://schemas.openxmlformats.org/drawingml/2006/table">
            <a:tbl>
              <a:tblPr/>
              <a:tblGrid>
                <a:gridCol w="2762250"/>
                <a:gridCol w="4191000"/>
                <a:gridCol w="4457700"/>
              </a:tblGrid>
              <a:tr h="571500">
                <a:tc>
                  <a:txBody>
                    <a:bodyPr/>
                    <a:lstStyle/>
                    <a:p>
                      <a:r>
                        <a:rPr sz="1725" b="1">
                          <a:solidFill>
                            <a:srgbClr val="FFFFFF"/>
                          </a:solidFill>
                          <a:latin typeface="Arial"/>
                          <a:ea typeface="Arial"/>
                          <a:cs typeface="Arial"/>
                        </a:rPr>
                        <a:t>Review activity</a:t>
                      </a:r>
                    </a:p>
                  </a:txBody>
                  <a:tcPr marL="91440" marR="91440" marT="45720" marB="45720">
                    <a:solidFill>
                      <a:srgbClr val="242424"/>
                    </a:solidFill>
                  </a:tcPr>
                </a:tc>
                <a:tc>
                  <a:txBody>
                    <a:bodyPr/>
                    <a:lstStyle/>
                    <a:p>
                      <a:r>
                        <a:rPr sz="1725" b="1">
                          <a:solidFill>
                            <a:srgbClr val="FFFFFF"/>
                          </a:solidFill>
                          <a:latin typeface="Arial"/>
                          <a:ea typeface="Arial"/>
                          <a:cs typeface="Arial"/>
                        </a:rPr>
                        <a:t>Manual workflow</a:t>
                      </a:r>
                    </a:p>
                  </a:txBody>
                  <a:tcPr marL="91440" marR="91440" marT="45720" marB="45720">
                    <a:solidFill>
                      <a:srgbClr val="242424"/>
                    </a:solidFill>
                  </a:tcPr>
                </a:tc>
                <a:tc>
                  <a:txBody>
                    <a:bodyPr/>
                    <a:lstStyle/>
                    <a:p>
                      <a:r>
                        <a:rPr sz="1725" b="1">
                          <a:solidFill>
                            <a:srgbClr val="FFFFFF"/>
                          </a:solidFill>
                          <a:latin typeface="Arial"/>
                          <a:ea typeface="Arial"/>
                          <a:cs typeface="Arial"/>
                        </a:rPr>
                        <a:t>With the app</a:t>
                      </a:r>
                    </a:p>
                  </a:txBody>
                  <a:tcPr marL="91440" marR="91440" marT="45720" marB="45720">
                    <a:solidFill>
                      <a:srgbClr val="242424"/>
                    </a:solidFill>
                  </a:tcPr>
                </a:tc>
              </a:tr>
              <a:tr h="571500">
                <a:tc>
                  <a:txBody>
                    <a:bodyPr/>
                    <a:lstStyle/>
                    <a:p>
                      <a:r>
                        <a:rPr sz="1725" b="0">
                          <a:solidFill>
                            <a:srgbClr val="FFFFFF"/>
                          </a:solidFill>
                          <a:latin typeface="Arial"/>
                          <a:ea typeface="Arial"/>
                          <a:cs typeface="Arial"/>
                        </a:rPr>
                        <a:t>Find and inspect objects</a:t>
                      </a:r>
                    </a:p>
                  </a:txBody>
                  <a:tcPr marL="91440" marR="91440" marT="45720" marB="45720">
                    <a:solidFill>
                      <a:srgbClr val="000000"/>
                    </a:solidFill>
                  </a:tcPr>
                </a:tc>
                <a:tc>
                  <a:txBody>
                    <a:bodyPr/>
                    <a:lstStyle/>
                    <a:p>
                      <a:r>
                        <a:rPr sz="1725" b="0">
                          <a:solidFill>
                            <a:srgbClr val="FFFFFF"/>
                          </a:solidFill>
                          <a:latin typeface="Arial"/>
                          <a:ea typeface="Arial"/>
                          <a:cs typeface="Arial"/>
                        </a:rPr>
                        <a:t>Cross-check model and schedules</a:t>
                      </a:r>
                    </a:p>
                  </a:txBody>
                  <a:tcPr marL="91440" marR="91440" marT="45720" marB="45720">
                    <a:solidFill>
                      <a:srgbClr val="000000"/>
                    </a:solidFill>
                  </a:tcPr>
                </a:tc>
                <a:tc>
                  <a:txBody>
                    <a:bodyPr/>
                    <a:lstStyle/>
                    <a:p>
                      <a:r>
                        <a:rPr sz="1725" b="0">
                          <a:solidFill>
                            <a:srgbClr val="FFFFFF"/>
                          </a:solidFill>
                          <a:latin typeface="Arial"/>
                          <a:ea typeface="Arial"/>
                          <a:cs typeface="Arial"/>
                        </a:rPr>
                        <a:t>Linked 3D view, tree, and properties</a:t>
                      </a:r>
                    </a:p>
                  </a:txBody>
                  <a:tcPr marL="91440" marR="91440" marT="45720" marB="45720">
                    <a:solidFill>
                      <a:srgbClr val="000000"/>
                    </a:solidFill>
                  </a:tcPr>
                </a:tc>
              </a:tr>
              <a:tr h="571500">
                <a:tc>
                  <a:txBody>
                    <a:bodyPr/>
                    <a:lstStyle/>
                    <a:p>
                      <a:r>
                        <a:rPr sz="1725" b="0">
                          <a:solidFill>
                            <a:srgbClr val="FFFFFF"/>
                          </a:solidFill>
                          <a:latin typeface="Arial"/>
                          <a:ea typeface="Arial"/>
                          <a:cs typeface="Arial"/>
                        </a:rPr>
                        <a:t>Record review findings</a:t>
                      </a:r>
                    </a:p>
                  </a:txBody>
                  <a:tcPr marL="91440" marR="91440" marT="45720" marB="45720">
                    <a:solidFill>
                      <a:srgbClr val="000000"/>
                    </a:solidFill>
                  </a:tcPr>
                </a:tc>
                <a:tc>
                  <a:txBody>
                    <a:bodyPr/>
                    <a:lstStyle/>
                    <a:p>
                      <a:r>
                        <a:rPr sz="1725" b="0">
                          <a:solidFill>
                            <a:srgbClr val="FFFFFF"/>
                          </a:solidFill>
                          <a:latin typeface="Arial"/>
                          <a:ea typeface="Arial"/>
                          <a:cs typeface="Arial"/>
                        </a:rPr>
                        <a:t>Capture screenshots and notes</a:t>
                      </a:r>
                    </a:p>
                  </a:txBody>
                  <a:tcPr marL="91440" marR="91440" marT="45720" marB="45720">
                    <a:solidFill>
                      <a:srgbClr val="000000"/>
                    </a:solidFill>
                  </a:tcPr>
                </a:tc>
                <a:tc>
                  <a:txBody>
                    <a:bodyPr/>
                    <a:lstStyle/>
                    <a:p>
                      <a:r>
                        <a:rPr sz="1725" b="0">
                          <a:solidFill>
                            <a:srgbClr val="FFFFFF"/>
                          </a:solidFill>
                          <a:latin typeface="Arial"/>
                          <a:ea typeface="Arial"/>
                          <a:cs typeface="Arial"/>
                        </a:rPr>
                        <a:t>Save issues with their viewpoints</a:t>
                      </a:r>
                    </a:p>
                  </a:txBody>
                  <a:tcPr marL="91440" marR="91440" marT="45720" marB="45720">
                    <a:solidFill>
                      <a:srgbClr val="000000"/>
                    </a:solidFill>
                  </a:tcPr>
                </a:tc>
              </a:tr>
              <a:tr h="571500">
                <a:tc>
                  <a:txBody>
                    <a:bodyPr/>
                    <a:lstStyle/>
                    <a:p>
                      <a:r>
                        <a:rPr sz="1725" b="0">
                          <a:solidFill>
                            <a:srgbClr val="FFFFFF"/>
                          </a:solidFill>
                          <a:latin typeface="Arial"/>
                          <a:ea typeface="Arial"/>
                          <a:cs typeface="Arial"/>
                        </a:rPr>
                        <a:t>Prepare element data</a:t>
                      </a:r>
                    </a:p>
                  </a:txBody>
                  <a:tcPr marL="91440" marR="91440" marT="45720" marB="45720">
                    <a:solidFill>
                      <a:srgbClr val="000000"/>
                    </a:solidFill>
                  </a:tcPr>
                </a:tc>
                <a:tc>
                  <a:txBody>
                    <a:bodyPr/>
                    <a:lstStyle/>
                    <a:p>
                      <a:r>
                        <a:rPr sz="1725" b="0">
                          <a:solidFill>
                            <a:srgbClr val="FFFFFF"/>
                          </a:solidFill>
                          <a:latin typeface="Arial"/>
                          <a:ea typeface="Arial"/>
                          <a:cs typeface="Arial"/>
                        </a:rPr>
                        <a:t>Compile an element list by hand</a:t>
                      </a:r>
                    </a:p>
                  </a:txBody>
                  <a:tcPr marL="91440" marR="91440" marT="45720" marB="45720">
                    <a:solidFill>
                      <a:srgbClr val="000000"/>
                    </a:solidFill>
                  </a:tcPr>
                </a:tc>
                <a:tc>
                  <a:txBody>
                    <a:bodyPr/>
                    <a:lstStyle/>
                    <a:p>
                      <a:r>
                        <a:rPr sz="1725" b="0">
                          <a:solidFill>
                            <a:srgbClr val="FFFFFF"/>
                          </a:solidFill>
                          <a:latin typeface="Arial"/>
                          <a:ea typeface="Arial"/>
                          <a:cs typeface="Arial"/>
                        </a:rPr>
                        <a:t>Filter model data and export Excel</a:t>
                      </a:r>
                    </a:p>
                  </a:txBody>
                  <a:tcPr marL="91440" marR="91440" marT="45720" marB="45720">
                    <a:solidFill>
                      <a:srgbClr val="000000"/>
                    </a:solidFill>
                  </a:tcPr>
                </a:tc>
              </a:tr>
              <a:tr h="571500">
                <a:tc>
                  <a:txBody>
                    <a:bodyPr/>
                    <a:lstStyle/>
                    <a:p>
                      <a:r>
                        <a:rPr sz="1725" b="0">
                          <a:solidFill>
                            <a:srgbClr val="FFFFFF"/>
                          </a:solidFill>
                          <a:latin typeface="Arial"/>
                          <a:ea typeface="Arial"/>
                          <a:cs typeface="Arial"/>
                        </a:rPr>
                        <a:t>Illustrative effort per review</a:t>
                      </a:r>
                    </a:p>
                  </a:txBody>
                  <a:tcPr marL="91440" marR="91440" marT="45720" marB="45720">
                    <a:solidFill>
                      <a:srgbClr val="000000"/>
                    </a:solidFill>
                  </a:tcPr>
                </a:tc>
                <a:tc>
                  <a:txBody>
                    <a:bodyPr/>
                    <a:lstStyle/>
                    <a:p>
                      <a:r>
                        <a:rPr sz="1725" b="0">
                          <a:solidFill>
                            <a:srgbClr val="FFFFFF"/>
                          </a:solidFill>
                          <a:latin typeface="Arial"/>
                          <a:ea typeface="Arial"/>
                          <a:cs typeface="Arial"/>
                        </a:rPr>
                        <a:t>8 hours / US$400 labor</a:t>
                      </a:r>
                    </a:p>
                  </a:txBody>
                  <a:tcPr marL="91440" marR="91440" marT="45720" marB="45720">
                    <a:solidFill>
                      <a:srgbClr val="000000"/>
                    </a:solidFill>
                  </a:tcPr>
                </a:tc>
                <a:tc>
                  <a:txBody>
                    <a:bodyPr/>
                    <a:lstStyle/>
                    <a:p>
                      <a:r>
                        <a:rPr sz="1725" b="0">
                          <a:solidFill>
                            <a:srgbClr val="FFFFFF"/>
                          </a:solidFill>
                          <a:latin typeface="Arial"/>
                          <a:ea typeface="Arial"/>
                          <a:cs typeface="Arial"/>
                        </a:rPr>
                        <a:t>4 hours / US$200 labor</a:t>
                      </a:r>
                    </a:p>
                  </a:txBody>
                  <a:tcPr marL="91440" marR="91440" marT="45720" marB="45720">
                    <a:solidFill>
                      <a:srgbClr val="000000"/>
                    </a:solidFill>
                  </a:tcPr>
                </a:tc>
              </a:tr>
            </a:tbl>
          </a:graphicData>
        </a:graphic>
      </p:graphicFrame>
      <p:sp>
        <p:nvSpPr>
          <p:cNvPr id="4" name="">
            <a:extLst xmlns:a="http://schemas.openxmlformats.org/drawingml/2006/main">
              <a:ext uri="{FF2B5EF4-FFF2-40B4-BE49-F238E27FC236}">
                <a16:creationId xmlns:a16="http://schemas.microsoft.com/office/drawing/2014/main" id="{509A5B92-E246-49C4-8F29-17264466E1DF}"/>
              </a:ext>
            </a:extLst>
          </p:cNvPr>
          <p:cNvSpPr>
            <a:spLocks xmlns:a="http://schemas.openxmlformats.org/drawingml/2006/main" noGrp="1"/>
          </p:cNvSpPr>
          <p:nvPr/>
        </p:nvSpPr>
        <p:spPr>
          <a:xfrm xmlns:a="http://schemas.openxmlformats.org/drawingml/2006/main">
            <a:off x="390525" y="4876800"/>
            <a:ext cx="3476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a:solidFill>
                  <a:srgbClr val="FFFFFF"/>
                </a:solidFill>
                <a:latin typeface="Arial"/>
                <a:ea typeface="Arial"/>
                <a:cs typeface="Arial"/>
              </a:defRPr>
            </a:pPr>
            <a:r>
              <a:rPr sz="2850">
                <a:solidFill>
                  <a:srgbClr val="FFFFFF"/>
                </a:solidFill>
                <a:latin typeface="Arial"/>
                <a:ea typeface="Arial"/>
                <a:cs typeface="Arial"/>
              </a:rPr>
              <a:t>4 hours saved</a:t>
            </a:r>
          </a:p>
        </p:txBody>
      </p:sp>
      <p:sp>
        <p:nvSpPr>
          <p:cNvPr id="5" name="">
            <a:extLst xmlns:a="http://schemas.openxmlformats.org/drawingml/2006/main">
              <a:ext uri="{FF2B5EF4-FFF2-40B4-BE49-F238E27FC236}">
                <a16:creationId xmlns:a16="http://schemas.microsoft.com/office/drawing/2014/main" id="{2419CF30-8C85-47E9-8A23-F08FB17B60F3}"/>
              </a:ext>
            </a:extLst>
          </p:cNvPr>
          <p:cNvSpPr>
            <a:spLocks xmlns:a="http://schemas.openxmlformats.org/drawingml/2006/main" noGrp="1"/>
          </p:cNvSpPr>
          <p:nvPr/>
        </p:nvSpPr>
        <p:spPr>
          <a:xfrm xmlns:a="http://schemas.openxmlformats.org/drawingml/2006/main">
            <a:off x="4267200" y="4876800"/>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a:solidFill>
                  <a:srgbClr val="FFFFFF"/>
                </a:solidFill>
                <a:latin typeface="Arial"/>
                <a:ea typeface="Arial"/>
                <a:cs typeface="Arial"/>
              </a:defRPr>
            </a:pPr>
            <a:r>
              <a:rPr sz="2850">
                <a:solidFill>
                  <a:srgbClr val="FFFFFF"/>
                </a:solidFill>
                <a:latin typeface="Arial"/>
                <a:ea typeface="Arial"/>
                <a:cs typeface="Arial"/>
              </a:rPr>
              <a:t>50% less review time</a:t>
            </a:r>
          </a:p>
        </p:txBody>
      </p:sp>
      <p:sp>
        <p:nvSpPr>
          <p:cNvPr id="6" name="">
            <a:extLst xmlns:a="http://schemas.openxmlformats.org/drawingml/2006/main">
              <a:ext uri="{FF2B5EF4-FFF2-40B4-BE49-F238E27FC236}">
                <a16:creationId xmlns:a16="http://schemas.microsoft.com/office/drawing/2014/main" id="{74704C41-5822-4D28-9560-E338CA4C9963}"/>
              </a:ext>
            </a:extLst>
          </p:cNvPr>
          <p:cNvSpPr>
            <a:spLocks xmlns:a="http://schemas.openxmlformats.org/drawingml/2006/main" noGrp="1"/>
          </p:cNvSpPr>
          <p:nvPr/>
        </p:nvSpPr>
        <p:spPr>
          <a:xfrm xmlns:a="http://schemas.openxmlformats.org/drawingml/2006/main">
            <a:off x="8524875" y="4876800"/>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a:solidFill>
                  <a:srgbClr val="FFFFFF"/>
                </a:solidFill>
                <a:latin typeface="Arial"/>
                <a:ea typeface="Arial"/>
                <a:cs typeface="Arial"/>
              </a:defRPr>
            </a:pPr>
            <a:r>
              <a:rPr sz="2850">
                <a:solidFill>
                  <a:srgbClr val="FFFFFF"/>
                </a:solidFill>
                <a:latin typeface="Arial"/>
                <a:ea typeface="Arial"/>
                <a:cs typeface="Arial"/>
              </a:rPr>
              <a:t>US$200 saved</a:t>
            </a:r>
          </a:p>
        </p:txBody>
      </p:sp>
      <p:sp>
        <p:nvSpPr>
          <p:cNvPr id="7" name="">
            <a:extLst xmlns:a="http://schemas.openxmlformats.org/drawingml/2006/main">
              <a:ext uri="{FF2B5EF4-FFF2-40B4-BE49-F238E27FC236}">
                <a16:creationId xmlns:a16="http://schemas.microsoft.com/office/drawing/2014/main" id="{002224F8-0FE6-421F-9C0F-E5A2ED140219}"/>
              </a:ext>
            </a:extLst>
          </p:cNvPr>
          <p:cNvSpPr>
            <a:spLocks xmlns:a="http://schemas.openxmlformats.org/drawingml/2006/main" noGrp="1"/>
          </p:cNvSpPr>
          <p:nvPr/>
        </p:nvSpPr>
        <p:spPr>
          <a:xfrm xmlns:a="http://schemas.openxmlformats.org/drawingml/2006/main">
            <a:off x="390525" y="5467350"/>
            <a:ext cx="1123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a:solidFill>
                  <a:srgbClr val="FFFFFF"/>
                </a:solidFill>
                <a:latin typeface="Arial"/>
                <a:ea typeface="Arial"/>
                <a:cs typeface="Arial"/>
              </a:defRPr>
            </a:pPr>
            <a:r>
              <a:rPr sz="1875">
                <a:solidFill>
                  <a:srgbClr val="FFFFFF"/>
                </a:solidFill>
                <a:latin typeface="Arial"/>
                <a:ea typeface="Arial"/>
                <a:cs typeface="Arial"/>
              </a:rPr>
              <a:t>Benefits: easier data verification, traceable reviews, and a clearer handoff to estimators.</a:t>
            </a:r>
          </a:p>
        </p:txBody>
      </p:sp>
      <p:sp>
        <p:nvSpPr>
          <p:cNvPr id="8" name="">
            <a:extLst xmlns:a="http://schemas.openxmlformats.org/drawingml/2006/main">
              <a:ext uri="{FF2B5EF4-FFF2-40B4-BE49-F238E27FC236}">
                <a16:creationId xmlns:a16="http://schemas.microsoft.com/office/drawing/2014/main" id="{6D6C1C35-6144-4502-BF45-D8DBC24043F6}"/>
              </a:ext>
            </a:extLst>
          </p:cNvPr>
          <p:cNvSpPr>
            <a:spLocks xmlns:a="http://schemas.openxmlformats.org/drawingml/2006/main" noGrp="1"/>
          </p:cNvSpPr>
          <p:nvPr/>
        </p:nvSpPr>
        <p:spPr>
          <a:xfrm xmlns:a="http://schemas.openxmlformats.org/drawingml/2006/main">
            <a:off x="390525" y="611505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a:solidFill>
                  <a:srgbClr val="FFFFFF"/>
                </a:solidFill>
                <a:latin typeface="Arial"/>
                <a:ea typeface="Arial"/>
                <a:cs typeface="Arial"/>
              </a:defRPr>
            </a:pPr>
            <a:r>
              <a:rPr sz="1425">
                <a:solidFill>
                  <a:srgbClr val="FFFFFF"/>
                </a:solidFill>
                <a:latin typeface="Arial"/>
                <a:ea typeface="Arial"/>
                <a:cs typeface="Arial"/>
              </a:rPr>
              <a:t>Illustrative scenario, not measured: 8h vs. 4h at US$50/h. Gross labor savings exclude app and AI costs.</a:t>
            </a:r>
          </a:p>
        </p:txBody>
      </p:sp>
      <p:sp>
        <p:nvSpPr>
          <p:cNvPr id="9" name="">
            <a:extLst xmlns:a="http://schemas.openxmlformats.org/drawingml/2006/main">
              <a:ext uri="{FF2B5EF4-FFF2-40B4-BE49-F238E27FC236}">
                <a16:creationId xmlns:a16="http://schemas.microsoft.com/office/drawing/2014/main" id="{C6A2FE3C-71CA-4BE4-9BD4-5C8AD9A470D6}"/>
              </a:ext>
            </a:extLst>
          </p:cNvPr>
          <p:cNvSpPr>
            <a:spLocks xmlns:a="http://schemas.openxmlformats.org/drawingml/2006/main" noGrp="1"/>
          </p:cNvSpPr>
          <p:nvPr/>
        </p:nvSpPr>
        <p:spPr>
          <a:xfrm xmlns:a="http://schemas.openxmlformats.org/drawingml/2006/main">
            <a:off x="11277600" y="62865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a:solidFill>
                  <a:srgbClr val="FFFFFF"/>
                </a:solidFill>
                <a:latin typeface="Arial"/>
                <a:ea typeface="Arial"/>
                <a:cs typeface="Arial"/>
              </a:defRPr>
            </a:pPr>
            <a:r>
              <a:rPr sz="1200">
                <a:solidFill>
                  <a:srgbClr val="FFFFFF"/>
                </a:solidFill>
                <a:latin typeface="Arial"/>
                <a:ea typeface="Arial"/>
                <a:cs typeface="Arial"/>
              </a:rPr>
              <a:t>10</a:t>
            </a:r>
          </a:p>
        </p:txBody>
      </p:sp>
    </p:spTree>
    <p:extLst>
      <p:ext uri="{BB962C8B-B14F-4D97-AF65-F5344CB8AC3E}">
        <p14:creationId xmlns:p14="http://schemas.microsoft.com/office/powerpoint/2010/main" val="137025781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79AC8B6-148F-970D-D8DE-AD2E0AB19BC8}"/>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pPr>
              <a:buNone/>
              <a:defRPr sz="5100">
                <a:solidFill>
                  <a:srgbClr val="FFFFFF"/>
                </a:solidFill>
                <a:latin typeface="Arial"/>
                <a:ea typeface="Arial"/>
                <a:cs typeface="Arial"/>
              </a:defRPr>
            </a:pPr>
            <a:r>
              <a:rPr sz="5100">
                <a:solidFill>
                  <a:srgbClr val="FFFFFF"/>
                </a:solidFill>
                <a:latin typeface="Arial"/>
                <a:ea typeface="Arial"/>
                <a:cs typeface="Arial"/>
              </a:rPr>
              <a:t>Clearer model data</a:t>
            </a:r>
          </a:p>
          <a:p xmlns:a="http://schemas.openxmlformats.org/drawingml/2006/main">
            <a:pPr>
              <a:buNone/>
              <a:defRPr sz="5100">
                <a:solidFill>
                  <a:srgbClr val="FFFFFF"/>
                </a:solidFill>
                <a:latin typeface="Arial"/>
                <a:ea typeface="Arial"/>
                <a:cs typeface="Arial"/>
              </a:defRPr>
            </a:pPr>
            <a:r>
              <a:rPr sz="5100">
                <a:solidFill>
                  <a:srgbClr val="FFFFFF"/>
                </a:solidFill>
                <a:latin typeface="Arial"/>
                <a:ea typeface="Arial"/>
                <a:cs typeface="Arial"/>
              </a:rPr>
              <a:t>for construction teams</a:t>
            </a:r>
          </a:p>
        </p:txBody>
      </p:sp>
      <p:sp>
        <p:nvSpPr>
          <p:cNvPr id="5" name="Subtitle 4">
            <a:extLst xmlns:a="http://schemas.openxmlformats.org/drawingml/2006/main">
              <a:ext uri="{FF2B5EF4-FFF2-40B4-BE49-F238E27FC236}">
                <a16:creationId xmlns:a16="http://schemas.microsoft.com/office/drawing/2014/main" id="{A8E1F2E1-786A-48AE-5E52-007228284270}"/>
              </a:ext>
            </a:extLst>
          </p:cNvPr>
          <p:cNvSpPr>
            <a:spLocks xmlns:a="http://schemas.openxmlformats.org/drawingml/2006/main" noGrp="1"/>
          </p:cNvSpPr>
          <p:nvPr>
            <p:ph type="subTitle" idx="1"/>
          </p:nvPr>
        </p:nvSpPr>
        <p:spPr>
          <a:xfrm xmlns:a="http://schemas.openxmlformats.org/drawingml/2006/main">
            <a:off x="390525" y="4972050"/>
            <a:ext cx="8096250" cy="1095375"/>
          </a:xfrm>
        </p:spPr>
        <p:txBody>
          <a:bodyPr xmlns:a="http://schemas.openxmlformats.org/drawingml/2006/main">
            <a:noAutofit/>
          </a:bodyPr>
          <a:lstStyle xmlns:a="http://schemas.openxmlformats.org/drawingml/2006/main"/>
          <a:p xmlns:a="http://schemas.openxmlformats.org/drawingml/2006/main">
            <a:pPr>
              <a:buNone/>
              <a:defRPr sz="2100">
                <a:solidFill>
                  <a:srgbClr val="FFFFFF"/>
                </a:solidFill>
                <a:latin typeface="Arial"/>
                <a:ea typeface="Arial"/>
                <a:cs typeface="Arial"/>
              </a:defRPr>
            </a:pPr>
            <a:r>
              <a:rPr sz="2100">
                <a:solidFill>
                  <a:srgbClr val="FFFFFF"/>
                </a:solidFill>
                <a:latin typeface="Arial"/>
                <a:ea typeface="Arial"/>
                <a:cs typeface="Arial"/>
              </a:rPr>
              <a:t>Forma</a:t>
            </a:r>
          </a:p>
          <a:p xmlns:a="http://schemas.openxmlformats.org/drawingml/2006/main">
            <a:pPr>
              <a:buNone/>
              <a:defRPr sz="2100">
                <a:solidFill>
                  <a:srgbClr val="FFFFFF"/>
                </a:solidFill>
                <a:latin typeface="Arial"/>
                <a:ea typeface="Arial"/>
                <a:cs typeface="Arial"/>
              </a:defRPr>
            </a:pPr>
            <a:r>
              <a:rPr sz="2100">
                <a:solidFill>
                  <a:srgbClr val="FFFFFF"/>
                </a:solidFill>
                <a:latin typeface="Arial"/>
                <a:ea typeface="Arial"/>
                <a:cs typeface="Arial"/>
              </a:rPr>
              <a:t>Questions and live demo</a:t>
            </a:r>
          </a:p>
        </p:txBody>
      </p:sp>
      <p:sp>
        <p:nvSpPr>
          <p:cNvPr id="6" name="Subtitle 4">
            <a:extLst xmlns:a="http://schemas.openxmlformats.org/drawingml/2006/main">
              <a:ext uri="{FF2B5EF4-FFF2-40B4-BE49-F238E27FC236}">
                <a16:creationId xmlns:a16="http://schemas.microsoft.com/office/drawing/2014/main" id="{A94AB779-D110-4562-575A-800C929A77DB}"/>
              </a:ext>
            </a:extLst>
          </p:cNvPr>
          <p:cNvSpPr>
            <a:spLocks xmlns:a="http://schemas.openxmlformats.org/drawingml/2006/main" noGrp="1"/>
          </p:cNvSpPr>
          <p:nvPr/>
        </p:nvSpPr>
        <p:spPr>
          <a:xfrm xmlns:a="http://schemas.openxmlformats.org/drawingml/2006/main">
            <a:off x="393700" y="392241"/>
            <a:ext cx="16129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buNone/>
              <a:defRPr sz="1800">
                <a:solidFill>
                  <a:srgbClr val="FFFFFF"/>
                </a:solidFill>
                <a:latin typeface="Arial"/>
                <a:ea typeface="Arial"/>
                <a:cs typeface="Arial"/>
              </a:defRPr>
            </a:pPr>
            <a:r>
              <a:rPr sz="1800">
                <a:solidFill>
                  <a:srgbClr val="FFFFFF"/>
                </a:solidFill>
                <a:latin typeface="Arial"/>
                <a:ea typeface="Arial"/>
                <a:cs typeface="Arial"/>
              </a:rPr>
              <a:t>Thank you</a:t>
            </a:r>
          </a:p>
        </p:txBody>
      </p:sp>
    </p:spTree>
    <p:extLst>
      <p:ext uri="{BB962C8B-B14F-4D97-AF65-F5344CB8AC3E}">
        <p14:creationId xmlns:p14="http://schemas.microsoft.com/office/powerpoint/2010/main" val="3653678558"/>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2026-09-13T06:11:05.3070000Z</dcterms:created>
  <dcterms:modified xsi:type="dcterms:W3CDTF">2026-09-13T06:11:05.3070000Z</dcterms:modified>
</coreProperties>
</file>